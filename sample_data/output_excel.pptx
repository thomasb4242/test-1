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Community Attitudes Survey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566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7DD8D8"/>
                </a:solidFill>
              </a:rPr>
              <a:t>March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217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DD8D8"/>
                </a:solidFill>
              </a:rPr>
              <a:t>n=200 adult residents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Concern &amp; Salience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Key findings — concern &amp; community attitudes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859536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Strong concern about the issue is evident across the community, with scepticism about how government is currently handling it.
</a:t>
            </a:r>
          </a:p>
          <a:p>
            <a:r>
              <a:rPr sz="1000" b="0">
                <a:solidFill>
                  <a:srgbClr val="58595B"/>
                </a:solidFill>
              </a:rPr>
              <a:t>• Over 60% are very or extremely concerned — concern is highest among 35–54 year olds.</a:t>
            </a:r>
          </a:p>
          <a:p>
            <a:r>
              <a:rPr sz="1000" b="0">
                <a:solidFill>
                  <a:srgbClr val="58595B"/>
                </a:solidFill>
              </a:rPr>
              <a:t>• Agreement that this issue impacts everyday people is broad, cutting across regions.</a:t>
            </a:r>
          </a:p>
          <a:p>
            <a:r>
              <a:rPr sz="1000" b="0">
                <a:solidFill>
                  <a:srgbClr val="58595B"/>
                </a:solidFill>
              </a:rPr>
              <a:t>• Government handling is rated poorly — fewer than 1 in 5 agree government is handling it well.</a:t>
            </a:r>
          </a:p>
          <a:p>
            <a:r>
              <a:rPr sz="1000" b="0">
                <a:solidFill>
                  <a:srgbClr val="58595B"/>
                </a:solidFill>
              </a:rPr>
              <a:t>• There is strong appetite for local action alongside calls for stronger government leadership.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Concern about the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How concerned are you about this issue in your community?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029200" cy="42519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509820" y="1845350"/>
            <a:ext cx="1133856" cy="1133856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9820" y="1958736"/>
            <a:ext cx="1133856" cy="58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65%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9820" y="2502987"/>
            <a:ext cx="1133856" cy="4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Concerned</a:t>
            </a:r>
          </a:p>
        </p:txBody>
      </p:sp>
      <p:sp>
        <p:nvSpPr>
          <p:cNvPr id="9" name="Oval 8"/>
          <p:cNvSpPr/>
          <p:nvPr/>
        </p:nvSpPr>
        <p:spPr>
          <a:xfrm>
            <a:off x="4594859" y="4277471"/>
            <a:ext cx="963777" cy="963777"/>
          </a:xfrm>
          <a:prstGeom prst="ellipse">
            <a:avLst/>
          </a:prstGeom>
          <a:solidFill>
            <a:srgbClr val="D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4859" y="4373849"/>
            <a:ext cx="963777" cy="501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</a:rPr>
              <a:t>15%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859" y="4836462"/>
            <a:ext cx="963777" cy="34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Not concerned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417320"/>
            <a:ext cx="32918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Concern by age group:</a:t>
            </a:r>
          </a:p>
          <a:p>
            <a:r>
              <a:rPr sz="1000" b="0">
                <a:solidFill>
                  <a:srgbClr val="58595B"/>
                </a:solidFill>
              </a:rPr>
              <a:t>– 18–24:   XX% very/extremely concerned</a:t>
            </a:r>
          </a:p>
          <a:p>
            <a:r>
              <a:rPr sz="1000" b="0">
                <a:solidFill>
                  <a:srgbClr val="58595B"/>
                </a:solidFill>
              </a:rPr>
              <a:t>– 25–34:   XX%</a:t>
            </a:r>
          </a:p>
          <a:p>
            <a:r>
              <a:rPr sz="1000" b="0">
                <a:solidFill>
                  <a:srgbClr val="58595B"/>
                </a:solidFill>
              </a:rPr>
              <a:t>– 35–44:   XX%</a:t>
            </a:r>
          </a:p>
          <a:p>
            <a:r>
              <a:rPr sz="1000" b="0">
                <a:solidFill>
                  <a:srgbClr val="58595B"/>
                </a:solidFill>
              </a:rPr>
              <a:t>– 45–54:   XX%</a:t>
            </a:r>
          </a:p>
          <a:p>
            <a:r>
              <a:rPr sz="1000" b="0">
                <a:solidFill>
                  <a:srgbClr val="58595B"/>
                </a:solidFill>
              </a:rPr>
              <a:t>– 55+:     XX%</a:t>
            </a:r>
          </a:p>
          <a:p>
            <a:r>
              <a:rPr sz="1000" b="0">
                <a:solidFill>
                  <a:srgbClr val="58595B"/>
                </a:solidFill>
              </a:rPr>
              <a:t/>
            </a:r>
          </a:p>
          <a:p>
            <a:r>
              <a:rPr sz="1000" b="0">
                <a:solidFill>
                  <a:srgbClr val="58595B"/>
                </a:solidFill>
              </a:rPr>
              <a:t>Concern by region:</a:t>
            </a:r>
          </a:p>
          <a:p>
            <a:r>
              <a:rPr sz="1000" b="0">
                <a:solidFill>
                  <a:srgbClr val="58595B"/>
                </a:solidFill>
              </a:rPr>
              <a:t>– Metro:      XX%</a:t>
            </a:r>
          </a:p>
          <a:p>
            <a:r>
              <a:rPr sz="1000" b="0">
                <a:solidFill>
                  <a:srgbClr val="58595B"/>
                </a:solidFill>
              </a:rPr>
              <a:t>– Regional:   XX%</a:t>
            </a:r>
          </a:p>
          <a:p>
            <a:r>
              <a:rPr sz="1000" b="0">
                <a:solidFill>
                  <a:srgbClr val="58595B"/>
                </a:solidFill>
              </a:rPr>
              <a:t>– Rural:      XX%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Rating — government handling of this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The government is handling this issue effectively.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029200" cy="42519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4509820" y="1845350"/>
            <a:ext cx="1133856" cy="1133856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09820" y="1958736"/>
            <a:ext cx="1133856" cy="589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17%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09820" y="2502987"/>
            <a:ext cx="1133856" cy="4081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FFFFFF"/>
                </a:solidFill>
              </a:rPr>
              <a:t>Agree</a:t>
            </a:r>
          </a:p>
        </p:txBody>
      </p:sp>
      <p:sp>
        <p:nvSpPr>
          <p:cNvPr id="9" name="Oval 8"/>
          <p:cNvSpPr/>
          <p:nvPr/>
        </p:nvSpPr>
        <p:spPr>
          <a:xfrm>
            <a:off x="4594859" y="4277471"/>
            <a:ext cx="963777" cy="963777"/>
          </a:xfrm>
          <a:prstGeom prst="ellipse">
            <a:avLst/>
          </a:prstGeom>
          <a:solidFill>
            <a:srgbClr val="D944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4859" y="4373849"/>
            <a:ext cx="963777" cy="501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700" b="1" i="0">
                <a:solidFill>
                  <a:srgbClr val="FFFFFF"/>
                </a:solidFill>
              </a:rPr>
              <a:t>63%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4859" y="4836462"/>
            <a:ext cx="963777" cy="346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</a:rPr>
              <a:t>Disagree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417320"/>
            <a:ext cx="32918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Scepticism about government performance</a:t>
            </a:r>
          </a:p>
          <a:p>
            <a:r>
              <a:rPr sz="1000" b="0">
                <a:solidFill>
                  <a:srgbClr val="58595B"/>
                </a:solidFill>
              </a:rPr>
              <a:t>is consistent across all demographics.</a:t>
            </a:r>
          </a:p>
          <a:p>
            <a:r>
              <a:rPr sz="1000" b="0">
                <a:solidFill>
                  <a:srgbClr val="58595B"/>
                </a:solidFill>
              </a:rPr>
              <a:t/>
            </a:r>
          </a:p>
          <a:p>
            <a:r>
              <a:rPr sz="1000" b="0">
                <a:solidFill>
                  <a:srgbClr val="58595B"/>
                </a:solidFill>
              </a:rPr>
              <a:t>Disagreement is highest among:</a:t>
            </a:r>
          </a:p>
          <a:p>
            <a:r>
              <a:rPr sz="1000" b="0">
                <a:solidFill>
                  <a:srgbClr val="58595B"/>
                </a:solidFill>
              </a:rPr>
              <a:t>– 35–54 year olds (XX%)</a:t>
            </a:r>
          </a:p>
          <a:p>
            <a:r>
              <a:rPr sz="1000" b="0">
                <a:solidFill>
                  <a:srgbClr val="58595B"/>
                </a:solidFill>
              </a:rPr>
              <a:t>– Regional residents (XX%)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Attitudes &amp; Beliefs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Agreement — statements about the issue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How strongly do you agree or disagree with each of the following statements?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4572000" cy="2194560"/>
          </a:xfrm>
          <a:prstGeom prst="rect">
            <a:avLst/>
          </a:prstGeom>
        </p:spPr>
      </p:pic>
      <p:sp>
        <p:nvSpPr>
          <p:cNvPr id="6" name="Oval 5"/>
          <p:cNvSpPr/>
          <p:nvPr/>
        </p:nvSpPr>
        <p:spPr>
          <a:xfrm>
            <a:off x="3305556" y="1653235"/>
            <a:ext cx="658368" cy="658368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305556" y="1798076"/>
            <a:ext cx="658368" cy="36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67%</a:t>
            </a:r>
          </a:p>
        </p:txBody>
      </p:sp>
      <p:sp>
        <p:nvSpPr>
          <p:cNvPr id="8" name="Oval 7"/>
          <p:cNvSpPr/>
          <p:nvPr/>
        </p:nvSpPr>
        <p:spPr>
          <a:xfrm>
            <a:off x="3031236" y="2563977"/>
            <a:ext cx="658368" cy="658368"/>
          </a:xfrm>
          <a:prstGeom prst="ellipse">
            <a:avLst/>
          </a:prstGeom>
          <a:solidFill>
            <a:srgbClr val="00B5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31236" y="2708818"/>
            <a:ext cx="658368" cy="3686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55%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85032"/>
            <a:ext cx="4572000" cy="2743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303520" y="1417320"/>
            <a:ext cx="3566159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Total agree by statement:</a:t>
            </a:r>
          </a:p>
          <a:p>
            <a:r>
              <a:rPr sz="1000" b="0">
                <a:solidFill>
                  <a:srgbClr val="58595B"/>
                </a:solidFill>
              </a:rPr>
              <a:t>– Community impact:   XX%</a:t>
            </a:r>
          </a:p>
          <a:p>
            <a:r>
              <a:rPr sz="1000" b="0">
                <a:solidFill>
                  <a:srgbClr val="58595B"/>
                </a:solidFill>
              </a:rPr>
              <a:t>– Govt leadership:    XX%</a:t>
            </a:r>
          </a:p>
          <a:p>
            <a:r>
              <a:rPr sz="1000" b="0">
                <a:solidFill>
                  <a:srgbClr val="58595B"/>
                </a:solidFill>
              </a:rPr>
              <a:t>– Local action:       XX%</a:t>
            </a:r>
          </a:p>
          <a:p>
            <a:r>
              <a:rPr sz="1000" b="0">
                <a:solidFill>
                  <a:srgbClr val="58595B"/>
                </a:solidFill>
              </a:rPr>
              <a:t/>
            </a:r>
          </a:p>
          <a:p>
            <a:r>
              <a:rPr sz="1000" b="0">
                <a:solidFill>
                  <a:srgbClr val="58595B"/>
                </a:solidFill>
              </a:rPr>
              <a:t>Agreement is broadly consistent</a:t>
            </a:r>
          </a:p>
          <a:p>
            <a:r>
              <a:rPr sz="1000" b="0">
                <a:solidFill>
                  <a:srgbClr val="58595B"/>
                </a:solidFill>
              </a:rPr>
              <a:t>across age groups and regions.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Demographics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Respondent region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Which region are you based in? (%)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5029200" cy="35661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77840" y="1417320"/>
            <a:ext cx="329183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Sample is spread across metro, regional,</a:t>
            </a:r>
          </a:p>
          <a:p>
            <a:r>
              <a:rPr sz="1000" b="0">
                <a:solidFill>
                  <a:srgbClr val="58595B"/>
                </a:solidFill>
              </a:rPr>
              <a:t>rural and remote areas.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B55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94438"/>
                </a:solidFill>
              </a:rPr>
              <a:t>Respondent age group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58595B"/>
                </a:solidFill>
              </a:rPr>
              <a:t>What is your age group? (%)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77840" y="1417320"/>
            <a:ext cx="3291839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8595B"/>
                </a:solidFill>
              </a:rPr>
              <a:t>Sample skews slightly toward working-age</a:t>
            </a:r>
          </a:p>
          <a:p>
            <a:r>
              <a:rPr sz="1000" b="0">
                <a:solidFill>
                  <a:srgbClr val="58595B"/>
                </a:solidFill>
              </a:rPr>
              <a:t>adults (35–54).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92240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8595B"/>
                </a:solidFill>
              </a:rPr>
              <a:t>Base: all respondents (n=200)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914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FFFFFF"/>
                </a:solidFill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