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TextBox 5"/>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Oval 5"/>
          <p:cNvSpPr/>
          <p:nvPr/>
        </p:nvSpPr>
        <p:spPr>
          <a:xfrm>
            <a:off x="4676933" y="2440131"/>
            <a:ext cx="928737" cy="92873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6933" y="2495855"/>
            <a:ext cx="928737" cy="48294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91186" y="2960224"/>
            <a:ext cx="1300232" cy="352920"/>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261" y="4034464"/>
            <a:ext cx="835864" cy="835864"/>
          </a:xfrm>
          <a:prstGeom prst="ellipse">
            <a:avLst/>
          </a:prstGeom>
          <a:solidFill>
            <a:srgbClr val="FA8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261" y="4084616"/>
            <a:ext cx="835864" cy="434649"/>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7088" y="4502548"/>
            <a:ext cx="1170209" cy="317628"/>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920240"/>
            <a:ext cx="5303520" cy="4114800"/>
          </a:xfrm>
          <a:prstGeom prst="rect">
            <a:avLst/>
          </a:prstGeom>
        </p:spPr>
      </p:pic>
      <p:sp>
        <p:nvSpPr>
          <p:cNvPr id="6" name="TextBox 5"/>
          <p:cNvSpPr txBox="1"/>
          <p:nvPr/>
        </p:nvSpPr>
        <p:spPr>
          <a:xfrm>
            <a:off x="7379208" y="1920240"/>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920240"/>
          <a:ext cx="11512295" cy="4434840"/>
        </p:xfrm>
        <a:graphic>
          <a:graphicData uri="http://schemas.openxmlformats.org/drawingml/2006/table">
            <a:tbl>
              <a:tblPr firstRow="1" bandRow="1">
                <a:tableStyleId>{5C22544A-7EE6-4342-B048-85BDC9FD1C3A}</a:tableStyleId>
              </a:tblPr>
              <a:tblGrid>
                <a:gridCol w="9785451"/>
                <a:gridCol w="1726844"/>
              </a:tblGrid>
              <a:tr h="29565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29565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29565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29565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29565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29565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29565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29565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29565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29565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29565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29565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295656">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for a WA renewable energy target — tracking</a:t>
            </a:r>
          </a:p>
        </p:txBody>
      </p:sp>
      <p:sp>
        <p:nvSpPr>
          <p:cNvPr id="3" name="Text Placeholder 2"/>
          <p:cNvSpPr>
            <a:spLocks noGrp="1"/>
          </p:cNvSpPr>
          <p:nvPr>
            <p:ph type="body" idx="21" sz="quarter"/>
          </p:nvPr>
        </p:nvSpPr>
        <p:spPr/>
        <p:txBody>
          <a:bodyPr/>
          <a:lstStyle/>
          <a:p>
            <a:r>
              <a:t>How strongly do you support or oppose WA adopting a renewable energy target? (%, selected waves)</a:t>
            </a:r>
          </a:p>
        </p:txBody>
      </p:sp>
      <p:sp>
        <p:nvSpPr>
          <p:cNvPr id="4" name="Text Placeholder 3"/>
          <p:cNvSpPr>
            <a:spLocks noGrp="1"/>
          </p:cNvSpPr>
          <p:nvPr>
            <p:ph type="body" idx="22" sz="quarter"/>
          </p:nvPr>
        </p:nvSpPr>
        <p:spPr/>
        <p:txBody>
          <a:bodyPr/>
          <a:lstStyle/>
          <a:p>
            <a:r>
              <a:t>Base: all respondents (n≈1,000 per wave, illustrative)</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Support for a renewable energy target has</a:t>
            </a:r>
          </a:p>
          <a:p>
            <a:r>
              <a:rPr sz="1400" b="0">
                <a:solidFill>
                  <a:srgbClr val="44546A"/>
                </a:solidFill>
                <a:latin typeface="DM Sans"/>
              </a:rPr>
              <a:t>grown steadily across all five waves.</a:t>
            </a:r>
          </a:p>
          <a:p>
            <a:r>
              <a:rPr sz="1400" b="0">
                <a:solidFill>
                  <a:srgbClr val="44546A"/>
                </a:solidFill>
                <a:latin typeface="DM Sans"/>
              </a:rPr>
              <a:t/>
            </a:r>
          </a:p>
          <a:p>
            <a:r>
              <a:rPr sz="1400" b="0">
                <a:solidFill>
                  <a:srgbClr val="00BDBB"/>
                </a:solidFill>
                <a:latin typeface="DM Sans"/>
              </a:rPr>
              <a:t>  ↑ Total support up 5pp since Aug 2022</a:t>
            </a:r>
          </a:p>
          <a:p>
            <a:r>
              <a:rPr sz="1400" b="0">
                <a:solidFill>
                  <a:srgbClr val="A32015"/>
                </a:solidFill>
                <a:latin typeface="DM Sans"/>
              </a:rPr>
              <a:t>  ↓ Unsure down 5pp across the same period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outcomes of more renewable energy — by age group</a:t>
            </a:r>
          </a:p>
        </p:txBody>
      </p:sp>
      <p:sp>
        <p:nvSpPr>
          <p:cNvPr id="3" name="Text Placeholder 2"/>
          <p:cNvSpPr>
            <a:spLocks noGrp="1"/>
          </p:cNvSpPr>
          <p:nvPr>
            <p:ph type="body" idx="21" sz="quarter"/>
          </p:nvPr>
        </p:nvSpPr>
        <p:spPr/>
        <p:txBody>
          <a:bodyPr/>
          <a:lstStyle/>
          <a:p>
            <a:r>
              <a:t>% who think each outcome is 'likely' if WA used more renewable energy</a:t>
            </a:r>
          </a:p>
        </p:txBody>
      </p:sp>
      <p:sp>
        <p:nvSpPr>
          <p:cNvPr id="4" name="Text Placeholder 3"/>
          <p:cNvSpPr>
            <a:spLocks noGrp="1"/>
          </p:cNvSpPr>
          <p:nvPr>
            <p:ph type="body" idx="22" sz="quarter"/>
          </p:nvPr>
        </p:nvSpPr>
        <p:spPr/>
        <p:txBody>
          <a:bodyPr/>
          <a:lstStyle/>
          <a:p>
            <a:r>
              <a:t>Base: all respondents (n=1,011; illustrative breakdowns)</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Younger cohorts are consistently more</a:t>
            </a:r>
          </a:p>
          <a:p>
            <a:r>
              <a:rPr sz="1400" b="0">
                <a:solidFill>
                  <a:srgbClr val="44546A"/>
                </a:solidFill>
                <a:latin typeface="DM Sans"/>
              </a:rPr>
              <a:t>optimistic about renewable energy outcomes.</a:t>
            </a:r>
          </a:p>
          <a:p>
            <a:r>
              <a:rPr sz="1400" b="0">
                <a:solidFill>
                  <a:srgbClr val="44546A"/>
                </a:solidFill>
                <a:latin typeface="DM Sans"/>
              </a:rPr>
              <a:t/>
            </a:r>
          </a:p>
          <a:p>
            <a:r>
              <a:rPr sz="1400" b="0">
                <a:solidFill>
                  <a:srgbClr val="00BDBB"/>
                </a:solidFill>
                <a:latin typeface="DM Sans"/>
              </a:rPr>
              <a:t>  ↑ 18–29 lead on almost every outcome</a:t>
            </a:r>
          </a:p>
          <a:p>
            <a:r>
              <a:rPr sz="1400" b="0">
                <a:solidFill>
                  <a:srgbClr val="A32015"/>
                </a:solidFill>
                <a:latin typeface="DM Sans"/>
              </a:rPr>
              <a:t>  ↓ 60+ most sceptical on power prices</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