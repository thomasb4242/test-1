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How bad do you think using each of the following energy types is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99132"/>
            <a:ext cx="8229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709928"/>
            <a:ext cx="5303520" cy="4754880"/>
          </a:xfrm>
          <a:prstGeom prst="rect">
            <a:avLst/>
          </a:prstGeom>
        </p:spPr>
      </p:pic>
      <p:sp>
        <p:nvSpPr>
          <p:cNvPr id="6" name="TextBox 5"/>
          <p:cNvSpPr txBox="1"/>
          <p:nvPr/>
        </p:nvSpPr>
        <p:spPr>
          <a:xfrm>
            <a:off x="7379208" y="1709928"/>
            <a:ext cx="4453128" cy="475488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a:t>
            </a:r>
          </a:p>
        </p:txBody>
      </p:sp>
      <p:sp>
        <p:nvSpPr>
          <p:cNvPr id="3" name="Text Placeholder 2"/>
          <p:cNvSpPr>
            <a:spLocks noGrp="1"/>
          </p:cNvSpPr>
          <p:nvPr>
            <p:ph type="body" idx="21" sz="quarter"/>
          </p:nvPr>
        </p:nvSpPr>
        <p:spPr/>
        <p:txBody>
          <a:bodyPr/>
          <a:lstStyle/>
          <a:p>
            <a:r>
              <a:t>How likely do you think these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000" b="0">
                <a:solidFill>
                  <a:srgbClr val="44546A"/>
                </a:solidFill>
                <a:latin typeface="DM Sans"/>
              </a:rPr>
              <a:t>Optimism is broad — driven mainly by</a:t>
            </a:r>
          </a:p>
          <a:p>
            <a:r>
              <a:rPr sz="1000" b="0">
                <a:solidFill>
                  <a:srgbClr val="44546A"/>
                </a:solidFill>
                <a:latin typeface="DM Sans"/>
              </a:rPr>
              <a:t>age and political alignment.</a:t>
            </a:r>
          </a:p>
          <a:p>
            <a:r>
              <a:rPr sz="1000" b="0">
                <a:solidFill>
                  <a:srgbClr val="44546A"/>
                </a:solidFill>
                <a:latin typeface="DM Sans"/>
              </a:rPr>
              <a:t/>
            </a:r>
          </a:p>
          <a:p>
            <a:r>
              <a:rPr sz="1000" b="0">
                <a:solidFill>
                  <a:srgbClr val="44546A"/>
                </a:solidFill>
                <a:latin typeface="DM Sans"/>
              </a:rPr>
              <a:t>Best outcomes: jobs, industries,</a:t>
            </a:r>
          </a:p>
          <a:p>
            <a:r>
              <a:rPr sz="1000" b="0">
                <a:solidFill>
                  <a:srgbClr val="44546A"/>
                </a:solidFill>
                <a:latin typeface="DM Sans"/>
              </a:rPr>
              <a:t>infrastructure, environment (70–73%).</a:t>
            </a:r>
          </a:p>
          <a:p>
            <a:r>
              <a:rPr sz="1000" b="0">
                <a:solidFill>
                  <a:srgbClr val="44546A"/>
                </a:solidFill>
                <a:latin typeface="DM Sans"/>
              </a:rPr>
              <a:t/>
            </a:r>
          </a:p>
          <a:p>
            <a:r>
              <a:rPr sz="1000" b="0">
                <a:solidFill>
                  <a:srgbClr val="00BDBB"/>
                </a:solidFill>
                <a:latin typeface="DM Sans"/>
              </a:rPr>
              <a:t>  ↑ 30–44yo — 73–80% total likely</a:t>
            </a:r>
          </a:p>
          <a:p>
            <a:r>
              <a:rPr sz="1000" b="0">
                <a:solidFill>
                  <a:srgbClr val="A32015"/>
                </a:solidFill>
                <a:latin typeface="DM Sans"/>
              </a:rPr>
              <a:t>  ↓ 60+ — 55–68% total likely</a:t>
            </a:r>
          </a:p>
          <a:p>
            <a:r>
              <a:rPr sz="1000" b="0">
                <a:solidFill>
                  <a:srgbClr val="44546A"/>
                </a:solidFill>
                <a:latin typeface="DM Sans"/>
              </a:rPr>
              <a:t/>
            </a:r>
          </a:p>
          <a:p>
            <a:r>
              <a:rPr sz="1000" b="0">
                <a:solidFill>
                  <a:srgbClr val="44546A"/>
                </a:solidFill>
                <a:latin typeface="DM Sans"/>
              </a:rPr>
              <a:t>Power prices &amp; cost of living attract</a:t>
            </a:r>
          </a:p>
          <a:p>
            <a:r>
              <a:rPr sz="1000" b="0">
                <a:solidFill>
                  <a:srgbClr val="44546A"/>
                </a:solidFill>
                <a:latin typeface="DM Sans"/>
              </a:rPr>
              <a:t>most scepticism (57–59%).</a:t>
            </a:r>
          </a:p>
          <a:p>
            <a:r>
              <a:rPr sz="1000" b="0">
                <a:solidFill>
                  <a:srgbClr val="00BDBB"/>
                </a:solidFill>
                <a:latin typeface="DM Sans"/>
              </a:rPr>
              <a:t>  ↑ WA Labor — 65–67% likely</a:t>
            </a:r>
          </a:p>
          <a:p>
            <a:r>
              <a:rPr sz="1000" b="0">
                <a:solidFill>
                  <a:srgbClr val="A32015"/>
                </a:solidFill>
                <a:latin typeface="DM Sans"/>
              </a:rPr>
              <a:t>  ↓ One Nation — 29–40% likely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677690" y="2235470"/>
            <a:ext cx="938832" cy="938832"/>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7690" y="2291800"/>
            <a:ext cx="938832" cy="488193"/>
          </a:xfrm>
          <a:prstGeom prst="rect">
            <a:avLst/>
          </a:prstGeom>
          <a:noFill/>
        </p:spPr>
        <p:txBody>
          <a:bodyPr wrap="none">
            <a:spAutoFit/>
          </a:bodyPr>
          <a:lstStyle/>
          <a:p>
            <a:pPr algn="ctr"/>
            <a:r>
              <a:rPr sz="3100" b="1">
                <a:solidFill>
                  <a:srgbClr val="FFFFFF"/>
                </a:solidFill>
                <a:latin typeface="DM Sans"/>
              </a:rPr>
              <a:t>62</a:t>
            </a:r>
            <a:r>
              <a:rPr sz="2000" b="1">
                <a:solidFill>
                  <a:srgbClr val="FFFFFF"/>
                </a:solidFill>
                <a:latin typeface="DM Sans"/>
              </a:rPr>
              <a:t>%</a:t>
            </a:r>
          </a:p>
        </p:txBody>
      </p:sp>
      <p:sp>
        <p:nvSpPr>
          <p:cNvPr id="8" name="TextBox 7"/>
          <p:cNvSpPr txBox="1"/>
          <p:nvPr/>
        </p:nvSpPr>
        <p:spPr>
          <a:xfrm>
            <a:off x="4489924" y="2761216"/>
            <a:ext cx="1314365" cy="356756"/>
          </a:xfrm>
          <a:prstGeom prst="rect">
            <a:avLst/>
          </a:prstGeom>
          <a:noFill/>
        </p:spPr>
        <p:txBody>
          <a:bodyPr wrap="none">
            <a:spAutoFit/>
          </a:bodyPr>
          <a:lstStyle/>
          <a:p>
            <a:pPr algn="ctr"/>
            <a:r>
              <a:rPr sz="1100" b="0" i="0">
                <a:solidFill>
                  <a:srgbClr val="FFFFFF"/>
                </a:solidFill>
                <a:latin typeface="DM Sans"/>
              </a:rPr>
              <a:t>Support</a:t>
            </a:r>
          </a:p>
        </p:txBody>
      </p:sp>
      <p:sp>
        <p:nvSpPr>
          <p:cNvPr id="9" name="Oval 8"/>
          <p:cNvSpPr/>
          <p:nvPr/>
        </p:nvSpPr>
        <p:spPr>
          <a:xfrm>
            <a:off x="2964942" y="3847133"/>
            <a:ext cx="844949" cy="844949"/>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64942" y="3897830"/>
            <a:ext cx="844949" cy="439373"/>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2795952" y="4320304"/>
            <a:ext cx="1182929" cy="321080"/>
          </a:xfrm>
          <a:prstGeom prst="rect">
            <a:avLst/>
          </a:prstGeom>
          <a:noFill/>
        </p:spPr>
        <p:txBody>
          <a:bodyPr wrap="none">
            <a:spAutoFit/>
          </a:bodyPr>
          <a:lstStyle/>
          <a:p>
            <a:pPr algn="ctr"/>
            <a:r>
              <a:rPr sz="1100" b="0" i="0">
                <a:solidFill>
                  <a:srgbClr val="FFFFFF"/>
                </a:solidFill>
                <a:latin typeface="DM Sans"/>
              </a:rPr>
              <a:t>Oppose</a:t>
            </a:r>
          </a:p>
        </p:txBody>
      </p:sp>
      <p:sp>
        <p:nvSpPr>
          <p:cNvPr id="12" name="TextBox 11"/>
          <p:cNvSpPr txBox="1"/>
          <p:nvPr/>
        </p:nvSpPr>
        <p:spPr>
          <a:xfrm>
            <a:off x="7379208" y="1709928"/>
            <a:ext cx="4453128" cy="425196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reason for supporting a renewable energy target</a:t>
            </a:r>
          </a:p>
        </p:txBody>
      </p:sp>
      <p:sp>
        <p:nvSpPr>
          <p:cNvPr id="3" name="Text Placeholder 2"/>
          <p:cNvSpPr>
            <a:spLocks noGrp="1"/>
          </p:cNvSpPr>
          <p:nvPr>
            <p:ph type="body" idx="21" sz="quarter"/>
          </p:nvPr>
        </p:nvSpPr>
        <p:spPr/>
        <p:txBody>
          <a:bodyPr/>
          <a:lstStyle/>
          <a:p>
            <a:r>
              <a:t>What is the main reason for supporting a target? (%, among supporters)</a:t>
            </a:r>
          </a:p>
        </p:txBody>
      </p:sp>
      <p:sp>
        <p:nvSpPr>
          <p:cNvPr id="4" name="Text Placeholder 3"/>
          <p:cNvSpPr>
            <a:spLocks noGrp="1"/>
          </p:cNvSpPr>
          <p:nvPr>
            <p:ph type="body" idx="22" sz="quarter"/>
          </p:nvPr>
        </p:nvSpPr>
        <p:spPr/>
        <p:txBody>
          <a:bodyPr/>
          <a:lstStyle/>
          <a:p>
            <a:r>
              <a:t>Base: those who support a target (n=626)</a:t>
            </a:r>
          </a:p>
        </p:txBody>
      </p:sp>
      <p:sp>
        <p:nvSpPr>
          <p:cNvPr id="5" name="Text Placeholder 4"/>
          <p:cNvSpPr>
            <a:spLocks noGrp="1"/>
          </p:cNvSpPr>
          <p:nvPr>
            <p:ph type="body" idx="2" sz="half"/>
          </p:nvPr>
        </p:nvSpPr>
        <p:spPr/>
        <p:txBody>
          <a:bodyPr/>
          <a:lstStyle/>
          <a:p/>
        </p:txBody>
      </p:sp>
      <p:sp>
        <p:nvSpPr>
          <p:cNvPr id="6" name="Text Placeholder 5"/>
          <p:cNvSpPr>
            <a:spLocks noGrp="1"/>
          </p:cNvSpPr>
          <p:nvPr>
            <p:ph type="body" idx="23" sz="half"/>
          </p:nvPr>
        </p:nvSpPr>
        <p:spPr/>
        <p:txBody>
          <a:bodyPr/>
          <a:lstStyle/>
          <a:p/>
        </p:txBody>
      </p:sp>
      <p:graphicFrame>
        <p:nvGraphicFramePr>
          <p:cNvPr id="7" name="Table 6"/>
          <p:cNvGraphicFramePr>
            <a:graphicFrameLocks noGrp="1"/>
          </p:cNvGraphicFramePr>
          <p:nvPr/>
        </p:nvGraphicFramePr>
        <p:xfrm>
          <a:off x="310896" y="1709928"/>
          <a:ext cx="11512295" cy="4645152"/>
        </p:xfrm>
        <a:graphic>
          <a:graphicData uri="http://schemas.openxmlformats.org/drawingml/2006/table">
            <a:tbl>
              <a:tblPr firstRow="1" bandRow="1">
                <a:tableStyleId>{5C22544A-7EE6-4342-B048-85BDC9FD1C3A}</a:tableStyleId>
              </a:tblPr>
              <a:tblGrid>
                <a:gridCol w="9785451"/>
                <a:gridCol w="1726844"/>
              </a:tblGrid>
              <a:tr h="309676">
                <a:tc>
                  <a:txBody>
                    <a:bodyPr wrap="none"/>
                    <a:lstStyle/>
                    <a:p>
                      <a:pPr algn="l"/>
                      <a:r>
                        <a:rPr sz="1100" b="1">
                          <a:solidFill>
                            <a:srgbClr val="FFFFFF"/>
                          </a:solidFill>
                          <a:latin typeface="DM Sans"/>
                        </a:rPr>
                        <a:t>Response</a:t>
                      </a:r>
                    </a:p>
                  </a:txBody>
                  <a:tcPr>
                    <a:solidFill>
                      <a:srgbClr val="027F7C"/>
                    </a:solidFill>
                  </a:tcPr>
                </a:tc>
                <a:tc>
                  <a:txBody>
                    <a:bodyPr wrap="none"/>
                    <a:lstStyle/>
                    <a:p>
                      <a:pPr algn="ctr"/>
                      <a:r>
                        <a:rPr sz="1100" b="1">
                          <a:solidFill>
                            <a:srgbClr val="FFFFFF"/>
                          </a:solidFill>
                          <a:latin typeface="DM Sans"/>
                        </a:rPr>
                        <a:t>%</a:t>
                      </a:r>
                    </a:p>
                  </a:txBody>
                  <a:tcPr>
                    <a:solidFill>
                      <a:srgbClr val="027F7C"/>
                    </a:solidFill>
                  </a:tcPr>
                </a:tc>
              </a:tr>
              <a:tr h="309676">
                <a:tc>
                  <a:txBody>
                    <a:bodyPr wrap="square"/>
                    <a:lstStyle/>
                    <a:p>
                      <a:pPr algn="l"/>
                      <a:r>
                        <a:rPr sz="1000" b="1">
                          <a:solidFill>
                            <a:srgbClr val="027F7C"/>
                          </a:solidFill>
                          <a:latin typeface="DM Sans"/>
                        </a:rPr>
                        <a:t>Targets create direction and momentum</a:t>
                      </a:r>
                      <a:r>
                        <a:rPr sz="1000" b="0">
                          <a:solidFill>
                            <a:srgbClr val="027F7C"/>
                          </a:solidFill>
                          <a:latin typeface="DM Sans"/>
                        </a:rPr>
                        <a:t>: Provides a clear goal and encourages progress.</a:t>
                      </a:r>
                    </a:p>
                  </a:txBody>
                  <a:tcPr>
                    <a:solidFill>
                      <a:srgbClr val="FFFFFF"/>
                    </a:solidFill>
                  </a:tcPr>
                </a:tc>
                <a:tc>
                  <a:txBody>
                    <a:bodyPr wrap="none"/>
                    <a:lstStyle/>
                    <a:p>
                      <a:pPr algn="ctr"/>
                      <a:r>
                        <a:rPr sz="1000" b="1">
                          <a:solidFill>
                            <a:srgbClr val="027F7C"/>
                          </a:solidFill>
                          <a:latin typeface="DM Sans"/>
                        </a:rPr>
                        <a:t>25%</a:t>
                      </a:r>
                    </a:p>
                  </a:txBody>
                  <a:tcPr>
                    <a:solidFill>
                      <a:srgbClr val="FFFFFF"/>
                    </a:solidFill>
                  </a:tcPr>
                </a:tc>
              </a:tr>
              <a:tr h="309676">
                <a:tc>
                  <a:txBody>
                    <a:bodyPr wrap="square"/>
                    <a:lstStyle/>
                    <a:p>
                      <a:pPr algn="l"/>
                      <a:r>
                        <a:rPr sz="1000" b="1">
                          <a:solidFill>
                            <a:srgbClr val="44546A"/>
                          </a:solidFill>
                          <a:latin typeface="DM Sans"/>
                        </a:rPr>
                        <a:t>“Right thing to do” / general support</a:t>
                      </a:r>
                      <a:r>
                        <a:rPr sz="1000" b="0">
                          <a:solidFill>
                            <a:srgbClr val="44546A"/>
                          </a:solidFill>
                          <a:latin typeface="DM Sans"/>
                        </a:rPr>
                        <a:t>: Values-based support without a specific reason.</a:t>
                      </a:r>
                    </a:p>
                  </a:txBody>
                  <a:tcPr>
                    <a:solidFill>
                      <a:srgbClr val="E6F8F9"/>
                    </a:solidFill>
                  </a:tcPr>
                </a:tc>
                <a:tc>
                  <a:txBody>
                    <a:bodyPr wrap="none"/>
                    <a:lstStyle/>
                    <a:p>
                      <a:pPr algn="ctr"/>
                      <a:r>
                        <a:rPr sz="1000" b="1">
                          <a:solidFill>
                            <a:srgbClr val="027F7C"/>
                          </a:solidFill>
                          <a:latin typeface="DM Sans"/>
                        </a:rPr>
                        <a:t>23%</a:t>
                      </a:r>
                    </a:p>
                  </a:txBody>
                  <a:tcPr>
                    <a:solidFill>
                      <a:srgbClr val="E6F8F9"/>
                    </a:solidFill>
                  </a:tcPr>
                </a:tc>
              </a:tr>
              <a:tr h="309676">
                <a:tc>
                  <a:txBody>
                    <a:bodyPr wrap="square"/>
                    <a:lstStyle/>
                    <a:p>
                      <a:pPr algn="l"/>
                      <a:r>
                        <a:rPr sz="1000" b="1">
                          <a:solidFill>
                            <a:srgbClr val="44546A"/>
                          </a:solidFill>
                          <a:latin typeface="DM Sans"/>
                        </a:rPr>
                        <a:t>Better environment and health outcomes</a:t>
                      </a:r>
                      <a:r>
                        <a:rPr sz="1000" b="0">
                          <a:solidFill>
                            <a:srgbClr val="44546A"/>
                          </a:solidFill>
                          <a:latin typeface="DM Sans"/>
                        </a:rPr>
                        <a:t>: Cleaner air, less pollution, and protecting ecosystems.</a:t>
                      </a:r>
                    </a:p>
                  </a:txBody>
                  <a:tcPr>
                    <a:solidFill>
                      <a:srgbClr val="FFFFFF"/>
                    </a:solidFill>
                  </a:tcPr>
                </a:tc>
                <a:tc>
                  <a:txBody>
                    <a:bodyPr wrap="none"/>
                    <a:lstStyle/>
                    <a:p>
                      <a:pPr algn="ctr"/>
                      <a:r>
                        <a:rPr sz="1000" b="1">
                          <a:solidFill>
                            <a:srgbClr val="44546A"/>
                          </a:solidFill>
                          <a:latin typeface="DM Sans"/>
                        </a:rPr>
                        <a:t>16%</a:t>
                      </a:r>
                    </a:p>
                  </a:txBody>
                  <a:tcPr>
                    <a:solidFill>
                      <a:srgbClr val="FFFFFF"/>
                    </a:solidFill>
                  </a:tcPr>
                </a:tc>
              </a:tr>
              <a:tr h="309676">
                <a:tc>
                  <a:txBody>
                    <a:bodyPr wrap="square"/>
                    <a:lstStyle/>
                    <a:p>
                      <a:pPr algn="l"/>
                      <a:r>
                        <a:rPr sz="1000" b="1">
                          <a:solidFill>
                            <a:srgbClr val="44546A"/>
                          </a:solidFill>
                          <a:latin typeface="DM Sans"/>
                        </a:rPr>
                        <a:t>Climate change and emissions reduction</a:t>
                      </a:r>
                      <a:r>
                        <a:rPr sz="1000" b="0">
                          <a:solidFill>
                            <a:srgbClr val="44546A"/>
                          </a:solidFill>
                          <a:latin typeface="DM Sans"/>
                        </a:rPr>
                        <a:t>: Cutting greenhouse gas emissions and addressing climate change.</a:t>
                      </a:r>
                    </a:p>
                  </a:txBody>
                  <a:tcPr>
                    <a:solidFill>
                      <a:srgbClr val="E6F8F9"/>
                    </a:solidFill>
                  </a:tcPr>
                </a:tc>
                <a:tc>
                  <a:txBody>
                    <a:bodyPr wrap="none"/>
                    <a:lstStyle/>
                    <a:p>
                      <a:pPr algn="ctr"/>
                      <a:r>
                        <a:rPr sz="1000" b="1">
                          <a:solidFill>
                            <a:srgbClr val="44546A"/>
                          </a:solidFill>
                          <a:latin typeface="DM Sans"/>
                        </a:rPr>
                        <a:t>14%</a:t>
                      </a:r>
                    </a:p>
                  </a:txBody>
                  <a:tcPr>
                    <a:solidFill>
                      <a:srgbClr val="E6F8F9"/>
                    </a:solidFill>
                  </a:tcPr>
                </a:tc>
              </a:tr>
              <a:tr h="309676">
                <a:tc>
                  <a:txBody>
                    <a:bodyPr wrap="square"/>
                    <a:lstStyle/>
                    <a:p>
                      <a:pPr algn="l"/>
                      <a:r>
                        <a:rPr sz="1000" b="1">
                          <a:solidFill>
                            <a:srgbClr val="44546A"/>
                          </a:solidFill>
                          <a:latin typeface="DM Sans"/>
                        </a:rPr>
                        <a:t>Reduce reliance on fossil fuels</a:t>
                      </a:r>
                      <a:r>
                        <a:rPr sz="1000" b="0">
                          <a:solidFill>
                            <a:srgbClr val="44546A"/>
                          </a:solidFill>
                          <a:latin typeface="DM Sans"/>
                        </a:rPr>
                        <a:t>: Accelerates the transition away from coal and gas.</a:t>
                      </a:r>
                    </a:p>
                  </a:txBody>
                  <a:tcPr>
                    <a:solidFill>
                      <a:srgbClr val="FFFFFF"/>
                    </a:solidFill>
                  </a:tcPr>
                </a:tc>
                <a:tc>
                  <a:txBody>
                    <a:bodyPr wrap="none"/>
                    <a:lstStyle/>
                    <a:p>
                      <a:pPr algn="ctr"/>
                      <a:r>
                        <a:rPr sz="1000" b="1">
                          <a:solidFill>
                            <a:srgbClr val="44546A"/>
                          </a:solidFill>
                          <a:latin typeface="DM Sans"/>
                        </a:rPr>
                        <a:t>11%</a:t>
                      </a:r>
                    </a:p>
                  </a:txBody>
                  <a:tcPr>
                    <a:solidFill>
                      <a:srgbClr val="FFFFFF"/>
                    </a:solidFill>
                  </a:tcPr>
                </a:tc>
              </a:tr>
              <a:tr h="309676">
                <a:tc>
                  <a:txBody>
                    <a:bodyPr wrap="square"/>
                    <a:lstStyle/>
                    <a:p>
                      <a:pPr algn="l"/>
                      <a:r>
                        <a:rPr sz="1000" b="1">
                          <a:solidFill>
                            <a:srgbClr val="44546A"/>
                          </a:solidFill>
                          <a:latin typeface="DM Sans"/>
                        </a:rPr>
                        <a:t>Accountability and measurement</a:t>
                      </a:r>
                      <a:r>
                        <a:rPr sz="1000" b="0">
                          <a:solidFill>
                            <a:srgbClr val="44546A"/>
                          </a:solidFill>
                          <a:latin typeface="DM Sans"/>
                        </a:rPr>
                        <a:t>: Enables progress tracking and holds government and industry accountable.</a:t>
                      </a:r>
                    </a:p>
                  </a:txBody>
                  <a:tcPr>
                    <a:solidFill>
                      <a:srgbClr val="E6F8F9"/>
                    </a:solidFill>
                  </a:tcPr>
                </a:tc>
                <a:tc>
                  <a:txBody>
                    <a:bodyPr wrap="none"/>
                    <a:lstStyle/>
                    <a:p>
                      <a:pPr algn="ctr"/>
                      <a:r>
                        <a:rPr sz="1000" b="1">
                          <a:solidFill>
                            <a:srgbClr val="44546A"/>
                          </a:solidFill>
                          <a:latin typeface="DM Sans"/>
                        </a:rPr>
                        <a:t>10%</a:t>
                      </a:r>
                    </a:p>
                  </a:txBody>
                  <a:tcPr>
                    <a:solidFill>
                      <a:srgbClr val="E6F8F9"/>
                    </a:solidFill>
                  </a:tcPr>
                </a:tc>
              </a:tr>
              <a:tr h="309676">
                <a:tc>
                  <a:txBody>
                    <a:bodyPr wrap="square"/>
                    <a:lstStyle/>
                    <a:p>
                      <a:pPr algn="l"/>
                      <a:r>
                        <a:rPr sz="1000" b="1">
                          <a:solidFill>
                            <a:srgbClr val="44546A"/>
                          </a:solidFill>
                          <a:latin typeface="DM Sans"/>
                        </a:rPr>
                        <a:t>Cost of living and cheaper power over time</a:t>
                      </a:r>
                      <a:r>
                        <a:rPr sz="1000" b="0">
                          <a:solidFill>
                            <a:srgbClr val="44546A"/>
                          </a:solidFill>
                          <a:latin typeface="DM Sans"/>
                        </a:rPr>
                        <a:t>: Expectation renewables will lower electricity costs.</a:t>
                      </a:r>
                    </a:p>
                  </a:txBody>
                  <a:tcPr>
                    <a:solidFill>
                      <a:srgbClr val="FFFFFF"/>
                    </a:solidFill>
                  </a:tcPr>
                </a:tc>
                <a:tc>
                  <a:txBody>
                    <a:bodyPr wrap="none"/>
                    <a:lstStyle/>
                    <a:p>
                      <a:pPr algn="ctr"/>
                      <a:r>
                        <a:rPr sz="1000" b="1">
                          <a:solidFill>
                            <a:srgbClr val="44546A"/>
                          </a:solidFill>
                          <a:latin typeface="DM Sans"/>
                        </a:rPr>
                        <a:t>10%</a:t>
                      </a:r>
                    </a:p>
                  </a:txBody>
                  <a:tcPr>
                    <a:solidFill>
                      <a:srgbClr val="FFFFFF"/>
                    </a:solidFill>
                  </a:tcPr>
                </a:tc>
              </a:tr>
              <a:tr h="309676">
                <a:tc>
                  <a:txBody>
                    <a:bodyPr wrap="square"/>
                    <a:lstStyle/>
                    <a:p>
                      <a:pPr algn="l"/>
                      <a:r>
                        <a:rPr sz="1000" b="1">
                          <a:solidFill>
                            <a:srgbClr val="44546A"/>
                          </a:solidFill>
                          <a:latin typeface="DM Sans"/>
                        </a:rPr>
                        <a:t>Future generations</a:t>
                      </a:r>
                      <a:r>
                        <a:rPr sz="1000" b="0">
                          <a:solidFill>
                            <a:srgbClr val="44546A"/>
                          </a:solidFill>
                          <a:latin typeface="DM Sans"/>
                        </a:rPr>
                        <a:t>: Ensuring a sustainable planet for children and future generations.</a:t>
                      </a:r>
                    </a:p>
                  </a:txBody>
                  <a:tcPr>
                    <a:solidFill>
                      <a:srgbClr val="E6F8F9"/>
                    </a:solidFill>
                  </a:tcPr>
                </a:tc>
                <a:tc>
                  <a:txBody>
                    <a:bodyPr wrap="none"/>
                    <a:lstStyle/>
                    <a:p>
                      <a:pPr algn="ctr"/>
                      <a:r>
                        <a:rPr sz="1000" b="1">
                          <a:solidFill>
                            <a:srgbClr val="44546A"/>
                          </a:solidFill>
                          <a:latin typeface="DM Sans"/>
                        </a:rPr>
                        <a:t>7%</a:t>
                      </a:r>
                    </a:p>
                  </a:txBody>
                  <a:tcPr>
                    <a:solidFill>
                      <a:srgbClr val="E6F8F9"/>
                    </a:solidFill>
                  </a:tcPr>
                </a:tc>
              </a:tr>
              <a:tr h="309676">
                <a:tc>
                  <a:txBody>
                    <a:bodyPr wrap="square"/>
                    <a:lstStyle/>
                    <a:p>
                      <a:pPr algn="l"/>
                      <a:r>
                        <a:rPr sz="1000" b="1">
                          <a:solidFill>
                            <a:srgbClr val="44546A"/>
                          </a:solidFill>
                          <a:latin typeface="DM Sans"/>
                        </a:rPr>
                        <a:t>Conditional support focused on feasibility</a:t>
                      </a:r>
                      <a:r>
                        <a:rPr sz="1000" b="0">
                          <a:solidFill>
                            <a:srgbClr val="44546A"/>
                          </a:solidFill>
                          <a:latin typeface="DM Sans"/>
                        </a:rPr>
                        <a:t>: Support depends on targets being realistic and affordable.</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309676">
                <a:tc>
                  <a:txBody>
                    <a:bodyPr wrap="square"/>
                    <a:lstStyle/>
                    <a:p>
                      <a:pPr algn="l"/>
                      <a:r>
                        <a:rPr sz="1000" b="1">
                          <a:solidFill>
                            <a:srgbClr val="44546A"/>
                          </a:solidFill>
                          <a:latin typeface="DM Sans"/>
                        </a:rPr>
                        <a:t>Economic opportunity and jobs</a:t>
                      </a:r>
                      <a:r>
                        <a:rPr sz="1000" b="0">
                          <a:solidFill>
                            <a:srgbClr val="44546A"/>
                          </a:solidFill>
                          <a:latin typeface="DM Sans"/>
                        </a:rPr>
                        <a:t>: Supports new industries, economic growth, and job creation.</a:t>
                      </a:r>
                    </a:p>
                  </a:txBody>
                  <a:tcPr>
                    <a:solidFill>
                      <a:srgbClr val="E6F8F9"/>
                    </a:solidFill>
                  </a:tcPr>
                </a:tc>
                <a:tc>
                  <a:txBody>
                    <a:bodyPr wrap="none"/>
                    <a:lstStyle/>
                    <a:p>
                      <a:pPr algn="ctr"/>
                      <a:r>
                        <a:rPr sz="1000" b="1">
                          <a:solidFill>
                            <a:srgbClr val="44546A"/>
                          </a:solidFill>
                          <a:latin typeface="DM Sans"/>
                        </a:rPr>
                        <a:t>6%</a:t>
                      </a:r>
                    </a:p>
                  </a:txBody>
                  <a:tcPr>
                    <a:solidFill>
                      <a:srgbClr val="E6F8F9"/>
                    </a:solidFill>
                  </a:tcPr>
                </a:tc>
              </a:tr>
              <a:tr h="309676">
                <a:tc>
                  <a:txBody>
                    <a:bodyPr wrap="square"/>
                    <a:lstStyle/>
                    <a:p>
                      <a:pPr algn="l"/>
                      <a:r>
                        <a:rPr sz="1000" b="1">
                          <a:solidFill>
                            <a:srgbClr val="44546A"/>
                          </a:solidFill>
                          <a:latin typeface="DM Sans"/>
                        </a:rPr>
                        <a:t>Energy security and reliability</a:t>
                      </a:r>
                      <a:r>
                        <a:rPr sz="1000" b="0">
                          <a:solidFill>
                            <a:srgbClr val="44546A"/>
                          </a:solidFill>
                          <a:latin typeface="DM Sans"/>
                        </a:rPr>
                        <a:t>: Helps ensure stable and reliable energy supply.</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309676">
                <a:tc>
                  <a:txBody>
                    <a:bodyPr wrap="square"/>
                    <a:lstStyle/>
                    <a:p>
                      <a:pPr algn="l"/>
                      <a:r>
                        <a:rPr sz="1000" b="1">
                          <a:solidFill>
                            <a:srgbClr val="44546A"/>
                          </a:solidFill>
                          <a:latin typeface="DM Sans"/>
                        </a:rPr>
                        <a:t>Dissatisfaction with politics or delivery</a:t>
                      </a:r>
                      <a:r>
                        <a:rPr sz="1000" b="0">
                          <a:solidFill>
                            <a:srgbClr val="44546A"/>
                          </a:solidFill>
                          <a:latin typeface="DM Sans"/>
                        </a:rPr>
                        <a:t>: Criticism of government action or speed of delivery.</a:t>
                      </a:r>
                    </a:p>
                  </a:txBody>
                  <a:tcPr>
                    <a:solidFill>
                      <a:srgbClr val="E6F8F9"/>
                    </a:solidFill>
                  </a:tcPr>
                </a:tc>
                <a:tc>
                  <a:txBody>
                    <a:bodyPr wrap="none"/>
                    <a:lstStyle/>
                    <a:p>
                      <a:pPr algn="ctr"/>
                      <a:r>
                        <a:rPr sz="1000" b="1">
                          <a:solidFill>
                            <a:srgbClr val="44546A"/>
                          </a:solidFill>
                          <a:latin typeface="DM Sans"/>
                        </a:rPr>
                        <a:t>5%</a:t>
                      </a:r>
                    </a:p>
                  </a:txBody>
                  <a:tcPr>
                    <a:solidFill>
                      <a:srgbClr val="E6F8F9"/>
                    </a:solidFill>
                  </a:tcPr>
                </a:tc>
              </a:tr>
              <a:tr h="309676">
                <a:tc>
                  <a:txBody>
                    <a:bodyPr wrap="square"/>
                    <a:lstStyle/>
                    <a:p>
                      <a:pPr algn="l"/>
                      <a:r>
                        <a:rPr sz="1000" b="1">
                          <a:solidFill>
                            <a:srgbClr val="44546A"/>
                          </a:solidFill>
                          <a:latin typeface="DM Sans"/>
                        </a:rPr>
                        <a:t>Certainty for planning and investment</a:t>
                      </a:r>
                      <a:r>
                        <a:rPr sz="1000" b="0">
                          <a:solidFill>
                            <a:srgbClr val="44546A"/>
                          </a:solidFill>
                          <a:latin typeface="DM Sans"/>
                        </a:rPr>
                        <a:t>: Provides clarity for long-term planning and investment.</a:t>
                      </a:r>
                    </a:p>
                  </a:txBody>
                  <a:tcPr>
                    <a:solidFill>
                      <a:srgbClr val="FFFFFF"/>
                    </a:solidFill>
                  </a:tcPr>
                </a:tc>
                <a:tc>
                  <a:txBody>
                    <a:bodyPr wrap="none"/>
                    <a:lstStyle/>
                    <a:p>
                      <a:pPr algn="ctr"/>
                      <a:r>
                        <a:rPr sz="1000" b="1">
                          <a:solidFill>
                            <a:srgbClr val="44546A"/>
                          </a:solidFill>
                          <a:latin typeface="DM Sans"/>
                        </a:rPr>
                        <a:t>4%</a:t>
                      </a:r>
                    </a:p>
                  </a:txBody>
                  <a:tcPr>
                    <a:solidFill>
                      <a:srgbClr val="FFFFFF"/>
                    </a:solidFill>
                  </a:tcPr>
                </a:tc>
              </a:tr>
              <a:tr h="309688">
                <a:tc>
                  <a:txBody>
                    <a:bodyPr wrap="square"/>
                    <a:lstStyle/>
                    <a:p>
                      <a:pPr algn="l"/>
                      <a:r>
                        <a:rPr sz="1000" b="1">
                          <a:solidFill>
                            <a:srgbClr val="44546A"/>
                          </a:solidFill>
                          <a:latin typeface="DM Sans"/>
                        </a:rPr>
                        <a:t>Unsure</a:t>
                      </a:r>
                    </a:p>
                  </a:txBody>
                  <a:tcPr>
                    <a:solidFill>
                      <a:srgbClr val="E6F8F9"/>
                    </a:solidFill>
                  </a:tcPr>
                </a:tc>
                <a:tc>
                  <a:txBody>
                    <a:bodyPr wrap="none"/>
                    <a:lstStyle/>
                    <a:p>
                      <a:pPr algn="ctr"/>
                      <a:r>
                        <a:rPr sz="1000" b="1">
                          <a:solidFill>
                            <a:srgbClr val="44546A"/>
                          </a:solidFill>
                          <a:latin typeface="DM Sans"/>
                        </a:rPr>
                        <a:t>4%</a:t>
                      </a:r>
                    </a:p>
                  </a:txBody>
                  <a:tcPr>
                    <a:solidFill>
                      <a:srgbClr val="E6F8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