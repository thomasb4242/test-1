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WA Energy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Community Attitudes: Energy &amp; Renewables</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n=1,011 WA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Perceptions of Energy Types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energy perceptions &amp; renewables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WA residents broadly view coal and oil as bad for the climate, while attitudes to gas are more mixed. Cost of living dominates energy concerns, though climate is the top priority for younger and more progressive cohorts. There is a strong majority in favour of a renewable energy target, with optimism about economic benefits tempered by scepticism on power prices.
</a:t>
            </a:r>
          </a:p>
          <a:p>
            <a:r>
              <a:rPr sz="1000" b="0">
                <a:solidFill>
                  <a:srgbClr val="44546A"/>
                </a:solidFill>
                <a:latin typeface="DM Sans"/>
              </a:rPr>
              <a:t>• Coal (61%) and oil (59%) are rated as bad for the climate by majorities; gas is more divisive (43% total bad).</a:t>
            </a:r>
          </a:p>
          <a:p>
            <a:r>
              <a:rPr sz="1000" b="0">
                <a:solidFill>
                  <a:srgbClr val="44546A"/>
                </a:solidFill>
                <a:latin typeface="DM Sans"/>
              </a:rPr>
              <a:t>• Rising power prices is the #1 energy concern (36%), well ahead of climate change (19%).</a:t>
            </a:r>
          </a:p>
          <a:p>
            <a:r>
              <a:rPr sz="1000" b="0">
                <a:solidFill>
                  <a:srgbClr val="44546A"/>
                </a:solidFill>
                <a:latin typeface="DM Sans"/>
              </a:rPr>
              <a:t>• Majorities believe renewables would bring good jobs (73%), new industries (71%) and better reliability (67%).</a:t>
            </a:r>
          </a:p>
          <a:p>
            <a:r>
              <a:rPr sz="1000" b="0">
                <a:solidFill>
                  <a:srgbClr val="44546A"/>
                </a:solidFill>
                <a:latin typeface="DM Sans"/>
              </a:rPr>
              <a:t>• 62% support a WA renewable energy target; only 15% oppose. Unsure remains high at 23%.</a:t>
            </a:r>
          </a:p>
          <a:p>
            <a:r>
              <a:rPr sz="1000" b="0">
                <a:solidFill>
                  <a:srgbClr val="44546A"/>
                </a:solidFill>
                <a:latin typeface="DM Sans"/>
              </a:rPr>
              <a:t>• Solar consideration is modest: just 32% of non-solar households are considering installing solar.</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(n=1,011)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Climate impact of energy types</a:t>
            </a:r>
          </a:p>
        </p:txBody>
      </p:sp>
      <p:sp>
        <p:nvSpPr>
          <p:cNvPr id="3" name="Text Placeholder 2"/>
          <p:cNvSpPr>
            <a:spLocks noGrp="1"/>
          </p:cNvSpPr>
          <p:nvPr>
            <p:ph type="body" idx="21" sz="quarter"/>
          </p:nvPr>
        </p:nvSpPr>
        <p:spPr/>
        <p:txBody>
          <a:bodyPr/>
          <a:lstStyle/>
          <a:p>
            <a:r>
              <a:t>For each of the following, how bad do you think using the following energy types are for the climate?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199132"/>
            <a:ext cx="10515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200" b="0">
                <a:solidFill>
                  <a:srgbClr val="44546A"/>
                </a:solidFill>
                <a:latin typeface="DM Sans"/>
              </a:rPr>
              <a:t>Coal &amp; oil seen as bad for the climate</a:t>
            </a:r>
          </a:p>
          <a:p>
            <a:r>
              <a:rPr sz="1200" b="0">
                <a:solidFill>
                  <a:srgbClr val="44546A"/>
                </a:solidFill>
                <a:latin typeface="DM Sans"/>
              </a:rPr>
              <a:t>by clear majorities.</a:t>
            </a:r>
          </a:p>
          <a:p>
            <a:r>
              <a:rPr sz="1200" b="0">
                <a:solidFill>
                  <a:srgbClr val="44546A"/>
                </a:solidFill>
                <a:latin typeface="DM Sans"/>
              </a:rPr>
              <a:t/>
            </a:r>
          </a:p>
          <a:p>
            <a:r>
              <a:rPr sz="1200" b="0">
                <a:solidFill>
                  <a:srgbClr val="44546A"/>
                </a:solidFill>
                <a:latin typeface="DM Sans"/>
              </a:rPr>
              <a:t>Gas is more divisive — splits by age:</a:t>
            </a:r>
          </a:p>
          <a:p>
            <a:r>
              <a:rPr sz="1200" b="0">
                <a:solidFill>
                  <a:srgbClr val="00BDBB"/>
                </a:solidFill>
                <a:latin typeface="DM Sans"/>
              </a:rPr>
              <a:t>  ↑ Under 30 — 54% rate gas as bad</a:t>
            </a:r>
          </a:p>
          <a:p>
            <a:r>
              <a:rPr sz="1200" b="0">
                <a:solidFill>
                  <a:srgbClr val="A32015"/>
                </a:solidFill>
                <a:latin typeface="DM Sans"/>
              </a:rPr>
              <a:t>  ↓ 60+ — 38% rate gas as bad</a:t>
            </a:r>
          </a:p>
          <a:p>
            <a:r>
              <a:rPr sz="1200" b="0">
                <a:solidFill>
                  <a:srgbClr val="44546A"/>
                </a:solidFill>
                <a:latin typeface="DM Sans"/>
              </a:rPr>
              <a:t/>
            </a:r>
          </a:p>
          <a:p>
            <a:r>
              <a:rPr sz="1200" b="0">
                <a:solidFill>
                  <a:srgbClr val="44546A"/>
                </a:solidFill>
                <a:latin typeface="DM Sans"/>
              </a:rPr>
              <a:t>And strongly by political vote:</a:t>
            </a:r>
          </a:p>
          <a:p>
            <a:r>
              <a:rPr sz="1200" b="0">
                <a:solidFill>
                  <a:srgbClr val="00BDBB"/>
                </a:solidFill>
                <a:latin typeface="DM Sans"/>
              </a:rPr>
              <a:t>  ↑ Greens — 57% / WA Labor — 49%</a:t>
            </a:r>
          </a:p>
          <a:p>
            <a:r>
              <a:rPr sz="1200" b="0">
                <a:solidFill>
                  <a:srgbClr val="A32015"/>
                </a:solidFill>
                <a:latin typeface="DM Sans"/>
              </a:rPr>
              <a:t>  ↓ Lib/Nat — 35% / One Nation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Main concern about WA's energy future</a:t>
            </a:r>
          </a:p>
        </p:txBody>
      </p:sp>
      <p:sp>
        <p:nvSpPr>
          <p:cNvPr id="4" name="Text Placeholder 3"/>
          <p:cNvSpPr>
            <a:spLocks noGrp="1"/>
          </p:cNvSpPr>
          <p:nvPr>
            <p:ph type="body" idx="21" sz="quarter"/>
          </p:nvPr>
        </p:nvSpPr>
        <p:spPr/>
        <p:txBody>
          <a:bodyPr/>
          <a:lstStyle/>
          <a:p>
            <a:r>
              <a:t>Which of the following concerns you most when thinking about WA's energy future?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TextBox 5"/>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Rising power prices is the dominant</a:t>
            </a:r>
          </a:p>
          <a:p>
            <a:r>
              <a:rPr sz="1200" b="0">
                <a:solidFill>
                  <a:srgbClr val="44546A"/>
                </a:solidFill>
                <a:latin typeface="DM Sans"/>
              </a:rPr>
              <a:t>concern across all groups.</a:t>
            </a:r>
          </a:p>
          <a:p>
            <a:r>
              <a:rPr sz="1200" b="0">
                <a:solidFill>
                  <a:srgbClr val="44546A"/>
                </a:solidFill>
                <a:latin typeface="DM Sans"/>
              </a:rPr>
              <a:t/>
            </a:r>
          </a:p>
          <a:p>
            <a:r>
              <a:rPr sz="1200" b="0">
                <a:solidFill>
                  <a:srgbClr val="44546A"/>
                </a:solidFill>
                <a:latin typeface="DM Sans"/>
              </a:rPr>
              <a:t>Climate concern is highest among</a:t>
            </a:r>
          </a:p>
          <a:p>
            <a:r>
              <a:rPr sz="1200" b="0">
                <a:solidFill>
                  <a:srgbClr val="44546A"/>
                </a:solidFill>
                <a:latin typeface="DM Sans"/>
              </a:rPr>
              <a:t>younger and more progressive residents:</a:t>
            </a:r>
          </a:p>
          <a:p>
            <a:r>
              <a:rPr sz="1200" b="0">
                <a:solidFill>
                  <a:srgbClr val="00BDBB"/>
                </a:solidFill>
                <a:latin typeface="DM Sans"/>
              </a:rPr>
              <a:t>  ↑ Under 30 — 24% cite climate</a:t>
            </a:r>
          </a:p>
          <a:p>
            <a:r>
              <a:rPr sz="1200" b="0">
                <a:solidFill>
                  <a:srgbClr val="A32015"/>
                </a:solidFill>
                <a:latin typeface="DM Sans"/>
              </a:rPr>
              <a:t>  ↓ 60+ — 16% cite climate</a:t>
            </a:r>
          </a:p>
          <a:p>
            <a:r>
              <a:rPr sz="1200" b="0">
                <a:solidFill>
                  <a:srgbClr val="00BDBB"/>
                </a:solidFill>
                <a:latin typeface="DM Sans"/>
              </a:rPr>
              <a:t>  ↑ Women — 23% climate (vs 15% men)</a:t>
            </a:r>
          </a:p>
          <a:p>
            <a:r>
              <a:rPr sz="1200" b="0">
                <a:solidFill>
                  <a:srgbClr val="00BDBB"/>
                </a:solidFill>
                <a:latin typeface="DM Sans"/>
              </a:rPr>
              <a:t>  ↑ Greens — 30% climate</a:t>
            </a:r>
          </a:p>
          <a:p>
            <a:r>
              <a:rPr sz="1200" b="0">
                <a:solidFill>
                  <a:srgbClr val="44546A"/>
                </a:solidFill>
                <a:latin typeface="DM Sans"/>
              </a:rPr>
              <a:t/>
            </a:r>
          </a:p>
          <a:p>
            <a:r>
              <a:rPr sz="1200" b="0">
                <a:solidFill>
                  <a:srgbClr val="44546A"/>
                </a:solidFill>
                <a:latin typeface="DM Sans"/>
              </a:rPr>
              <a:t>Power prices skew older &amp; conservative:</a:t>
            </a:r>
          </a:p>
          <a:p>
            <a:r>
              <a:rPr sz="1200" b="0">
                <a:solidFill>
                  <a:srgbClr val="A32015"/>
                </a:solidFill>
                <a:latin typeface="DM Sans"/>
              </a:rPr>
              <a:t>  ↑ 60+ — 42% cite rising prices</a:t>
            </a:r>
          </a:p>
          <a:p>
            <a:r>
              <a:rPr sz="1200" b="0">
                <a:solidFill>
                  <a:srgbClr val="A32015"/>
                </a:solidFill>
                <a:latin typeface="DM Sans"/>
              </a:rPr>
              <a:t>  ↑ One Nation — 48% rising prices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Renewable Energy Attitudes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Likely outcomes of more renewable energy</a:t>
            </a:r>
          </a:p>
        </p:txBody>
      </p:sp>
      <p:sp>
        <p:nvSpPr>
          <p:cNvPr id="3" name="Text Placeholder 2"/>
          <p:cNvSpPr>
            <a:spLocks noGrp="1"/>
          </p:cNvSpPr>
          <p:nvPr>
            <p:ph type="body" idx="21" sz="quarter"/>
          </p:nvPr>
        </p:nvSpPr>
        <p:spPr/>
        <p:txBody>
          <a:bodyPr/>
          <a:lstStyle/>
          <a:p>
            <a:r>
              <a:t>And how likely do you think these following outcomes would be if WA used more renewable energy? (%)</a:t>
            </a:r>
          </a:p>
        </p:txBody>
      </p:sp>
      <p:sp>
        <p:nvSpPr>
          <p:cNvPr id="4" name="Text Placeholder 3"/>
          <p:cNvSpPr>
            <a:spLocks noGrp="1"/>
          </p:cNvSpPr>
          <p:nvPr>
            <p:ph type="body" idx="22" sz="quarter"/>
          </p:nvPr>
        </p:nvSpPr>
        <p:spPr/>
        <p:txBody>
          <a:bodyPr/>
          <a:lstStyle/>
          <a:p>
            <a:r>
              <a:t>Base: all respondents (n=1,011)</a:t>
            </a:r>
          </a:p>
        </p:txBody>
      </p:sp>
      <p:pic>
        <p:nvPicPr>
          <p:cNvPr id="5" name="Picture 4" descr="image.png"/>
          <p:cNvPicPr>
            <a:picLocks noChangeAspect="1"/>
          </p:cNvPicPr>
          <p:nvPr/>
        </p:nvPicPr>
        <p:blipFill>
          <a:blip r:embed="rId2"/>
          <a:stretch>
            <a:fillRect/>
          </a:stretch>
        </p:blipFill>
        <p:spPr>
          <a:xfrm>
            <a:off x="310896" y="2061972"/>
            <a:ext cx="10515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000" b="0">
                <a:solidFill>
                  <a:srgbClr val="44546A"/>
                </a:solidFill>
                <a:latin typeface="DM Sans"/>
              </a:rPr>
              <a:t>Optimism is broad — driven mainly by</a:t>
            </a:r>
          </a:p>
          <a:p>
            <a:r>
              <a:rPr sz="1000" b="0">
                <a:solidFill>
                  <a:srgbClr val="44546A"/>
                </a:solidFill>
                <a:latin typeface="DM Sans"/>
              </a:rPr>
              <a:t>age and political alignment.</a:t>
            </a:r>
          </a:p>
          <a:p>
            <a:r>
              <a:rPr sz="1000" b="0">
                <a:solidFill>
                  <a:srgbClr val="44546A"/>
                </a:solidFill>
                <a:latin typeface="DM Sans"/>
              </a:rPr>
              <a:t/>
            </a:r>
          </a:p>
          <a:p>
            <a:r>
              <a:rPr sz="1000" b="0">
                <a:solidFill>
                  <a:srgbClr val="44546A"/>
                </a:solidFill>
                <a:latin typeface="DM Sans"/>
              </a:rPr>
              <a:t>Best outcomes: jobs, industries,</a:t>
            </a:r>
          </a:p>
          <a:p>
            <a:r>
              <a:rPr sz="1000" b="0">
                <a:solidFill>
                  <a:srgbClr val="44546A"/>
                </a:solidFill>
                <a:latin typeface="DM Sans"/>
              </a:rPr>
              <a:t>infrastructure, environment (70–73%).</a:t>
            </a:r>
          </a:p>
          <a:p>
            <a:r>
              <a:rPr sz="1000" b="0">
                <a:solidFill>
                  <a:srgbClr val="44546A"/>
                </a:solidFill>
                <a:latin typeface="DM Sans"/>
              </a:rPr>
              <a:t/>
            </a:r>
          </a:p>
          <a:p>
            <a:r>
              <a:rPr sz="1000" b="0">
                <a:solidFill>
                  <a:srgbClr val="00BDBB"/>
                </a:solidFill>
                <a:latin typeface="DM Sans"/>
              </a:rPr>
              <a:t>  ↑ 30–44yo — 73–80% total likely</a:t>
            </a:r>
          </a:p>
          <a:p>
            <a:r>
              <a:rPr sz="1000" b="0">
                <a:solidFill>
                  <a:srgbClr val="A32015"/>
                </a:solidFill>
                <a:latin typeface="DM Sans"/>
              </a:rPr>
              <a:t>  ↓ 60+ — 55–68% total likely</a:t>
            </a:r>
          </a:p>
          <a:p>
            <a:r>
              <a:rPr sz="1000" b="0">
                <a:solidFill>
                  <a:srgbClr val="44546A"/>
                </a:solidFill>
                <a:latin typeface="DM Sans"/>
              </a:rPr>
              <a:t/>
            </a:r>
          </a:p>
          <a:p>
            <a:r>
              <a:rPr sz="1000" b="0">
                <a:solidFill>
                  <a:srgbClr val="44546A"/>
                </a:solidFill>
                <a:latin typeface="DM Sans"/>
              </a:rPr>
              <a:t>Power prices &amp; cost of living attract</a:t>
            </a:r>
          </a:p>
          <a:p>
            <a:r>
              <a:rPr sz="1000" b="0">
                <a:solidFill>
                  <a:srgbClr val="44546A"/>
                </a:solidFill>
                <a:latin typeface="DM Sans"/>
              </a:rPr>
              <a:t>most scepticism (57–59%).</a:t>
            </a:r>
          </a:p>
          <a:p>
            <a:r>
              <a:rPr sz="1000" b="0">
                <a:solidFill>
                  <a:srgbClr val="00BDBB"/>
                </a:solidFill>
                <a:latin typeface="DM Sans"/>
              </a:rPr>
              <a:t>  ↑ WA Labor — 65–67% likely</a:t>
            </a:r>
          </a:p>
          <a:p>
            <a:r>
              <a:rPr sz="1000" b="0">
                <a:solidFill>
                  <a:srgbClr val="A32015"/>
                </a:solidFill>
                <a:latin typeface="DM Sans"/>
              </a:rPr>
              <a:t>  ↓ One Nation — 29–40% likely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(n=1,011)</a:t>
            </a:r>
          </a:p>
        </p:txBody>
      </p:sp>
      <p:sp>
        <p:nvSpPr>
          <p:cNvPr id="3" name="Title 2"/>
          <p:cNvSpPr>
            <a:spLocks noGrp="1"/>
          </p:cNvSpPr>
          <p:nvPr>
            <p:ph type="title"/>
          </p:nvPr>
        </p:nvSpPr>
        <p:spPr/>
        <p:txBody>
          <a:bodyPr/>
          <a:lstStyle/>
          <a:p>
            <a:r>
              <a:t>Support for a WA renewable energy target</a:t>
            </a:r>
          </a:p>
        </p:txBody>
      </p:sp>
      <p:sp>
        <p:nvSpPr>
          <p:cNvPr id="4" name="Text Placeholder 3"/>
          <p:cNvSpPr>
            <a:spLocks noGrp="1"/>
          </p:cNvSpPr>
          <p:nvPr>
            <p:ph type="body" idx="21" sz="quarter"/>
          </p:nvPr>
        </p:nvSpPr>
        <p:spPr/>
        <p:txBody>
          <a:bodyPr/>
          <a:lstStyle/>
          <a:p>
            <a:r>
              <a:t>There has been discussion about the WA government setting a target for the generation of renewable energy. How strongly do you support or oppose WA adopting a renewable energy target? (%)</a:t>
            </a:r>
          </a:p>
        </p:txBody>
      </p:sp>
      <p:pic>
        <p:nvPicPr>
          <p:cNvPr id="5" name="Picture 4" descr="image.png"/>
          <p:cNvPicPr>
            <a:picLocks noChangeAspect="1"/>
          </p:cNvPicPr>
          <p:nvPr/>
        </p:nvPicPr>
        <p:blipFill>
          <a:blip r:embed="rId2"/>
          <a:stretch>
            <a:fillRect/>
          </a:stretch>
        </p:blipFill>
        <p:spPr>
          <a:xfrm>
            <a:off x="310896" y="1920240"/>
            <a:ext cx="5303520" cy="4206240"/>
          </a:xfrm>
          <a:prstGeom prst="rect">
            <a:avLst/>
          </a:prstGeom>
        </p:spPr>
      </p:pic>
      <p:sp>
        <p:nvSpPr>
          <p:cNvPr id="6" name="Oval 5"/>
          <p:cNvSpPr/>
          <p:nvPr/>
        </p:nvSpPr>
        <p:spPr>
          <a:xfrm>
            <a:off x="4676933" y="2440131"/>
            <a:ext cx="928737" cy="928737"/>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6933" y="2495855"/>
            <a:ext cx="928737" cy="482943"/>
          </a:xfrm>
          <a:prstGeom prst="rect">
            <a:avLst/>
          </a:prstGeom>
          <a:noFill/>
        </p:spPr>
        <p:txBody>
          <a:bodyPr wrap="none">
            <a:spAutoFit/>
          </a:bodyPr>
          <a:lstStyle/>
          <a:p>
            <a:pPr algn="ctr"/>
            <a:r>
              <a:rPr sz="3100" b="1">
                <a:solidFill>
                  <a:srgbClr val="FFFFFF"/>
                </a:solidFill>
                <a:latin typeface="DM Sans"/>
              </a:rPr>
              <a:t>62</a:t>
            </a:r>
            <a:r>
              <a:rPr sz="2000" b="1">
                <a:solidFill>
                  <a:srgbClr val="FFFFFF"/>
                </a:solidFill>
                <a:latin typeface="DM Sans"/>
              </a:rPr>
              <a:t>%</a:t>
            </a:r>
          </a:p>
        </p:txBody>
      </p:sp>
      <p:sp>
        <p:nvSpPr>
          <p:cNvPr id="8" name="TextBox 7"/>
          <p:cNvSpPr txBox="1"/>
          <p:nvPr/>
        </p:nvSpPr>
        <p:spPr>
          <a:xfrm>
            <a:off x="4491186" y="2960224"/>
            <a:ext cx="1300232" cy="352920"/>
          </a:xfrm>
          <a:prstGeom prst="rect">
            <a:avLst/>
          </a:prstGeom>
          <a:noFill/>
        </p:spPr>
        <p:txBody>
          <a:bodyPr wrap="none">
            <a:spAutoFit/>
          </a:bodyPr>
          <a:lstStyle/>
          <a:p>
            <a:pPr algn="ctr"/>
            <a:r>
              <a:rPr sz="1100" b="0" i="0">
                <a:solidFill>
                  <a:srgbClr val="FFFFFF"/>
                </a:solidFill>
                <a:latin typeface="DM Sans"/>
              </a:rPr>
              <a:t>Support</a:t>
            </a:r>
          </a:p>
        </p:txBody>
      </p:sp>
      <p:sp>
        <p:nvSpPr>
          <p:cNvPr id="9" name="Oval 8"/>
          <p:cNvSpPr/>
          <p:nvPr/>
        </p:nvSpPr>
        <p:spPr>
          <a:xfrm>
            <a:off x="2964261" y="4034464"/>
            <a:ext cx="835864" cy="835864"/>
          </a:xfrm>
          <a:prstGeom prst="ellipse">
            <a:avLst/>
          </a:prstGeom>
          <a:solidFill>
            <a:srgbClr val="FA8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64261" y="4084616"/>
            <a:ext cx="835864" cy="434649"/>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797088" y="4502548"/>
            <a:ext cx="1170209" cy="317628"/>
          </a:xfrm>
          <a:prstGeom prst="rect">
            <a:avLst/>
          </a:prstGeom>
          <a:noFill/>
        </p:spPr>
        <p:txBody>
          <a:bodyPr wrap="none">
            <a:spAutoFit/>
          </a:bodyPr>
          <a:lstStyle/>
          <a:p>
            <a:pPr algn="ctr"/>
            <a:r>
              <a:rPr sz="1100" b="0" i="0">
                <a:solidFill>
                  <a:srgbClr val="FFFFFF"/>
                </a:solidFill>
                <a:latin typeface="DM Sans"/>
              </a:rPr>
              <a:t>Oppose</a:t>
            </a:r>
          </a:p>
        </p:txBody>
      </p:sp>
      <p:sp>
        <p:nvSpPr>
          <p:cNvPr id="12" name="TextBox 11"/>
          <p:cNvSpPr txBox="1"/>
          <p:nvPr/>
        </p:nvSpPr>
        <p:spPr>
          <a:xfrm>
            <a:off x="7379208" y="1920240"/>
            <a:ext cx="4453128" cy="4206240"/>
          </a:xfrm>
          <a:prstGeom prst="rect">
            <a:avLst/>
          </a:prstGeom>
          <a:noFill/>
        </p:spPr>
        <p:txBody>
          <a:bodyPr wrap="square">
            <a:spAutoFit/>
          </a:bodyPr>
          <a:lstStyle/>
          <a:p>
            <a:r>
              <a:rPr sz="1200" b="0">
                <a:solidFill>
                  <a:srgbClr val="44546A"/>
                </a:solidFill>
                <a:latin typeface="DM Sans"/>
              </a:rPr>
              <a:t>62% support a renewable energy target;</a:t>
            </a:r>
          </a:p>
          <a:p>
            <a:r>
              <a:rPr sz="1200" b="0">
                <a:solidFill>
                  <a:srgbClr val="44546A"/>
                </a:solidFill>
                <a:latin typeface="DM Sans"/>
              </a:rPr>
              <a:t>only 15% oppose.</a:t>
            </a:r>
          </a:p>
          <a:p>
            <a:r>
              <a:rPr sz="1200" b="0">
                <a:solidFill>
                  <a:srgbClr val="44546A"/>
                </a:solidFill>
                <a:latin typeface="DM Sans"/>
              </a:rPr>
              <a:t/>
            </a:r>
          </a:p>
          <a:p>
            <a:r>
              <a:rPr sz="1200" b="0">
                <a:solidFill>
                  <a:srgbClr val="44546A"/>
                </a:solidFill>
                <a:latin typeface="DM Sans"/>
              </a:rPr>
              <a:t>Strongest support among:</a:t>
            </a:r>
          </a:p>
          <a:p>
            <a:r>
              <a:rPr sz="1200" b="0">
                <a:solidFill>
                  <a:srgbClr val="00BDBB"/>
                </a:solidFill>
                <a:latin typeface="DM Sans"/>
              </a:rPr>
              <a:t>  ↑ WA Labor voters — 78%</a:t>
            </a:r>
          </a:p>
          <a:p>
            <a:r>
              <a:rPr sz="1200" b="0">
                <a:solidFill>
                  <a:srgbClr val="00BDBB"/>
                </a:solidFill>
                <a:latin typeface="DM Sans"/>
              </a:rPr>
              <a:t>  ↑ Inner city Perth — 70%</a:t>
            </a:r>
          </a:p>
          <a:p>
            <a:r>
              <a:rPr sz="1200" b="0">
                <a:solidFill>
                  <a:srgbClr val="00BDBB"/>
                </a:solidFill>
                <a:latin typeface="DM Sans"/>
              </a:rPr>
              <a:t>  ↑ 30–44 year olds — 66%</a:t>
            </a:r>
          </a:p>
          <a:p>
            <a:r>
              <a:rPr sz="1200" b="0">
                <a:solidFill>
                  <a:srgbClr val="00BDBB"/>
                </a:solidFill>
                <a:latin typeface="DM Sans"/>
              </a:rPr>
              <a:t>  ↑ Solar owners — 70%</a:t>
            </a:r>
          </a:p>
          <a:p>
            <a:r>
              <a:rPr sz="1200" b="0">
                <a:solidFill>
                  <a:srgbClr val="44546A"/>
                </a:solidFill>
                <a:latin typeface="DM Sans"/>
              </a:rPr>
              <a:t/>
            </a:r>
          </a:p>
          <a:p>
            <a:r>
              <a:rPr sz="1200" b="0">
                <a:solidFill>
                  <a:srgbClr val="44546A"/>
                </a:solidFill>
                <a:latin typeface="DM Sans"/>
              </a:rPr>
              <a:t>Most opposition from:</a:t>
            </a:r>
          </a:p>
          <a:p>
            <a:r>
              <a:rPr sz="1200" b="0">
                <a:solidFill>
                  <a:srgbClr val="A32015"/>
                </a:solidFill>
                <a:latin typeface="DM Sans"/>
              </a:rPr>
              <a:t>  ↓ One Nation — 35% support, 46% oppose</a:t>
            </a:r>
          </a:p>
          <a:p>
            <a:r>
              <a:rPr sz="1200" b="0">
                <a:solidFill>
                  <a:srgbClr val="A32015"/>
                </a:solidFill>
                <a:latin typeface="DM Sans"/>
              </a:rPr>
              <a:t>  ↓ 60+ — 56% support, 25% oppose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respondents without solar (n=473)</a:t>
            </a:r>
          </a:p>
        </p:txBody>
      </p:sp>
      <p:sp>
        <p:nvSpPr>
          <p:cNvPr id="3" name="Title 2"/>
          <p:cNvSpPr>
            <a:spLocks noGrp="1"/>
          </p:cNvSpPr>
          <p:nvPr>
            <p:ph type="title"/>
          </p:nvPr>
        </p:nvSpPr>
        <p:spPr/>
        <p:txBody>
          <a:bodyPr/>
          <a:lstStyle/>
          <a:p>
            <a:r>
              <a:t>Considering installing rooftop solar</a:t>
            </a:r>
          </a:p>
        </p:txBody>
      </p:sp>
      <p:sp>
        <p:nvSpPr>
          <p:cNvPr id="4" name="Text Placeholder 3"/>
          <p:cNvSpPr>
            <a:spLocks noGrp="1"/>
          </p:cNvSpPr>
          <p:nvPr>
            <p:ph type="body" idx="21" sz="quarter"/>
          </p:nvPr>
        </p:nvSpPr>
        <p:spPr/>
        <p:txBody>
          <a:bodyPr/>
          <a:lstStyle/>
          <a:p>
            <a:r>
              <a:t>Are you considering installing rooftop solar? (%)</a:t>
            </a:r>
          </a:p>
        </p:txBody>
      </p:sp>
      <p:pic>
        <p:nvPicPr>
          <p:cNvPr id="5" name="Picture 4" descr="image.png"/>
          <p:cNvPicPr>
            <a:picLocks noChangeAspect="1"/>
          </p:cNvPicPr>
          <p:nvPr/>
        </p:nvPicPr>
        <p:blipFill>
          <a:blip r:embed="rId2"/>
          <a:stretch>
            <a:fillRect/>
          </a:stretch>
        </p:blipFill>
        <p:spPr>
          <a:xfrm>
            <a:off x="310896" y="1920240"/>
            <a:ext cx="5303520" cy="4114800"/>
          </a:xfrm>
          <a:prstGeom prst="rect">
            <a:avLst/>
          </a:prstGeom>
        </p:spPr>
      </p:pic>
      <p:sp>
        <p:nvSpPr>
          <p:cNvPr id="6" name="TextBox 5"/>
          <p:cNvSpPr txBox="1"/>
          <p:nvPr/>
        </p:nvSpPr>
        <p:spPr>
          <a:xfrm>
            <a:off x="7379208" y="1920240"/>
            <a:ext cx="4453128" cy="4114800"/>
          </a:xfrm>
          <a:prstGeom prst="rect">
            <a:avLst/>
          </a:prstGeom>
          <a:noFill/>
        </p:spPr>
        <p:txBody>
          <a:bodyPr wrap="square">
            <a:spAutoFit/>
          </a:bodyPr>
          <a:lstStyle/>
          <a:p>
            <a:r>
              <a:rPr sz="1200" b="0">
                <a:solidFill>
                  <a:srgbClr val="44546A"/>
                </a:solidFill>
                <a:latin typeface="DM Sans"/>
              </a:rPr>
              <a:t>Only 1 in 3 non-solar households</a:t>
            </a:r>
          </a:p>
          <a:p>
            <a:r>
              <a:rPr sz="1200" b="0">
                <a:solidFill>
                  <a:srgbClr val="44546A"/>
                </a:solidFill>
                <a:latin typeface="DM Sans"/>
              </a:rPr>
              <a:t>are considering solar — 26% unsure.</a:t>
            </a:r>
          </a:p>
          <a:p>
            <a:r>
              <a:rPr sz="1200" b="0">
                <a:solidFill>
                  <a:srgbClr val="44546A"/>
                </a:solidFill>
                <a:latin typeface="DM Sans"/>
              </a:rPr>
              <a:t/>
            </a:r>
          </a:p>
          <a:p>
            <a:r>
              <a:rPr sz="1200" b="0">
                <a:solidFill>
                  <a:srgbClr val="44546A"/>
                </a:solidFill>
                <a:latin typeface="DM Sans"/>
              </a:rPr>
              <a:t>Most likely to consider:</a:t>
            </a:r>
          </a:p>
          <a:p>
            <a:r>
              <a:rPr sz="1200" b="0">
                <a:solidFill>
                  <a:srgbClr val="00BDBB"/>
                </a:solidFill>
                <a:latin typeface="DM Sans"/>
              </a:rPr>
              <a:t>  ↑ Mortgage holders — 48%</a:t>
            </a:r>
          </a:p>
          <a:p>
            <a:r>
              <a:rPr sz="1200" b="0">
                <a:solidFill>
                  <a:srgbClr val="00BDBB"/>
                </a:solidFill>
                <a:latin typeface="DM Sans"/>
              </a:rPr>
              <a:t>  ↑ 30–44 year olds — 42%</a:t>
            </a:r>
          </a:p>
          <a:p>
            <a:r>
              <a:rPr sz="1200" b="0">
                <a:solidFill>
                  <a:srgbClr val="00BDBB"/>
                </a:solidFill>
                <a:latin typeface="DM Sans"/>
              </a:rPr>
              <a:t>  ↑ Income &gt;$120k — 42%</a:t>
            </a:r>
          </a:p>
          <a:p>
            <a:r>
              <a:rPr sz="1200" b="0">
                <a:solidFill>
                  <a:srgbClr val="44546A"/>
                </a:solidFill>
                <a:latin typeface="DM Sans"/>
              </a:rPr>
              <a:t/>
            </a:r>
          </a:p>
          <a:p>
            <a:r>
              <a:rPr sz="1200" b="0">
                <a:solidFill>
                  <a:srgbClr val="44546A"/>
                </a:solidFill>
                <a:latin typeface="DM Sans"/>
              </a:rPr>
              <a:t>Least likely:</a:t>
            </a:r>
          </a:p>
          <a:p>
            <a:r>
              <a:rPr sz="1200" b="0">
                <a:solidFill>
                  <a:srgbClr val="A32015"/>
                </a:solidFill>
                <a:latin typeface="DM Sans"/>
              </a:rPr>
              <a:t>  ↓ 60+ — 24% (61% say no)</a:t>
            </a:r>
          </a:p>
          <a:p>
            <a:r>
              <a:rPr sz="1200" b="0">
                <a:solidFill>
                  <a:srgbClr val="A32015"/>
                </a:solidFill>
                <a:latin typeface="DM Sans"/>
              </a:rPr>
              <a:t>  ↓ Income &lt;$60k — 23%</a:t>
            </a:r>
          </a:p>
          <a:p>
            <a:r>
              <a:rPr sz="1200" b="0">
                <a:solidFill>
                  <a:srgbClr val="A32015"/>
                </a:solidFill>
                <a:latin typeface="DM Sans"/>
              </a:rPr>
              <a:t>  ↓ Retired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reason for supporting a renewable energy target</a:t>
            </a:r>
          </a:p>
        </p:txBody>
      </p:sp>
      <p:sp>
        <p:nvSpPr>
          <p:cNvPr id="3" name="Text Placeholder 2"/>
          <p:cNvSpPr>
            <a:spLocks noGrp="1"/>
          </p:cNvSpPr>
          <p:nvPr>
            <p:ph type="body" idx="21" sz="quarter"/>
          </p:nvPr>
        </p:nvSpPr>
        <p:spPr/>
        <p:txBody>
          <a:bodyPr/>
          <a:lstStyle/>
          <a:p>
            <a:r>
              <a:t>What is the main reason for supporting a target? (%, among supporters)</a:t>
            </a:r>
          </a:p>
        </p:txBody>
      </p:sp>
      <p:sp>
        <p:nvSpPr>
          <p:cNvPr id="4" name="Text Placeholder 3"/>
          <p:cNvSpPr>
            <a:spLocks noGrp="1"/>
          </p:cNvSpPr>
          <p:nvPr>
            <p:ph type="body" idx="22" sz="quarter"/>
          </p:nvPr>
        </p:nvSpPr>
        <p:spPr/>
        <p:txBody>
          <a:bodyPr/>
          <a:lstStyle/>
          <a:p>
            <a:r>
              <a:t>Base: those who support a target (n=626)</a:t>
            </a:r>
          </a:p>
        </p:txBody>
      </p:sp>
      <p:sp>
        <p:nvSpPr>
          <p:cNvPr id="5" name="Text Placeholder 4"/>
          <p:cNvSpPr>
            <a:spLocks noGrp="1"/>
          </p:cNvSpPr>
          <p:nvPr>
            <p:ph type="body" idx="2" sz="half"/>
          </p:nvPr>
        </p:nvSpPr>
        <p:spPr/>
        <p:txBody>
          <a:bodyPr/>
          <a:lstStyle/>
          <a:p/>
        </p:txBody>
      </p:sp>
      <p:sp>
        <p:nvSpPr>
          <p:cNvPr id="6" name="Text Placeholder 5"/>
          <p:cNvSpPr>
            <a:spLocks noGrp="1"/>
          </p:cNvSpPr>
          <p:nvPr>
            <p:ph type="body" idx="23" sz="half"/>
          </p:nvPr>
        </p:nvSpPr>
        <p:spPr/>
        <p:txBody>
          <a:bodyPr/>
          <a:lstStyle/>
          <a:p/>
        </p:txBody>
      </p:sp>
      <p:graphicFrame>
        <p:nvGraphicFramePr>
          <p:cNvPr id="7" name="Table 6"/>
          <p:cNvGraphicFramePr>
            <a:graphicFrameLocks noGrp="1"/>
          </p:cNvGraphicFramePr>
          <p:nvPr/>
        </p:nvGraphicFramePr>
        <p:xfrm>
          <a:off x="310896" y="1920240"/>
          <a:ext cx="11512295" cy="4434840"/>
        </p:xfrm>
        <a:graphic>
          <a:graphicData uri="http://schemas.openxmlformats.org/drawingml/2006/table">
            <a:tbl>
              <a:tblPr firstRow="1" bandRow="1">
                <a:tableStyleId>{5C22544A-7EE6-4342-B048-85BDC9FD1C3A}</a:tableStyleId>
              </a:tblPr>
              <a:tblGrid>
                <a:gridCol w="9785451"/>
                <a:gridCol w="1726844"/>
              </a:tblGrid>
              <a:tr h="295656">
                <a:tc>
                  <a:txBody>
                    <a:bodyPr wrap="none"/>
                    <a:lstStyle/>
                    <a:p>
                      <a:pPr algn="l"/>
                      <a:r>
                        <a:rPr sz="1100" b="1">
                          <a:solidFill>
                            <a:srgbClr val="FFFFFF"/>
                          </a:solidFill>
                          <a:latin typeface="DM Sans"/>
                        </a:rPr>
                        <a:t>Response</a:t>
                      </a:r>
                    </a:p>
                  </a:txBody>
                  <a:tcPr>
                    <a:solidFill>
                      <a:srgbClr val="027F7C"/>
                    </a:solidFill>
                  </a:tcPr>
                </a:tc>
                <a:tc>
                  <a:txBody>
                    <a:bodyPr wrap="none"/>
                    <a:lstStyle/>
                    <a:p>
                      <a:pPr algn="ctr"/>
                      <a:r>
                        <a:rPr sz="1100" b="1">
                          <a:solidFill>
                            <a:srgbClr val="FFFFFF"/>
                          </a:solidFill>
                          <a:latin typeface="DM Sans"/>
                        </a:rPr>
                        <a:t>%</a:t>
                      </a:r>
                    </a:p>
                  </a:txBody>
                  <a:tcPr>
                    <a:solidFill>
                      <a:srgbClr val="027F7C"/>
                    </a:solidFill>
                  </a:tcPr>
                </a:tc>
              </a:tr>
              <a:tr h="295656">
                <a:tc>
                  <a:txBody>
                    <a:bodyPr wrap="square"/>
                    <a:lstStyle/>
                    <a:p>
                      <a:pPr algn="l"/>
                      <a:r>
                        <a:rPr sz="1000" b="1">
                          <a:solidFill>
                            <a:srgbClr val="027F7C"/>
                          </a:solidFill>
                          <a:latin typeface="DM Sans"/>
                        </a:rPr>
                        <a:t>Targets create direction and momentum</a:t>
                      </a:r>
                      <a:r>
                        <a:rPr sz="1000" b="0">
                          <a:solidFill>
                            <a:srgbClr val="027F7C"/>
                          </a:solidFill>
                          <a:latin typeface="DM Sans"/>
                        </a:rPr>
                        <a:t>: Provides a clear goal and encourages progress.</a:t>
                      </a:r>
                    </a:p>
                  </a:txBody>
                  <a:tcPr>
                    <a:solidFill>
                      <a:srgbClr val="FFFFFF"/>
                    </a:solidFill>
                  </a:tcPr>
                </a:tc>
                <a:tc>
                  <a:txBody>
                    <a:bodyPr wrap="none"/>
                    <a:lstStyle/>
                    <a:p>
                      <a:pPr algn="ctr"/>
                      <a:r>
                        <a:rPr sz="1000" b="1">
                          <a:solidFill>
                            <a:srgbClr val="027F7C"/>
                          </a:solidFill>
                          <a:latin typeface="DM Sans"/>
                        </a:rPr>
                        <a:t>25%</a:t>
                      </a:r>
                    </a:p>
                  </a:txBody>
                  <a:tcPr>
                    <a:solidFill>
                      <a:srgbClr val="FFFFFF"/>
                    </a:solidFill>
                  </a:tcPr>
                </a:tc>
              </a:tr>
              <a:tr h="295656">
                <a:tc>
                  <a:txBody>
                    <a:bodyPr wrap="square"/>
                    <a:lstStyle/>
                    <a:p>
                      <a:pPr algn="l"/>
                      <a:r>
                        <a:rPr sz="1000" b="1">
                          <a:solidFill>
                            <a:srgbClr val="44546A"/>
                          </a:solidFill>
                          <a:latin typeface="DM Sans"/>
                        </a:rPr>
                        <a:t>“Right thing to do” / general support</a:t>
                      </a:r>
                      <a:r>
                        <a:rPr sz="1000" b="0">
                          <a:solidFill>
                            <a:srgbClr val="44546A"/>
                          </a:solidFill>
                          <a:latin typeface="DM Sans"/>
                        </a:rPr>
                        <a:t>: Values-based support without a specific reason.</a:t>
                      </a:r>
                    </a:p>
                  </a:txBody>
                  <a:tcPr>
                    <a:solidFill>
                      <a:srgbClr val="E6F8F9"/>
                    </a:solidFill>
                  </a:tcPr>
                </a:tc>
                <a:tc>
                  <a:txBody>
                    <a:bodyPr wrap="none"/>
                    <a:lstStyle/>
                    <a:p>
                      <a:pPr algn="ctr"/>
                      <a:r>
                        <a:rPr sz="1000" b="1">
                          <a:solidFill>
                            <a:srgbClr val="027F7C"/>
                          </a:solidFill>
                          <a:latin typeface="DM Sans"/>
                        </a:rPr>
                        <a:t>23%</a:t>
                      </a:r>
                    </a:p>
                  </a:txBody>
                  <a:tcPr>
                    <a:solidFill>
                      <a:srgbClr val="E6F8F9"/>
                    </a:solidFill>
                  </a:tcPr>
                </a:tc>
              </a:tr>
              <a:tr h="295656">
                <a:tc>
                  <a:txBody>
                    <a:bodyPr wrap="square"/>
                    <a:lstStyle/>
                    <a:p>
                      <a:pPr algn="l"/>
                      <a:r>
                        <a:rPr sz="1000" b="1">
                          <a:solidFill>
                            <a:srgbClr val="44546A"/>
                          </a:solidFill>
                          <a:latin typeface="DM Sans"/>
                        </a:rPr>
                        <a:t>Better environment and health outcomes</a:t>
                      </a:r>
                      <a:r>
                        <a:rPr sz="1000" b="0">
                          <a:solidFill>
                            <a:srgbClr val="44546A"/>
                          </a:solidFill>
                          <a:latin typeface="DM Sans"/>
                        </a:rPr>
                        <a:t>: Cleaner air, less pollution, and protecting ecosystems.</a:t>
                      </a:r>
                    </a:p>
                  </a:txBody>
                  <a:tcPr>
                    <a:solidFill>
                      <a:srgbClr val="FFFFFF"/>
                    </a:solidFill>
                  </a:tcPr>
                </a:tc>
                <a:tc>
                  <a:txBody>
                    <a:bodyPr wrap="none"/>
                    <a:lstStyle/>
                    <a:p>
                      <a:pPr algn="ctr"/>
                      <a:r>
                        <a:rPr sz="1000" b="1">
                          <a:solidFill>
                            <a:srgbClr val="44546A"/>
                          </a:solidFill>
                          <a:latin typeface="DM Sans"/>
                        </a:rPr>
                        <a:t>16%</a:t>
                      </a:r>
                    </a:p>
                  </a:txBody>
                  <a:tcPr>
                    <a:solidFill>
                      <a:srgbClr val="FFFFFF"/>
                    </a:solidFill>
                  </a:tcPr>
                </a:tc>
              </a:tr>
              <a:tr h="295656">
                <a:tc>
                  <a:txBody>
                    <a:bodyPr wrap="square"/>
                    <a:lstStyle/>
                    <a:p>
                      <a:pPr algn="l"/>
                      <a:r>
                        <a:rPr sz="1000" b="1">
                          <a:solidFill>
                            <a:srgbClr val="44546A"/>
                          </a:solidFill>
                          <a:latin typeface="DM Sans"/>
                        </a:rPr>
                        <a:t>Climate change and emissions reduction</a:t>
                      </a:r>
                      <a:r>
                        <a:rPr sz="1000" b="0">
                          <a:solidFill>
                            <a:srgbClr val="44546A"/>
                          </a:solidFill>
                          <a:latin typeface="DM Sans"/>
                        </a:rPr>
                        <a:t>: Cutting greenhouse gas emissions and addressing climate change.</a:t>
                      </a:r>
                    </a:p>
                  </a:txBody>
                  <a:tcPr>
                    <a:solidFill>
                      <a:srgbClr val="E6F8F9"/>
                    </a:solidFill>
                  </a:tcPr>
                </a:tc>
                <a:tc>
                  <a:txBody>
                    <a:bodyPr wrap="none"/>
                    <a:lstStyle/>
                    <a:p>
                      <a:pPr algn="ctr"/>
                      <a:r>
                        <a:rPr sz="1000" b="1">
                          <a:solidFill>
                            <a:srgbClr val="44546A"/>
                          </a:solidFill>
                          <a:latin typeface="DM Sans"/>
                        </a:rPr>
                        <a:t>14%</a:t>
                      </a:r>
                    </a:p>
                  </a:txBody>
                  <a:tcPr>
                    <a:solidFill>
                      <a:srgbClr val="E6F8F9"/>
                    </a:solidFill>
                  </a:tcPr>
                </a:tc>
              </a:tr>
              <a:tr h="295656">
                <a:tc>
                  <a:txBody>
                    <a:bodyPr wrap="square"/>
                    <a:lstStyle/>
                    <a:p>
                      <a:pPr algn="l"/>
                      <a:r>
                        <a:rPr sz="1000" b="1">
                          <a:solidFill>
                            <a:srgbClr val="44546A"/>
                          </a:solidFill>
                          <a:latin typeface="DM Sans"/>
                        </a:rPr>
                        <a:t>Reduce reliance on fossil fuels</a:t>
                      </a:r>
                      <a:r>
                        <a:rPr sz="1000" b="0">
                          <a:solidFill>
                            <a:srgbClr val="44546A"/>
                          </a:solidFill>
                          <a:latin typeface="DM Sans"/>
                        </a:rPr>
                        <a:t>: Accelerates the transition away from coal and gas.</a:t>
                      </a:r>
                    </a:p>
                  </a:txBody>
                  <a:tcPr>
                    <a:solidFill>
                      <a:srgbClr val="FFFFFF"/>
                    </a:solidFill>
                  </a:tcPr>
                </a:tc>
                <a:tc>
                  <a:txBody>
                    <a:bodyPr wrap="none"/>
                    <a:lstStyle/>
                    <a:p>
                      <a:pPr algn="ctr"/>
                      <a:r>
                        <a:rPr sz="1000" b="1">
                          <a:solidFill>
                            <a:srgbClr val="44546A"/>
                          </a:solidFill>
                          <a:latin typeface="DM Sans"/>
                        </a:rPr>
                        <a:t>11%</a:t>
                      </a:r>
                    </a:p>
                  </a:txBody>
                  <a:tcPr>
                    <a:solidFill>
                      <a:srgbClr val="FFFFFF"/>
                    </a:solidFill>
                  </a:tcPr>
                </a:tc>
              </a:tr>
              <a:tr h="295656">
                <a:tc>
                  <a:txBody>
                    <a:bodyPr wrap="square"/>
                    <a:lstStyle/>
                    <a:p>
                      <a:pPr algn="l"/>
                      <a:r>
                        <a:rPr sz="1000" b="1">
                          <a:solidFill>
                            <a:srgbClr val="44546A"/>
                          </a:solidFill>
                          <a:latin typeface="DM Sans"/>
                        </a:rPr>
                        <a:t>Accountability and measurement</a:t>
                      </a:r>
                      <a:r>
                        <a:rPr sz="1000" b="0">
                          <a:solidFill>
                            <a:srgbClr val="44546A"/>
                          </a:solidFill>
                          <a:latin typeface="DM Sans"/>
                        </a:rPr>
                        <a:t>: Enables progress tracking and holds government and industry accountable.</a:t>
                      </a:r>
                    </a:p>
                  </a:txBody>
                  <a:tcPr>
                    <a:solidFill>
                      <a:srgbClr val="E6F8F9"/>
                    </a:solidFill>
                  </a:tcPr>
                </a:tc>
                <a:tc>
                  <a:txBody>
                    <a:bodyPr wrap="none"/>
                    <a:lstStyle/>
                    <a:p>
                      <a:pPr algn="ctr"/>
                      <a:r>
                        <a:rPr sz="1000" b="1">
                          <a:solidFill>
                            <a:srgbClr val="44546A"/>
                          </a:solidFill>
                          <a:latin typeface="DM Sans"/>
                        </a:rPr>
                        <a:t>10%</a:t>
                      </a:r>
                    </a:p>
                  </a:txBody>
                  <a:tcPr>
                    <a:solidFill>
                      <a:srgbClr val="E6F8F9"/>
                    </a:solidFill>
                  </a:tcPr>
                </a:tc>
              </a:tr>
              <a:tr h="295656">
                <a:tc>
                  <a:txBody>
                    <a:bodyPr wrap="square"/>
                    <a:lstStyle/>
                    <a:p>
                      <a:pPr algn="l"/>
                      <a:r>
                        <a:rPr sz="1000" b="1">
                          <a:solidFill>
                            <a:srgbClr val="44546A"/>
                          </a:solidFill>
                          <a:latin typeface="DM Sans"/>
                        </a:rPr>
                        <a:t>Cost of living and cheaper power over time</a:t>
                      </a:r>
                      <a:r>
                        <a:rPr sz="1000" b="0">
                          <a:solidFill>
                            <a:srgbClr val="44546A"/>
                          </a:solidFill>
                          <a:latin typeface="DM Sans"/>
                        </a:rPr>
                        <a:t>: Expectation renewables will lower electricity costs.</a:t>
                      </a:r>
                    </a:p>
                  </a:txBody>
                  <a:tcPr>
                    <a:solidFill>
                      <a:srgbClr val="FFFFFF"/>
                    </a:solidFill>
                  </a:tcPr>
                </a:tc>
                <a:tc>
                  <a:txBody>
                    <a:bodyPr wrap="none"/>
                    <a:lstStyle/>
                    <a:p>
                      <a:pPr algn="ctr"/>
                      <a:r>
                        <a:rPr sz="1000" b="1">
                          <a:solidFill>
                            <a:srgbClr val="44546A"/>
                          </a:solidFill>
                          <a:latin typeface="DM Sans"/>
                        </a:rPr>
                        <a:t>10%</a:t>
                      </a:r>
                    </a:p>
                  </a:txBody>
                  <a:tcPr>
                    <a:solidFill>
                      <a:srgbClr val="FFFFFF"/>
                    </a:solidFill>
                  </a:tcPr>
                </a:tc>
              </a:tr>
              <a:tr h="295656">
                <a:tc>
                  <a:txBody>
                    <a:bodyPr wrap="square"/>
                    <a:lstStyle/>
                    <a:p>
                      <a:pPr algn="l"/>
                      <a:r>
                        <a:rPr sz="1000" b="1">
                          <a:solidFill>
                            <a:srgbClr val="44546A"/>
                          </a:solidFill>
                          <a:latin typeface="DM Sans"/>
                        </a:rPr>
                        <a:t>Future generations</a:t>
                      </a:r>
                      <a:r>
                        <a:rPr sz="1000" b="0">
                          <a:solidFill>
                            <a:srgbClr val="44546A"/>
                          </a:solidFill>
                          <a:latin typeface="DM Sans"/>
                        </a:rPr>
                        <a:t>: Ensuring a sustainable planet for children and future generations.</a:t>
                      </a:r>
                    </a:p>
                  </a:txBody>
                  <a:tcPr>
                    <a:solidFill>
                      <a:srgbClr val="E6F8F9"/>
                    </a:solidFill>
                  </a:tcPr>
                </a:tc>
                <a:tc>
                  <a:txBody>
                    <a:bodyPr wrap="none"/>
                    <a:lstStyle/>
                    <a:p>
                      <a:pPr algn="ctr"/>
                      <a:r>
                        <a:rPr sz="1000" b="1">
                          <a:solidFill>
                            <a:srgbClr val="44546A"/>
                          </a:solidFill>
                          <a:latin typeface="DM Sans"/>
                        </a:rPr>
                        <a:t>7%</a:t>
                      </a:r>
                    </a:p>
                  </a:txBody>
                  <a:tcPr>
                    <a:solidFill>
                      <a:srgbClr val="E6F8F9"/>
                    </a:solidFill>
                  </a:tcPr>
                </a:tc>
              </a:tr>
              <a:tr h="295656">
                <a:tc>
                  <a:txBody>
                    <a:bodyPr wrap="square"/>
                    <a:lstStyle/>
                    <a:p>
                      <a:pPr algn="l"/>
                      <a:r>
                        <a:rPr sz="1000" b="1">
                          <a:solidFill>
                            <a:srgbClr val="44546A"/>
                          </a:solidFill>
                          <a:latin typeface="DM Sans"/>
                        </a:rPr>
                        <a:t>Conditional support focused on feasibility</a:t>
                      </a:r>
                      <a:r>
                        <a:rPr sz="1000" b="0">
                          <a:solidFill>
                            <a:srgbClr val="44546A"/>
                          </a:solidFill>
                          <a:latin typeface="DM Sans"/>
                        </a:rPr>
                        <a:t>: Support depends on targets being realistic and affordable.</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295656">
                <a:tc>
                  <a:txBody>
                    <a:bodyPr wrap="square"/>
                    <a:lstStyle/>
                    <a:p>
                      <a:pPr algn="l"/>
                      <a:r>
                        <a:rPr sz="1000" b="1">
                          <a:solidFill>
                            <a:srgbClr val="44546A"/>
                          </a:solidFill>
                          <a:latin typeface="DM Sans"/>
                        </a:rPr>
                        <a:t>Economic opportunity and jobs</a:t>
                      </a:r>
                      <a:r>
                        <a:rPr sz="1000" b="0">
                          <a:solidFill>
                            <a:srgbClr val="44546A"/>
                          </a:solidFill>
                          <a:latin typeface="DM Sans"/>
                        </a:rPr>
                        <a:t>: Supports new industries, economic growth, and job creation.</a:t>
                      </a:r>
                    </a:p>
                  </a:txBody>
                  <a:tcPr>
                    <a:solidFill>
                      <a:srgbClr val="E6F8F9"/>
                    </a:solidFill>
                  </a:tcPr>
                </a:tc>
                <a:tc>
                  <a:txBody>
                    <a:bodyPr wrap="none"/>
                    <a:lstStyle/>
                    <a:p>
                      <a:pPr algn="ctr"/>
                      <a:r>
                        <a:rPr sz="1000" b="1">
                          <a:solidFill>
                            <a:srgbClr val="44546A"/>
                          </a:solidFill>
                          <a:latin typeface="DM Sans"/>
                        </a:rPr>
                        <a:t>6%</a:t>
                      </a:r>
                    </a:p>
                  </a:txBody>
                  <a:tcPr>
                    <a:solidFill>
                      <a:srgbClr val="E6F8F9"/>
                    </a:solidFill>
                  </a:tcPr>
                </a:tc>
              </a:tr>
              <a:tr h="295656">
                <a:tc>
                  <a:txBody>
                    <a:bodyPr wrap="square"/>
                    <a:lstStyle/>
                    <a:p>
                      <a:pPr algn="l"/>
                      <a:r>
                        <a:rPr sz="1000" b="1">
                          <a:solidFill>
                            <a:srgbClr val="44546A"/>
                          </a:solidFill>
                          <a:latin typeface="DM Sans"/>
                        </a:rPr>
                        <a:t>Energy security and reliability</a:t>
                      </a:r>
                      <a:r>
                        <a:rPr sz="1000" b="0">
                          <a:solidFill>
                            <a:srgbClr val="44546A"/>
                          </a:solidFill>
                          <a:latin typeface="DM Sans"/>
                        </a:rPr>
                        <a:t>: Helps ensure stable and reliable energy supply.</a:t>
                      </a:r>
                    </a:p>
                  </a:txBody>
                  <a:tcPr>
                    <a:solidFill>
                      <a:srgbClr val="FFFFFF"/>
                    </a:solidFill>
                  </a:tcPr>
                </a:tc>
                <a:tc>
                  <a:txBody>
                    <a:bodyPr wrap="none"/>
                    <a:lstStyle/>
                    <a:p>
                      <a:pPr algn="ctr"/>
                      <a:r>
                        <a:rPr sz="1000" b="1">
                          <a:solidFill>
                            <a:srgbClr val="44546A"/>
                          </a:solidFill>
                          <a:latin typeface="DM Sans"/>
                        </a:rPr>
                        <a:t>6%</a:t>
                      </a:r>
                    </a:p>
                  </a:txBody>
                  <a:tcPr>
                    <a:solidFill>
                      <a:srgbClr val="FFFFFF"/>
                    </a:solidFill>
                  </a:tcPr>
                </a:tc>
              </a:tr>
              <a:tr h="295656">
                <a:tc>
                  <a:txBody>
                    <a:bodyPr wrap="square"/>
                    <a:lstStyle/>
                    <a:p>
                      <a:pPr algn="l"/>
                      <a:r>
                        <a:rPr sz="1000" b="1">
                          <a:solidFill>
                            <a:srgbClr val="44546A"/>
                          </a:solidFill>
                          <a:latin typeface="DM Sans"/>
                        </a:rPr>
                        <a:t>Dissatisfaction with politics or delivery</a:t>
                      </a:r>
                      <a:r>
                        <a:rPr sz="1000" b="0">
                          <a:solidFill>
                            <a:srgbClr val="44546A"/>
                          </a:solidFill>
                          <a:latin typeface="DM Sans"/>
                        </a:rPr>
                        <a:t>: Criticism of government action or speed of delivery.</a:t>
                      </a:r>
                    </a:p>
                  </a:txBody>
                  <a:tcPr>
                    <a:solidFill>
                      <a:srgbClr val="E6F8F9"/>
                    </a:solidFill>
                  </a:tcPr>
                </a:tc>
                <a:tc>
                  <a:txBody>
                    <a:bodyPr wrap="none"/>
                    <a:lstStyle/>
                    <a:p>
                      <a:pPr algn="ctr"/>
                      <a:r>
                        <a:rPr sz="1000" b="1">
                          <a:solidFill>
                            <a:srgbClr val="44546A"/>
                          </a:solidFill>
                          <a:latin typeface="DM Sans"/>
                        </a:rPr>
                        <a:t>5%</a:t>
                      </a:r>
                    </a:p>
                  </a:txBody>
                  <a:tcPr>
                    <a:solidFill>
                      <a:srgbClr val="E6F8F9"/>
                    </a:solidFill>
                  </a:tcPr>
                </a:tc>
              </a:tr>
              <a:tr h="295656">
                <a:tc>
                  <a:txBody>
                    <a:bodyPr wrap="square"/>
                    <a:lstStyle/>
                    <a:p>
                      <a:pPr algn="l"/>
                      <a:r>
                        <a:rPr sz="1000" b="1">
                          <a:solidFill>
                            <a:srgbClr val="44546A"/>
                          </a:solidFill>
                          <a:latin typeface="DM Sans"/>
                        </a:rPr>
                        <a:t>Certainty for planning and investment</a:t>
                      </a:r>
                      <a:r>
                        <a:rPr sz="1000" b="0">
                          <a:solidFill>
                            <a:srgbClr val="44546A"/>
                          </a:solidFill>
                          <a:latin typeface="DM Sans"/>
                        </a:rPr>
                        <a:t>: Provides clarity for long-term planning and investment.</a:t>
                      </a:r>
                    </a:p>
                  </a:txBody>
                  <a:tcPr>
                    <a:solidFill>
                      <a:srgbClr val="FFFFFF"/>
                    </a:solidFill>
                  </a:tcPr>
                </a:tc>
                <a:tc>
                  <a:txBody>
                    <a:bodyPr wrap="none"/>
                    <a:lstStyle/>
                    <a:p>
                      <a:pPr algn="ctr"/>
                      <a:r>
                        <a:rPr sz="1000" b="1">
                          <a:solidFill>
                            <a:srgbClr val="44546A"/>
                          </a:solidFill>
                          <a:latin typeface="DM Sans"/>
                        </a:rPr>
                        <a:t>4%</a:t>
                      </a:r>
                    </a:p>
                  </a:txBody>
                  <a:tcPr>
                    <a:solidFill>
                      <a:srgbClr val="FFFFFF"/>
                    </a:solidFill>
                  </a:tcPr>
                </a:tc>
              </a:tr>
              <a:tr h="295656">
                <a:tc>
                  <a:txBody>
                    <a:bodyPr wrap="square"/>
                    <a:lstStyle/>
                    <a:p>
                      <a:pPr algn="l"/>
                      <a:r>
                        <a:rPr sz="1000" b="1">
                          <a:solidFill>
                            <a:srgbClr val="44546A"/>
                          </a:solidFill>
                          <a:latin typeface="DM Sans"/>
                        </a:rPr>
                        <a:t>Unsure</a:t>
                      </a:r>
                    </a:p>
                  </a:txBody>
                  <a:tcPr>
                    <a:solidFill>
                      <a:srgbClr val="E6F8F9"/>
                    </a:solidFill>
                  </a:tcPr>
                </a:tc>
                <a:tc>
                  <a:txBody>
                    <a:bodyPr wrap="none"/>
                    <a:lstStyle/>
                    <a:p>
                      <a:pPr algn="ctr"/>
                      <a:r>
                        <a:rPr sz="1000" b="1">
                          <a:solidFill>
                            <a:srgbClr val="44546A"/>
                          </a:solidFill>
                          <a:latin typeface="DM Sans"/>
                        </a:rPr>
                        <a:t>4%</a:t>
                      </a:r>
                    </a:p>
                  </a:txBody>
                  <a:tcPr>
                    <a:solidFill>
                      <a:srgbClr val="E6F8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