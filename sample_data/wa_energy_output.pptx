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3"/>
  </p:sldMasterIdLst>
  <p:notesMasterIdLst>
    <p:notesMasterId r:id="rId63"/>
  </p:notesMasterIdLst>
  <p:handoutMasterIdLst>
    <p:handoutMasterId r:id="rId64"/>
  </p:handoutMasterIdLst>
  <p:sldIdLst>
    <p:sldId id="256" r:id="rId28"/>
    <p:sldId id="257" r:id="rId29"/>
    <p:sldId id="258" r:id="rId30"/>
    <p:sldId id="259" r:id="rId31"/>
    <p:sldId id="260" r:id="rId32"/>
    <p:sldId id="261" r:id="rId33"/>
    <p:sldId id="262" r:id="rId34"/>
    <p:sldId id="263" r:id="rId35"/>
    <p:sldId id="264" r:id="rId36"/>
    <p:sldId id="265" r:id="rId37"/>
  </p:sldIdLst>
  <p:sldSz cx="12192000" cy="6858000"/>
  <p:notesSz cx="6858000" cy="9144000"/>
  <p:embeddedFontLst>
    <p:embeddedFont>
      <p:font typeface="DM Sans" pitchFamily="2" charset="0"/>
      <p:regular r:id="rId65"/>
      <p:bold r:id="rId66"/>
      <p:italic r:id="rId67"/>
      <p:boldItalic r:id="rId68"/>
    </p:embeddedFont>
    <p:embeddedFont>
      <p:font typeface="DM Sans 14pt" pitchFamily="2" charset="0"/>
      <p:regular r:id="rId69"/>
      <p:bold r:id="rId70"/>
      <p:italic r:id="rId71"/>
      <p:boldItalic r:id="rId72"/>
    </p:embeddedFont>
    <p:embeddedFont>
      <p:font typeface="DM Sans 14pt Light" pitchFamily="2" charset="0"/>
      <p:regular r:id="rId73"/>
      <p:italic r:id="rId74"/>
    </p:embeddedFont>
    <p:embeddedFont>
      <p:font typeface="DM Sans 14pt Medium" pitchFamily="2" charset="0"/>
      <p:regular r:id="rId75"/>
      <p:italic r:id="rId76"/>
    </p:embeddedFont>
    <p:embeddedFont>
      <p:font typeface="DM Sans 14pt SemiBold" pitchFamily="2" charset="0"/>
      <p:bold r:id="rId77"/>
      <p:boldItalic r:id="rId78"/>
    </p:embeddedFont>
    <p:embeddedFont>
      <p:font typeface="PT Serif" panose="020A0603040505020204" pitchFamily="18" charset="0"/>
      <p:regular r:id="rId79"/>
      <p:bold r:id="rId80"/>
      <p:italic r:id="rId81"/>
      <p:boldItalic r:id="rId8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8488"/>
    <a:srgbClr val="B20000"/>
    <a:srgbClr val="003E3D"/>
    <a:srgbClr val="00BEBB"/>
    <a:srgbClr val="F6C5C6"/>
    <a:srgbClr val="9BEFEF"/>
    <a:srgbClr val="7E160D"/>
    <a:srgbClr val="E5F9F9"/>
    <a:srgbClr val="E6F8F9"/>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5890"/>
  </p:normalViewPr>
  <p:slideViewPr>
    <p:cSldViewPr snapToGrid="0">
      <p:cViewPr varScale="1">
        <p:scale>
          <a:sx n="85" d="100"/>
          <a:sy n="85" d="100"/>
        </p:scale>
        <p:origin x="64" y="516"/>
      </p:cViewPr>
      <p:guideLst/>
    </p:cSldViewPr>
  </p:slideViewPr>
  <p:notesTextViewPr>
    <p:cViewPr>
      <p:scale>
        <a:sx n="1" d="1"/>
        <a:sy n="1" d="1"/>
      </p:scale>
      <p:origin x="0" y="0"/>
    </p:cViewPr>
  </p:notesTextViewPr>
  <p:notesViewPr>
    <p:cSldViewPr snapToGrid="0">
      <p:cViewPr varScale="1">
        <p:scale>
          <a:sx n="118" d="100"/>
          <a:sy n="118" d="100"/>
        </p:scale>
        <p:origin x="3952" y="21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slideMaster" Target="slideMasters/slideMaster1.xml"/><Relationship Id="rId28" Type="http://schemas.openxmlformats.org/officeDocument/2006/relationships/slide" Target="slides/slide1.xml"/><Relationship Id="rId29" Type="http://schemas.openxmlformats.org/officeDocument/2006/relationships/slide" Target="slides/slide2.xml"/><Relationship Id="rId30" Type="http://schemas.openxmlformats.org/officeDocument/2006/relationships/slide" Target="slides/slide3.xml"/><Relationship Id="rId31" Type="http://schemas.openxmlformats.org/officeDocument/2006/relationships/slide" Target="slides/slide4.xml"/><Relationship Id="rId32" Type="http://schemas.openxmlformats.org/officeDocument/2006/relationships/slide" Target="slides/slide5.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font" Target="fonts/font13.fntdata"/><Relationship Id="rId78" Type="http://schemas.openxmlformats.org/officeDocument/2006/relationships/font" Target="fonts/font14.fntdata"/><Relationship Id="rId79" Type="http://schemas.openxmlformats.org/officeDocument/2006/relationships/font" Target="fonts/font15.fntdata"/><Relationship Id="rId80" Type="http://schemas.openxmlformats.org/officeDocument/2006/relationships/font" Target="fonts/font16.fntdata"/><Relationship Id="rId81" Type="http://schemas.openxmlformats.org/officeDocument/2006/relationships/font" Target="fonts/font17.fntdata"/><Relationship Id="rId82" Type="http://schemas.openxmlformats.org/officeDocument/2006/relationships/font" Target="fonts/font18.fntdata"/><Relationship Id="rId83" Type="http://schemas.openxmlformats.org/officeDocument/2006/relationships/presProps" Target="presProps.xml"/><Relationship Id="rId84" Type="http://schemas.openxmlformats.org/officeDocument/2006/relationships/viewProps" Target="viewProps.xml"/><Relationship Id="rId85" Type="http://schemas.openxmlformats.org/officeDocument/2006/relationships/theme" Target="theme/theme1.xml"/><Relationship Id="rId8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84B60A-D138-5A0D-B6A1-48FB787A39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3B5F82E-D95C-1192-230B-BA18AC4FE2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4946F9-B390-5549-A170-C0794563C038}" type="datetimeFigureOut">
              <a:rPr lang="en-US" smtClean="0"/>
              <a:t>3/15/2026</a:t>
            </a:fld>
            <a:endParaRPr lang="en-US"/>
          </a:p>
        </p:txBody>
      </p:sp>
      <p:sp>
        <p:nvSpPr>
          <p:cNvPr id="4" name="Footer Placeholder 3">
            <a:extLst>
              <a:ext uri="{FF2B5EF4-FFF2-40B4-BE49-F238E27FC236}">
                <a16:creationId xmlns:a16="http://schemas.microsoft.com/office/drawing/2014/main" id="{C3A1D4C3-DE65-924F-A311-8FCFB2B11F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9B1FBD5-666E-125D-D67E-C39A90C706E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534DBF-4ED0-F242-9E08-223CE2440250}" type="slidenum">
              <a:rPr lang="en-US" smtClean="0"/>
              <a:t>‹#›</a:t>
            </a:fld>
            <a:endParaRPr lang="en-US"/>
          </a:p>
        </p:txBody>
      </p:sp>
    </p:spTree>
    <p:extLst>
      <p:ext uri="{BB962C8B-B14F-4D97-AF65-F5344CB8AC3E}">
        <p14:creationId xmlns:p14="http://schemas.microsoft.com/office/powerpoint/2010/main" val="190157801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6D77C0-D616-6942-A6DE-15CA13F07A41}" type="datetimeFigureOut">
              <a:rPr lang="en-US" smtClean="0"/>
              <a:t>3/15/2026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38470-C823-E543-9E68-F0DBB5DFCC4B}" type="slidenum">
              <a:rPr lang="en-US" smtClean="0"/>
              <a:t>‹#›</a:t>
            </a:fld>
            <a:endParaRPr lang="en-US"/>
          </a:p>
        </p:txBody>
      </p:sp>
    </p:spTree>
    <p:extLst>
      <p:ext uri="{BB962C8B-B14F-4D97-AF65-F5344CB8AC3E}">
        <p14:creationId xmlns:p14="http://schemas.microsoft.com/office/powerpoint/2010/main" val="296512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spTree>
    <p:extLst>
      <p:ext uri="{BB962C8B-B14F-4D97-AF65-F5344CB8AC3E}">
        <p14:creationId xmlns:p14="http://schemas.microsoft.com/office/powerpoint/2010/main" val="304540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9558126"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pic>
        <p:nvPicPr>
          <p:cNvPr id="4" name="Picture 3" descr="A blue quote marks on a black background&#10;&#10;Description automatically generated">
            <a:extLst>
              <a:ext uri="{FF2B5EF4-FFF2-40B4-BE49-F238E27FC236}">
                <a16:creationId xmlns:a16="http://schemas.microsoft.com/office/drawing/2014/main" id="{499C6073-8A58-EFE5-299F-0C26C0889444}"/>
              </a:ext>
            </a:extLst>
          </p:cNvPr>
          <p:cNvPicPr>
            <a:picLocks noChangeAspect="1"/>
          </p:cNvPicPr>
          <p:nvPr userDrawn="1"/>
        </p:nvPicPr>
        <p:blipFill>
          <a:blip r:embed="rId3"/>
          <a:stretch>
            <a:fillRect/>
          </a:stretch>
        </p:blipFill>
        <p:spPr>
          <a:xfrm>
            <a:off x="9808014" y="-110144"/>
            <a:ext cx="2221375" cy="2221375"/>
          </a:xfrm>
          <a:prstGeom prst="rect">
            <a:avLst/>
          </a:prstGeom>
        </p:spPr>
      </p:pic>
    </p:spTree>
    <p:extLst>
      <p:ext uri="{BB962C8B-B14F-4D97-AF65-F5344CB8AC3E}">
        <p14:creationId xmlns:p14="http://schemas.microsoft.com/office/powerpoint/2010/main" val="2435237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03517A62-8C0C-FC97-152D-F0D41EB22691}"/>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1100" b="0" i="1">
                <a:latin typeface="DM Sans" pitchFamily="2" charset="77"/>
              </a:defRPr>
            </a:lvl1pPr>
          </a:lstStyle>
          <a:p>
            <a:pPr lvl="0"/>
            <a:r>
              <a:rPr lang="en-US" dirty="0"/>
              <a:t>Footer</a:t>
            </a:r>
            <a:endParaRPr lang="en-AU" dirty="0"/>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9487486"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pic>
        <p:nvPicPr>
          <p:cNvPr id="6" name="Picture 5" descr="A pair of red quotation marks&#10;&#10;Description automatically generated">
            <a:extLst>
              <a:ext uri="{FF2B5EF4-FFF2-40B4-BE49-F238E27FC236}">
                <a16:creationId xmlns:a16="http://schemas.microsoft.com/office/drawing/2014/main" id="{D3913944-AC52-5278-5E22-E8B791A8C9E7}"/>
              </a:ext>
            </a:extLst>
          </p:cNvPr>
          <p:cNvPicPr>
            <a:picLocks noChangeAspect="1"/>
          </p:cNvPicPr>
          <p:nvPr userDrawn="1"/>
        </p:nvPicPr>
        <p:blipFill>
          <a:blip r:embed="rId3"/>
          <a:stretch>
            <a:fillRect/>
          </a:stretch>
        </p:blipFill>
        <p:spPr>
          <a:xfrm>
            <a:off x="9841553" y="-76605"/>
            <a:ext cx="2154298" cy="2154298"/>
          </a:xfrm>
          <a:prstGeom prst="rect">
            <a:avLst/>
          </a:prstGeom>
        </p:spPr>
      </p:pic>
    </p:spTree>
    <p:extLst>
      <p:ext uri="{BB962C8B-B14F-4D97-AF65-F5344CB8AC3E}">
        <p14:creationId xmlns:p14="http://schemas.microsoft.com/office/powerpoint/2010/main" val="2116550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FB0B087-FC92-F5F7-348E-CA1255882AC0}"/>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5EBD2096-F516-0AC8-D50E-149733783ACF}"/>
              </a:ext>
            </a:extLst>
          </p:cNvPr>
          <p:cNvSpPr>
            <a:spLocks noGrp="1"/>
          </p:cNvSpPr>
          <p:nvPr>
            <p:ph type="body" sz="quarter" idx="21" hasCustomPrompt="1"/>
          </p:nvPr>
        </p:nvSpPr>
        <p:spPr>
          <a:xfrm>
            <a:off x="307976" y="1242909"/>
            <a:ext cx="448835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2" name="Oval 11">
            <a:extLst>
              <a:ext uri="{FF2B5EF4-FFF2-40B4-BE49-F238E27FC236}">
                <a16:creationId xmlns:a16="http://schemas.microsoft.com/office/drawing/2014/main" id="{E80D1195-814B-4A2A-9891-639EB113BBF9}"/>
              </a:ext>
            </a:extLst>
          </p:cNvPr>
          <p:cNvSpPr/>
          <p:nvPr userDrawn="1"/>
        </p:nvSpPr>
        <p:spPr>
          <a:xfrm>
            <a:off x="1323076" y="2147695"/>
            <a:ext cx="2880000" cy="2880000"/>
          </a:xfrm>
          <a:prstGeom prst="ellipse">
            <a:avLst/>
          </a:prstGeom>
          <a:solidFill>
            <a:srgbClr val="027F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5">
            <a:extLst>
              <a:ext uri="{FF2B5EF4-FFF2-40B4-BE49-F238E27FC236}">
                <a16:creationId xmlns:a16="http://schemas.microsoft.com/office/drawing/2014/main" id="{28EAC9EF-A209-734F-11C8-87E59107B759}"/>
              </a:ext>
            </a:extLst>
          </p:cNvPr>
          <p:cNvSpPr>
            <a:spLocks noGrp="1"/>
          </p:cNvSpPr>
          <p:nvPr>
            <p:ph type="body" sz="quarter" idx="12" hasCustomPrompt="1"/>
          </p:nvPr>
        </p:nvSpPr>
        <p:spPr>
          <a:xfrm>
            <a:off x="1563990" y="3012104"/>
            <a:ext cx="2398172" cy="833791"/>
          </a:xfrm>
          <a:prstGeom prst="rect">
            <a:avLst/>
          </a:prstGeom>
        </p:spPr>
        <p:txBody>
          <a:bodyPr anchor="b"/>
          <a:lstStyle>
            <a:lvl1pPr marL="0" indent="0" algn="ctr">
              <a:buNone/>
              <a:defRPr sz="8000" b="0" i="0" baseline="0">
                <a:solidFill>
                  <a:schemeClr val="bg1"/>
                </a:solidFill>
                <a:latin typeface="DM Sans" pitchFamily="2" charset="77"/>
              </a:defRPr>
            </a:lvl1pPr>
          </a:lstStyle>
          <a:p>
            <a:pPr lvl="0"/>
            <a:r>
              <a:rPr lang="en-US" dirty="0"/>
              <a:t>XX%</a:t>
            </a:r>
            <a:endParaRPr lang="en-AU" dirty="0"/>
          </a:p>
        </p:txBody>
      </p:sp>
      <p:sp>
        <p:nvSpPr>
          <p:cNvPr id="14" name="Text Placeholder 11">
            <a:extLst>
              <a:ext uri="{FF2B5EF4-FFF2-40B4-BE49-F238E27FC236}">
                <a16:creationId xmlns:a16="http://schemas.microsoft.com/office/drawing/2014/main" id="{F2F2B5BF-E3F2-DA96-498F-818AF9C0A450}"/>
              </a:ext>
            </a:extLst>
          </p:cNvPr>
          <p:cNvSpPr>
            <a:spLocks noGrp="1"/>
          </p:cNvSpPr>
          <p:nvPr>
            <p:ph type="body" sz="quarter" idx="19" hasCustomPrompt="1"/>
          </p:nvPr>
        </p:nvSpPr>
        <p:spPr>
          <a:xfrm>
            <a:off x="1563990" y="3708750"/>
            <a:ext cx="2430490" cy="1134427"/>
          </a:xfrm>
          <a:prstGeom prst="rect">
            <a:avLst/>
          </a:prstGeom>
        </p:spPr>
        <p:txBody>
          <a:bodyPr/>
          <a:lstStyle>
            <a:lvl1pPr marL="0" indent="0">
              <a:lnSpc>
                <a:spcPct val="130000"/>
              </a:lnSpc>
              <a:spcBef>
                <a:spcPts val="0"/>
              </a:spcBef>
              <a:buClr>
                <a:schemeClr val="bg1"/>
              </a:buClr>
              <a:buNone/>
              <a:defRPr sz="1600">
                <a:solidFill>
                  <a:schemeClr val="bg1"/>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6" name="Text Placeholder 11">
            <a:extLst>
              <a:ext uri="{FF2B5EF4-FFF2-40B4-BE49-F238E27FC236}">
                <a16:creationId xmlns:a16="http://schemas.microsoft.com/office/drawing/2014/main" id="{9D457955-45AC-FF8C-6547-6D54135D6BEB}"/>
              </a:ext>
            </a:extLst>
          </p:cNvPr>
          <p:cNvSpPr>
            <a:spLocks noGrp="1"/>
          </p:cNvSpPr>
          <p:nvPr>
            <p:ph type="body" sz="quarter" idx="22" hasCustomPrompt="1"/>
          </p:nvPr>
        </p:nvSpPr>
        <p:spPr>
          <a:xfrm>
            <a:off x="8599619" y="5035406"/>
            <a:ext cx="3134238" cy="1395471"/>
          </a:xfrm>
          <a:prstGeom prst="rect">
            <a:avLst/>
          </a:prstGeom>
        </p:spPr>
        <p:txBody>
          <a:bodyPr/>
          <a:lstStyle>
            <a:lvl1pPr marL="0" indent="0">
              <a:buClr>
                <a:schemeClr val="bg1"/>
              </a:buClr>
              <a:buNone/>
              <a:defRPr sz="1200">
                <a:solidFill>
                  <a:schemeClr val="bg2">
                    <a:lumMod val="10000"/>
                  </a:schemeClr>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88AF47E7-14BE-0451-398B-86194D42D31D}"/>
              </a:ext>
            </a:extLst>
          </p:cNvPr>
          <p:cNvSpPr>
            <a:spLocks noGrp="1"/>
          </p:cNvSpPr>
          <p:nvPr>
            <p:ph type="body" sz="quarter" idx="23"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pitchFamily="2" charset="77"/>
              </a:defRPr>
            </a:lvl1pPr>
          </a:lstStyle>
          <a:p>
            <a:pPr lvl="0"/>
            <a:r>
              <a:rPr lang="en-US" dirty="0"/>
              <a:t>Footer</a:t>
            </a:r>
            <a:endParaRPr lang="en-AU" dirty="0"/>
          </a:p>
        </p:txBody>
      </p:sp>
    </p:spTree>
    <p:extLst>
      <p:ext uri="{BB962C8B-B14F-4D97-AF65-F5344CB8AC3E}">
        <p14:creationId xmlns:p14="http://schemas.microsoft.com/office/powerpoint/2010/main" val="4118768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FB0B087-FC92-F5F7-348E-CA1255882AC0}"/>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5EBD2096-F516-0AC8-D50E-149733783ACF}"/>
              </a:ext>
            </a:extLst>
          </p:cNvPr>
          <p:cNvSpPr>
            <a:spLocks noGrp="1"/>
          </p:cNvSpPr>
          <p:nvPr>
            <p:ph type="body" sz="quarter" idx="21" hasCustomPrompt="1"/>
          </p:nvPr>
        </p:nvSpPr>
        <p:spPr>
          <a:xfrm>
            <a:off x="307976" y="1242909"/>
            <a:ext cx="448835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2" name="Oval 11">
            <a:extLst>
              <a:ext uri="{FF2B5EF4-FFF2-40B4-BE49-F238E27FC236}">
                <a16:creationId xmlns:a16="http://schemas.microsoft.com/office/drawing/2014/main" id="{E80D1195-814B-4A2A-9891-639EB113BBF9}"/>
              </a:ext>
            </a:extLst>
          </p:cNvPr>
          <p:cNvSpPr/>
          <p:nvPr userDrawn="1"/>
        </p:nvSpPr>
        <p:spPr>
          <a:xfrm>
            <a:off x="1323076" y="2155406"/>
            <a:ext cx="2880000" cy="2880000"/>
          </a:xfrm>
          <a:prstGeom prst="ellipse">
            <a:avLst/>
          </a:prstGeom>
          <a:solidFill>
            <a:srgbClr val="2B3A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5">
            <a:extLst>
              <a:ext uri="{FF2B5EF4-FFF2-40B4-BE49-F238E27FC236}">
                <a16:creationId xmlns:a16="http://schemas.microsoft.com/office/drawing/2014/main" id="{28EAC9EF-A209-734F-11C8-87E59107B759}"/>
              </a:ext>
            </a:extLst>
          </p:cNvPr>
          <p:cNvSpPr>
            <a:spLocks noGrp="1"/>
          </p:cNvSpPr>
          <p:nvPr>
            <p:ph type="body" sz="quarter" idx="12" hasCustomPrompt="1"/>
          </p:nvPr>
        </p:nvSpPr>
        <p:spPr>
          <a:xfrm>
            <a:off x="1563990" y="3012104"/>
            <a:ext cx="2398172" cy="833791"/>
          </a:xfrm>
          <a:prstGeom prst="rect">
            <a:avLst/>
          </a:prstGeom>
        </p:spPr>
        <p:txBody>
          <a:bodyPr anchor="b"/>
          <a:lstStyle>
            <a:lvl1pPr marL="0" indent="0" algn="ctr">
              <a:buNone/>
              <a:defRPr sz="8000" b="0" i="0" baseline="0">
                <a:solidFill>
                  <a:schemeClr val="bg1"/>
                </a:solidFill>
                <a:latin typeface="DM Sans" pitchFamily="2" charset="77"/>
              </a:defRPr>
            </a:lvl1pPr>
          </a:lstStyle>
          <a:p>
            <a:pPr lvl="0"/>
            <a:r>
              <a:rPr lang="en-US" dirty="0"/>
              <a:t>XX%</a:t>
            </a:r>
            <a:endParaRPr lang="en-AU" dirty="0"/>
          </a:p>
        </p:txBody>
      </p:sp>
      <p:sp>
        <p:nvSpPr>
          <p:cNvPr id="14" name="Text Placeholder 11">
            <a:extLst>
              <a:ext uri="{FF2B5EF4-FFF2-40B4-BE49-F238E27FC236}">
                <a16:creationId xmlns:a16="http://schemas.microsoft.com/office/drawing/2014/main" id="{F2F2B5BF-E3F2-DA96-498F-818AF9C0A450}"/>
              </a:ext>
            </a:extLst>
          </p:cNvPr>
          <p:cNvSpPr>
            <a:spLocks noGrp="1"/>
          </p:cNvSpPr>
          <p:nvPr>
            <p:ph type="body" sz="quarter" idx="19" hasCustomPrompt="1"/>
          </p:nvPr>
        </p:nvSpPr>
        <p:spPr>
          <a:xfrm>
            <a:off x="1563990" y="3708750"/>
            <a:ext cx="2430490" cy="1134427"/>
          </a:xfrm>
          <a:prstGeom prst="rect">
            <a:avLst/>
          </a:prstGeom>
        </p:spPr>
        <p:txBody>
          <a:bodyPr/>
          <a:lstStyle>
            <a:lvl1pPr marL="0" indent="0">
              <a:lnSpc>
                <a:spcPct val="130000"/>
              </a:lnSpc>
              <a:spcBef>
                <a:spcPts val="0"/>
              </a:spcBef>
              <a:buClr>
                <a:schemeClr val="bg1"/>
              </a:buClr>
              <a:buNone/>
              <a:defRPr sz="1600">
                <a:solidFill>
                  <a:schemeClr val="bg1"/>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6" name="Text Placeholder 11">
            <a:extLst>
              <a:ext uri="{FF2B5EF4-FFF2-40B4-BE49-F238E27FC236}">
                <a16:creationId xmlns:a16="http://schemas.microsoft.com/office/drawing/2014/main" id="{9D457955-45AC-FF8C-6547-6D54135D6BEB}"/>
              </a:ext>
            </a:extLst>
          </p:cNvPr>
          <p:cNvSpPr>
            <a:spLocks noGrp="1"/>
          </p:cNvSpPr>
          <p:nvPr>
            <p:ph type="body" sz="quarter" idx="22" hasCustomPrompt="1"/>
          </p:nvPr>
        </p:nvSpPr>
        <p:spPr>
          <a:xfrm>
            <a:off x="8599619" y="5035406"/>
            <a:ext cx="3134238" cy="1395471"/>
          </a:xfrm>
          <a:prstGeom prst="rect">
            <a:avLst/>
          </a:prstGeom>
        </p:spPr>
        <p:txBody>
          <a:bodyPr/>
          <a:lstStyle>
            <a:lvl1pPr marL="0" indent="0">
              <a:buClr>
                <a:schemeClr val="bg1"/>
              </a:buClr>
              <a:buNone/>
              <a:defRPr sz="1200">
                <a:solidFill>
                  <a:schemeClr val="bg2">
                    <a:lumMod val="10000"/>
                  </a:schemeClr>
                </a:solidFill>
                <a:latin typeface="DM Sans"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88AF47E7-14BE-0451-398B-86194D42D31D}"/>
              </a:ext>
            </a:extLst>
          </p:cNvPr>
          <p:cNvSpPr>
            <a:spLocks noGrp="1"/>
          </p:cNvSpPr>
          <p:nvPr>
            <p:ph type="body" sz="quarter" idx="23"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pitchFamily="2" charset="77"/>
              </a:defRPr>
            </a:lvl1pPr>
          </a:lstStyle>
          <a:p>
            <a:pPr lvl="0"/>
            <a:r>
              <a:rPr lang="en-US" dirty="0"/>
              <a:t>Footer</a:t>
            </a:r>
            <a:endParaRPr lang="en-AU" dirty="0"/>
          </a:p>
        </p:txBody>
      </p:sp>
    </p:spTree>
    <p:extLst>
      <p:ext uri="{BB962C8B-B14F-4D97-AF65-F5344CB8AC3E}">
        <p14:creationId xmlns:p14="http://schemas.microsoft.com/office/powerpoint/2010/main" val="328103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2FA7C0-06C4-B84F-3FC8-C97BAC14DC3F}"/>
              </a:ext>
            </a:extLst>
          </p:cNvPr>
          <p:cNvSpPr>
            <a:spLocks noGrp="1"/>
          </p:cNvSpPr>
          <p:nvPr>
            <p:ph type="title" hasCustomPrompt="1"/>
          </p:nvPr>
        </p:nvSpPr>
        <p:spPr>
          <a:xfrm>
            <a:off x="307975" y="291066"/>
            <a:ext cx="761072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3675DA06-888B-C7DD-8301-92733ED61CDC}"/>
              </a:ext>
            </a:extLst>
          </p:cNvPr>
          <p:cNvSpPr>
            <a:spLocks noGrp="1"/>
          </p:cNvSpPr>
          <p:nvPr>
            <p:ph type="body" sz="quarter" idx="12" hasCustomPrompt="1"/>
          </p:nvPr>
        </p:nvSpPr>
        <p:spPr>
          <a:xfrm>
            <a:off x="8705089" y="1708821"/>
            <a:ext cx="2398172"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1" name="Text Placeholder 11">
            <a:extLst>
              <a:ext uri="{FF2B5EF4-FFF2-40B4-BE49-F238E27FC236}">
                <a16:creationId xmlns:a16="http://schemas.microsoft.com/office/drawing/2014/main" id="{8F7531AC-D68B-8258-4A9E-35AAFDB2D746}"/>
              </a:ext>
            </a:extLst>
          </p:cNvPr>
          <p:cNvSpPr>
            <a:spLocks noGrp="1"/>
          </p:cNvSpPr>
          <p:nvPr>
            <p:ph type="body" sz="quarter" idx="19" hasCustomPrompt="1"/>
          </p:nvPr>
        </p:nvSpPr>
        <p:spPr>
          <a:xfrm>
            <a:off x="8672771" y="2468309"/>
            <a:ext cx="2430490"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2" name="Text Placeholder 11">
            <a:extLst>
              <a:ext uri="{FF2B5EF4-FFF2-40B4-BE49-F238E27FC236}">
                <a16:creationId xmlns:a16="http://schemas.microsoft.com/office/drawing/2014/main" id="{1B81B08C-29E8-A8F7-F699-A91EC9E549A0}"/>
              </a:ext>
            </a:extLst>
          </p:cNvPr>
          <p:cNvSpPr>
            <a:spLocks noGrp="1"/>
          </p:cNvSpPr>
          <p:nvPr>
            <p:ph type="body" sz="quarter" idx="20" hasCustomPrompt="1"/>
          </p:nvPr>
        </p:nvSpPr>
        <p:spPr>
          <a:xfrm>
            <a:off x="8672771" y="4946188"/>
            <a:ext cx="2430490" cy="1134427"/>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5">
            <a:extLst>
              <a:ext uri="{FF2B5EF4-FFF2-40B4-BE49-F238E27FC236}">
                <a16:creationId xmlns:a16="http://schemas.microsoft.com/office/drawing/2014/main" id="{DBEEA9DE-E0AC-0917-01D3-E733D4C8EDBC}"/>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4" name="Oval 13">
            <a:extLst>
              <a:ext uri="{FF2B5EF4-FFF2-40B4-BE49-F238E27FC236}">
                <a16:creationId xmlns:a16="http://schemas.microsoft.com/office/drawing/2014/main" id="{D97CA12F-BD46-0D07-0759-B18B990ACA4D}"/>
              </a:ext>
            </a:extLst>
          </p:cNvPr>
          <p:cNvSpPr/>
          <p:nvPr userDrawn="1"/>
        </p:nvSpPr>
        <p:spPr>
          <a:xfrm>
            <a:off x="6133578" y="2453104"/>
            <a:ext cx="2052000" cy="2052000"/>
          </a:xfrm>
          <a:prstGeom prst="ellipse">
            <a:avLst/>
          </a:prstGeom>
          <a:solidFill>
            <a:srgbClr val="027F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15" name="Text Placeholder 5">
            <a:extLst>
              <a:ext uri="{FF2B5EF4-FFF2-40B4-BE49-F238E27FC236}">
                <a16:creationId xmlns:a16="http://schemas.microsoft.com/office/drawing/2014/main" id="{8C0D6EAA-32BE-1C1F-BDF9-49984D89AEFA}"/>
              </a:ext>
            </a:extLst>
          </p:cNvPr>
          <p:cNvSpPr>
            <a:spLocks noGrp="1"/>
          </p:cNvSpPr>
          <p:nvPr>
            <p:ph type="body" sz="quarter" idx="22" hasCustomPrompt="1"/>
          </p:nvPr>
        </p:nvSpPr>
        <p:spPr>
          <a:xfrm>
            <a:off x="6396847" y="2850428"/>
            <a:ext cx="1752155"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6" name="Text Placeholder 11">
            <a:extLst>
              <a:ext uri="{FF2B5EF4-FFF2-40B4-BE49-F238E27FC236}">
                <a16:creationId xmlns:a16="http://schemas.microsoft.com/office/drawing/2014/main" id="{20E7C0AB-66A3-4DB0-2CAF-DD95F722468B}"/>
              </a:ext>
            </a:extLst>
          </p:cNvPr>
          <p:cNvSpPr>
            <a:spLocks noGrp="1"/>
          </p:cNvSpPr>
          <p:nvPr>
            <p:ph type="body" sz="quarter" idx="23" hasCustomPrompt="1"/>
          </p:nvPr>
        </p:nvSpPr>
        <p:spPr>
          <a:xfrm>
            <a:off x="6401105" y="3463612"/>
            <a:ext cx="1517599" cy="698313"/>
          </a:xfrm>
          <a:prstGeom prst="rect">
            <a:avLst/>
          </a:prstGeom>
        </p:spPr>
        <p:txBody>
          <a:bodyPr/>
          <a:lstStyle>
            <a:lvl1pPr marL="0" indent="0">
              <a:lnSpc>
                <a:spcPct val="130000"/>
              </a:lnSpc>
              <a:spcBef>
                <a:spcPts val="0"/>
              </a:spcBef>
              <a:buClr>
                <a:schemeClr val="bg1"/>
              </a:buClr>
              <a:buNone/>
              <a:defRPr sz="10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05DE3050-5875-9C42-048A-24431367235C}"/>
              </a:ext>
            </a:extLst>
          </p:cNvPr>
          <p:cNvSpPr>
            <a:spLocks noGrp="1"/>
          </p:cNvSpPr>
          <p:nvPr>
            <p:ph type="body" sz="quarter" idx="24"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619441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2FA7C0-06C4-B84F-3FC8-C97BAC14DC3F}"/>
              </a:ext>
            </a:extLst>
          </p:cNvPr>
          <p:cNvSpPr>
            <a:spLocks noGrp="1"/>
          </p:cNvSpPr>
          <p:nvPr>
            <p:ph type="title" hasCustomPrompt="1"/>
          </p:nvPr>
        </p:nvSpPr>
        <p:spPr>
          <a:xfrm>
            <a:off x="307975" y="291066"/>
            <a:ext cx="761072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3675DA06-888B-C7DD-8301-92733ED61CDC}"/>
              </a:ext>
            </a:extLst>
          </p:cNvPr>
          <p:cNvSpPr>
            <a:spLocks noGrp="1"/>
          </p:cNvSpPr>
          <p:nvPr>
            <p:ph type="body" sz="quarter" idx="12" hasCustomPrompt="1"/>
          </p:nvPr>
        </p:nvSpPr>
        <p:spPr>
          <a:xfrm>
            <a:off x="8705089" y="1708821"/>
            <a:ext cx="2398172" cy="833791"/>
          </a:xfrm>
          <a:prstGeom prst="rect">
            <a:avLst/>
          </a:prstGeom>
        </p:spPr>
        <p:txBody>
          <a:bodyPr anchor="b"/>
          <a:lstStyle>
            <a:lvl1pPr marL="0" indent="0">
              <a:lnSpc>
                <a:spcPct val="13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1" name="Text Placeholder 11">
            <a:extLst>
              <a:ext uri="{FF2B5EF4-FFF2-40B4-BE49-F238E27FC236}">
                <a16:creationId xmlns:a16="http://schemas.microsoft.com/office/drawing/2014/main" id="{8F7531AC-D68B-8258-4A9E-35AAFDB2D746}"/>
              </a:ext>
            </a:extLst>
          </p:cNvPr>
          <p:cNvSpPr>
            <a:spLocks noGrp="1"/>
          </p:cNvSpPr>
          <p:nvPr>
            <p:ph type="body" sz="quarter" idx="19" hasCustomPrompt="1"/>
          </p:nvPr>
        </p:nvSpPr>
        <p:spPr>
          <a:xfrm>
            <a:off x="8672771" y="2468309"/>
            <a:ext cx="2430490"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2" name="Text Placeholder 11">
            <a:extLst>
              <a:ext uri="{FF2B5EF4-FFF2-40B4-BE49-F238E27FC236}">
                <a16:creationId xmlns:a16="http://schemas.microsoft.com/office/drawing/2014/main" id="{1B81B08C-29E8-A8F7-F699-A91EC9E549A0}"/>
              </a:ext>
            </a:extLst>
          </p:cNvPr>
          <p:cNvSpPr>
            <a:spLocks noGrp="1"/>
          </p:cNvSpPr>
          <p:nvPr>
            <p:ph type="body" sz="quarter" idx="20" hasCustomPrompt="1"/>
          </p:nvPr>
        </p:nvSpPr>
        <p:spPr>
          <a:xfrm>
            <a:off x="8672771" y="4946188"/>
            <a:ext cx="2430490" cy="1134427"/>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5">
            <a:extLst>
              <a:ext uri="{FF2B5EF4-FFF2-40B4-BE49-F238E27FC236}">
                <a16:creationId xmlns:a16="http://schemas.microsoft.com/office/drawing/2014/main" id="{DBEEA9DE-E0AC-0917-01D3-E733D4C8EDBC}"/>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4" name="Oval 13">
            <a:extLst>
              <a:ext uri="{FF2B5EF4-FFF2-40B4-BE49-F238E27FC236}">
                <a16:creationId xmlns:a16="http://schemas.microsoft.com/office/drawing/2014/main" id="{D97CA12F-BD46-0D07-0759-B18B990ACA4D}"/>
              </a:ext>
            </a:extLst>
          </p:cNvPr>
          <p:cNvSpPr/>
          <p:nvPr userDrawn="1"/>
        </p:nvSpPr>
        <p:spPr>
          <a:xfrm>
            <a:off x="6133578" y="2453104"/>
            <a:ext cx="2052000" cy="2052000"/>
          </a:xfrm>
          <a:prstGeom prst="ellipse">
            <a:avLst/>
          </a:prstGeom>
          <a:solidFill>
            <a:srgbClr val="2B3A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15" name="Text Placeholder 5">
            <a:extLst>
              <a:ext uri="{FF2B5EF4-FFF2-40B4-BE49-F238E27FC236}">
                <a16:creationId xmlns:a16="http://schemas.microsoft.com/office/drawing/2014/main" id="{8C0D6EAA-32BE-1C1F-BDF9-49984D89AEFA}"/>
              </a:ext>
            </a:extLst>
          </p:cNvPr>
          <p:cNvSpPr>
            <a:spLocks noGrp="1"/>
          </p:cNvSpPr>
          <p:nvPr>
            <p:ph type="body" sz="quarter" idx="22" hasCustomPrompt="1"/>
          </p:nvPr>
        </p:nvSpPr>
        <p:spPr>
          <a:xfrm>
            <a:off x="6396847" y="2850428"/>
            <a:ext cx="1752155" cy="833791"/>
          </a:xfrm>
          <a:prstGeom prst="rect">
            <a:avLst/>
          </a:prstGeom>
        </p:spPr>
        <p:txBody>
          <a:bodyPr anchor="b"/>
          <a:lstStyle>
            <a:lvl1pPr marL="0" indent="0">
              <a:lnSpc>
                <a:spcPct val="130000"/>
              </a:lnSpc>
              <a:spcBef>
                <a:spcPts val="0"/>
              </a:spcBef>
              <a:buNone/>
              <a:defRPr sz="5500" b="0" i="0" baseline="0">
                <a:solidFill>
                  <a:schemeClr val="bg1"/>
                </a:solidFill>
                <a:latin typeface="DM Sans 14pt Medium" pitchFamily="2" charset="77"/>
              </a:defRPr>
            </a:lvl1pPr>
          </a:lstStyle>
          <a:p>
            <a:pPr lvl="0"/>
            <a:r>
              <a:rPr lang="en-US" dirty="0"/>
              <a:t>XX%</a:t>
            </a:r>
            <a:endParaRPr lang="en-AU" dirty="0"/>
          </a:p>
        </p:txBody>
      </p:sp>
      <p:sp>
        <p:nvSpPr>
          <p:cNvPr id="16" name="Text Placeholder 11">
            <a:extLst>
              <a:ext uri="{FF2B5EF4-FFF2-40B4-BE49-F238E27FC236}">
                <a16:creationId xmlns:a16="http://schemas.microsoft.com/office/drawing/2014/main" id="{20E7C0AB-66A3-4DB0-2CAF-DD95F722468B}"/>
              </a:ext>
            </a:extLst>
          </p:cNvPr>
          <p:cNvSpPr>
            <a:spLocks noGrp="1"/>
          </p:cNvSpPr>
          <p:nvPr>
            <p:ph type="body" sz="quarter" idx="23" hasCustomPrompt="1"/>
          </p:nvPr>
        </p:nvSpPr>
        <p:spPr>
          <a:xfrm>
            <a:off x="6401105" y="3463612"/>
            <a:ext cx="1517599" cy="698313"/>
          </a:xfrm>
          <a:prstGeom prst="rect">
            <a:avLst/>
          </a:prstGeom>
        </p:spPr>
        <p:txBody>
          <a:bodyPr/>
          <a:lstStyle>
            <a:lvl1pPr marL="0" indent="0">
              <a:lnSpc>
                <a:spcPct val="130000"/>
              </a:lnSpc>
              <a:spcBef>
                <a:spcPts val="0"/>
              </a:spcBef>
              <a:buClr>
                <a:schemeClr val="bg1"/>
              </a:buClr>
              <a:buNone/>
              <a:defRPr sz="10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7" name="Text Placeholder 5">
            <a:extLst>
              <a:ext uri="{FF2B5EF4-FFF2-40B4-BE49-F238E27FC236}">
                <a16:creationId xmlns:a16="http://schemas.microsoft.com/office/drawing/2014/main" id="{05DE3050-5875-9C42-048A-24431367235C}"/>
              </a:ext>
            </a:extLst>
          </p:cNvPr>
          <p:cNvSpPr>
            <a:spLocks noGrp="1"/>
          </p:cNvSpPr>
          <p:nvPr>
            <p:ph type="body" sz="quarter" idx="24"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1525419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7B4FB01-F056-7B89-0831-1B5BDC1693E4}"/>
              </a:ext>
            </a:extLst>
          </p:cNvPr>
          <p:cNvSpPr>
            <a:spLocks noGrp="1"/>
          </p:cNvSpPr>
          <p:nvPr>
            <p:ph type="title" hasCustomPrompt="1"/>
          </p:nvPr>
        </p:nvSpPr>
        <p:spPr>
          <a:xfrm>
            <a:off x="307975" y="291066"/>
            <a:ext cx="642200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089FC29F-134A-D460-7644-DD3B81B56CAF}"/>
              </a:ext>
            </a:extLst>
          </p:cNvPr>
          <p:cNvSpPr>
            <a:spLocks noGrp="1"/>
          </p:cNvSpPr>
          <p:nvPr>
            <p:ph type="body" sz="quarter" idx="21" hasCustomPrompt="1"/>
          </p:nvPr>
        </p:nvSpPr>
        <p:spPr>
          <a:xfrm>
            <a:off x="307975" y="1242909"/>
            <a:ext cx="6422009"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1" name="Text Placeholder 5">
            <a:extLst>
              <a:ext uri="{FF2B5EF4-FFF2-40B4-BE49-F238E27FC236}">
                <a16:creationId xmlns:a16="http://schemas.microsoft.com/office/drawing/2014/main" id="{1D93125F-6CCB-2713-8308-FD32C577140F}"/>
              </a:ext>
            </a:extLst>
          </p:cNvPr>
          <p:cNvSpPr>
            <a:spLocks noGrp="1"/>
          </p:cNvSpPr>
          <p:nvPr>
            <p:ph type="body" sz="quarter" idx="12" hasCustomPrompt="1"/>
          </p:nvPr>
        </p:nvSpPr>
        <p:spPr>
          <a:xfrm>
            <a:off x="7991857" y="1254774"/>
            <a:ext cx="3101920" cy="833791"/>
          </a:xfrm>
          <a:prstGeom prst="rect">
            <a:avLst/>
          </a:prstGeom>
        </p:spPr>
        <p:txBody>
          <a:bodyPr anchor="b"/>
          <a:lstStyle>
            <a:lvl1pPr marL="0" indent="0">
              <a:lnSpc>
                <a:spcPct val="11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2" name="Text Placeholder 11">
            <a:extLst>
              <a:ext uri="{FF2B5EF4-FFF2-40B4-BE49-F238E27FC236}">
                <a16:creationId xmlns:a16="http://schemas.microsoft.com/office/drawing/2014/main" id="{CD25A234-1B9D-DA71-4061-9BCA75AD3DB8}"/>
              </a:ext>
            </a:extLst>
          </p:cNvPr>
          <p:cNvSpPr>
            <a:spLocks noGrp="1"/>
          </p:cNvSpPr>
          <p:nvPr>
            <p:ph type="body" sz="quarter" idx="19" hasCustomPrompt="1"/>
          </p:nvPr>
        </p:nvSpPr>
        <p:spPr>
          <a:xfrm>
            <a:off x="7959539" y="2014262"/>
            <a:ext cx="3143722"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11">
            <a:extLst>
              <a:ext uri="{FF2B5EF4-FFF2-40B4-BE49-F238E27FC236}">
                <a16:creationId xmlns:a16="http://schemas.microsoft.com/office/drawing/2014/main" id="{400BAF6F-2FDF-B837-1517-E96F7163EA35}"/>
              </a:ext>
            </a:extLst>
          </p:cNvPr>
          <p:cNvSpPr>
            <a:spLocks noGrp="1"/>
          </p:cNvSpPr>
          <p:nvPr>
            <p:ph type="body" sz="quarter" idx="20" hasCustomPrompt="1"/>
          </p:nvPr>
        </p:nvSpPr>
        <p:spPr>
          <a:xfrm>
            <a:off x="7959539" y="4529841"/>
            <a:ext cx="3134238" cy="1395471"/>
          </a:xfrm>
          <a:prstGeom prst="rect">
            <a:avLst/>
          </a:prstGeom>
        </p:spPr>
        <p:txBody>
          <a:bodyPr/>
          <a:lstStyle>
            <a:lvl1pPr marL="0" indent="0">
              <a:lnSpc>
                <a:spcPct val="130000"/>
              </a:lnSpc>
              <a:spcBef>
                <a:spcPts val="0"/>
              </a:spcBef>
              <a:buClr>
                <a:schemeClr val="bg1"/>
              </a:buClr>
              <a:buNone/>
              <a:defRPr sz="1200" b="0" i="0">
                <a:solidFill>
                  <a:schemeClr val="bg2">
                    <a:lumMod val="10000"/>
                  </a:schemeClr>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4" name="Text Placeholder 5">
            <a:extLst>
              <a:ext uri="{FF2B5EF4-FFF2-40B4-BE49-F238E27FC236}">
                <a16:creationId xmlns:a16="http://schemas.microsoft.com/office/drawing/2014/main" id="{177A3749-49A8-592B-A073-2FCE73AEF71F}"/>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2649476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7B4FB01-F056-7B89-0831-1B5BDC1693E4}"/>
              </a:ext>
            </a:extLst>
          </p:cNvPr>
          <p:cNvSpPr>
            <a:spLocks noGrp="1"/>
          </p:cNvSpPr>
          <p:nvPr>
            <p:ph type="title" hasCustomPrompt="1"/>
          </p:nvPr>
        </p:nvSpPr>
        <p:spPr>
          <a:xfrm>
            <a:off x="307975" y="291066"/>
            <a:ext cx="6422009"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0" name="Text Placeholder 5">
            <a:extLst>
              <a:ext uri="{FF2B5EF4-FFF2-40B4-BE49-F238E27FC236}">
                <a16:creationId xmlns:a16="http://schemas.microsoft.com/office/drawing/2014/main" id="{089FC29F-134A-D460-7644-DD3B81B56CAF}"/>
              </a:ext>
            </a:extLst>
          </p:cNvPr>
          <p:cNvSpPr>
            <a:spLocks noGrp="1"/>
          </p:cNvSpPr>
          <p:nvPr>
            <p:ph type="body" sz="quarter" idx="21" hasCustomPrompt="1"/>
          </p:nvPr>
        </p:nvSpPr>
        <p:spPr>
          <a:xfrm>
            <a:off x="307975" y="1242909"/>
            <a:ext cx="6422009"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11" name="Text Placeholder 5">
            <a:extLst>
              <a:ext uri="{FF2B5EF4-FFF2-40B4-BE49-F238E27FC236}">
                <a16:creationId xmlns:a16="http://schemas.microsoft.com/office/drawing/2014/main" id="{1D93125F-6CCB-2713-8308-FD32C577140F}"/>
              </a:ext>
            </a:extLst>
          </p:cNvPr>
          <p:cNvSpPr>
            <a:spLocks noGrp="1"/>
          </p:cNvSpPr>
          <p:nvPr>
            <p:ph type="body" sz="quarter" idx="12" hasCustomPrompt="1"/>
          </p:nvPr>
        </p:nvSpPr>
        <p:spPr>
          <a:xfrm>
            <a:off x="7991857" y="1254774"/>
            <a:ext cx="3101920" cy="833791"/>
          </a:xfrm>
          <a:prstGeom prst="rect">
            <a:avLst/>
          </a:prstGeom>
        </p:spPr>
        <p:txBody>
          <a:bodyPr anchor="b"/>
          <a:lstStyle>
            <a:lvl1pPr marL="0" indent="0">
              <a:lnSpc>
                <a:spcPct val="110000"/>
              </a:lnSpc>
              <a:spcBef>
                <a:spcPts val="0"/>
              </a:spcBef>
              <a:buNone/>
              <a:defRPr sz="6000" b="0" i="0" baseline="0">
                <a:solidFill>
                  <a:schemeClr val="bg1"/>
                </a:solidFill>
                <a:latin typeface="DM Sans 14pt Medium" pitchFamily="2" charset="77"/>
              </a:defRPr>
            </a:lvl1pPr>
          </a:lstStyle>
          <a:p>
            <a:pPr lvl="0"/>
            <a:r>
              <a:rPr lang="en-US" dirty="0"/>
              <a:t>XX%</a:t>
            </a:r>
            <a:endParaRPr lang="en-AU" dirty="0"/>
          </a:p>
        </p:txBody>
      </p:sp>
      <p:sp>
        <p:nvSpPr>
          <p:cNvPr id="12" name="Text Placeholder 11">
            <a:extLst>
              <a:ext uri="{FF2B5EF4-FFF2-40B4-BE49-F238E27FC236}">
                <a16:creationId xmlns:a16="http://schemas.microsoft.com/office/drawing/2014/main" id="{CD25A234-1B9D-DA71-4061-9BCA75AD3DB8}"/>
              </a:ext>
            </a:extLst>
          </p:cNvPr>
          <p:cNvSpPr>
            <a:spLocks noGrp="1"/>
          </p:cNvSpPr>
          <p:nvPr>
            <p:ph type="body" sz="quarter" idx="19" hasCustomPrompt="1"/>
          </p:nvPr>
        </p:nvSpPr>
        <p:spPr>
          <a:xfrm>
            <a:off x="7959539" y="2014262"/>
            <a:ext cx="3143722" cy="1134427"/>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3" name="Text Placeholder 11">
            <a:extLst>
              <a:ext uri="{FF2B5EF4-FFF2-40B4-BE49-F238E27FC236}">
                <a16:creationId xmlns:a16="http://schemas.microsoft.com/office/drawing/2014/main" id="{400BAF6F-2FDF-B837-1517-E96F7163EA35}"/>
              </a:ext>
            </a:extLst>
          </p:cNvPr>
          <p:cNvSpPr>
            <a:spLocks noGrp="1"/>
          </p:cNvSpPr>
          <p:nvPr>
            <p:ph type="body" sz="quarter" idx="20" hasCustomPrompt="1"/>
          </p:nvPr>
        </p:nvSpPr>
        <p:spPr>
          <a:xfrm>
            <a:off x="7959539" y="4529841"/>
            <a:ext cx="3134238" cy="1395471"/>
          </a:xfrm>
          <a:prstGeom prst="rect">
            <a:avLst/>
          </a:prstGeom>
        </p:spPr>
        <p:txBody>
          <a:bodyPr/>
          <a:lstStyle>
            <a:lvl1pPr marL="0" indent="0">
              <a:lnSpc>
                <a:spcPct val="130000"/>
              </a:lnSpc>
              <a:spcBef>
                <a:spcPts val="0"/>
              </a:spcBef>
              <a:buClr>
                <a:schemeClr val="bg1"/>
              </a:buClr>
              <a:buNone/>
              <a:defRPr sz="1200" b="0" i="0">
                <a:solidFill>
                  <a:schemeClr val="bg1"/>
                </a:solidFill>
                <a:latin typeface="DM Sans 14pt Medium" pitchFamily="2" charset="77"/>
              </a:defRPr>
            </a:lvl1pPr>
            <a:lvl2pPr marL="357187" indent="0">
              <a:buClr>
                <a:schemeClr val="bg1"/>
              </a:buClr>
              <a:buNone/>
              <a:defRPr sz="1200">
                <a:solidFill>
                  <a:schemeClr val="bg1"/>
                </a:solidFill>
                <a:latin typeface="DM Sans" pitchFamily="2" charset="77"/>
              </a:defRPr>
            </a:lvl2pPr>
            <a:lvl3pPr marL="622300" indent="0">
              <a:buClr>
                <a:schemeClr val="bg1"/>
              </a:buClr>
              <a:buNone/>
              <a:defRPr sz="1200">
                <a:solidFill>
                  <a:schemeClr val="bg1"/>
                </a:solidFill>
                <a:latin typeface="DM Sans" pitchFamily="2" charset="77"/>
              </a:defRPr>
            </a:lvl3pPr>
          </a:lstStyle>
          <a:p>
            <a:pPr lvl="0"/>
            <a:r>
              <a:rPr lang="en-US" dirty="0"/>
              <a:t>Click to edit text</a:t>
            </a:r>
          </a:p>
        </p:txBody>
      </p:sp>
      <p:sp>
        <p:nvSpPr>
          <p:cNvPr id="14" name="Text Placeholder 5">
            <a:extLst>
              <a:ext uri="{FF2B5EF4-FFF2-40B4-BE49-F238E27FC236}">
                <a16:creationId xmlns:a16="http://schemas.microsoft.com/office/drawing/2014/main" id="{177A3749-49A8-592B-A073-2FCE73AEF71F}"/>
              </a:ext>
            </a:extLst>
          </p:cNvPr>
          <p:cNvSpPr>
            <a:spLocks noGrp="1"/>
          </p:cNvSpPr>
          <p:nvPr>
            <p:ph type="body" sz="quarter" idx="22" hasCustomPrompt="1"/>
          </p:nvPr>
        </p:nvSpPr>
        <p:spPr>
          <a:xfrm>
            <a:off x="1114817" y="6474601"/>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spTree>
    <p:extLst>
      <p:ext uri="{BB962C8B-B14F-4D97-AF65-F5344CB8AC3E}">
        <p14:creationId xmlns:p14="http://schemas.microsoft.com/office/powerpoint/2010/main" val="1672427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728D1F4-6153-DDEB-E710-C31DB712BDD1}"/>
              </a:ext>
            </a:extLst>
          </p:cNvPr>
          <p:cNvSpPr/>
          <p:nvPr userDrawn="1"/>
        </p:nvSpPr>
        <p:spPr>
          <a:xfrm>
            <a:off x="0" y="0"/>
            <a:ext cx="3399437"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788229" y="291066"/>
            <a:ext cx="8091034" cy="833791"/>
          </a:xfrm>
        </p:spPr>
        <p:txBody>
          <a:bodyPr>
            <a:normAutofit/>
          </a:bodyPr>
          <a:lstStyle>
            <a:lvl1pPr>
              <a:defRPr sz="3200" b="0" i="0">
                <a:solidFill>
                  <a:srgbClr val="980000"/>
                </a:solidFill>
                <a:latin typeface="DM Sans 14pt Medium" pitchFamily="2" charset="77"/>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788229" y="1242909"/>
            <a:ext cx="6368142" cy="465912"/>
          </a:xfrm>
          <a:prstGeom prst="rect">
            <a:avLst/>
          </a:prstGeom>
        </p:spPr>
        <p:txBody>
          <a:bodyPr/>
          <a:lstStyle>
            <a:lvl1pPr marL="0" indent="0">
              <a:lnSpc>
                <a:spcPct val="110000"/>
              </a:lnSpc>
              <a:spcBef>
                <a:spcPts val="0"/>
              </a:spcBef>
              <a:buNone/>
              <a:defRPr sz="1800" b="0" i="0">
                <a:latin typeface="DM Sans 14pt Medium" pitchFamily="2" charset="77"/>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4494833" y="6490930"/>
            <a:ext cx="7308375" cy="184666"/>
          </a:xfrm>
          <a:prstGeom prst="rect">
            <a:avLst/>
          </a:prstGeom>
        </p:spPr>
        <p:txBody>
          <a:bodyPr/>
          <a:lstStyle>
            <a:lvl1pPr marL="0" indent="0">
              <a:lnSpc>
                <a:spcPct val="110000"/>
              </a:lnSpc>
              <a:spcBef>
                <a:spcPts val="0"/>
              </a:spcBef>
              <a:buNone/>
              <a:defRPr sz="600" b="0" i="0">
                <a:latin typeface="DM Sans 14pt Medium" pitchFamily="2" charset="77"/>
              </a:defRPr>
            </a:lvl1pPr>
          </a:lstStyle>
          <a:p>
            <a:pPr lvl="0"/>
            <a:r>
              <a:rPr lang="en-US" dirty="0"/>
              <a:t>Footer</a:t>
            </a:r>
            <a:endParaRPr lang="en-AU" dirty="0"/>
          </a:p>
        </p:txBody>
      </p:sp>
      <p:pic>
        <p:nvPicPr>
          <p:cNvPr id="4" name="Picture 3" descr="A black background with a black square&#10;&#10;Description automatically generated with medium confidence">
            <a:extLst>
              <a:ext uri="{FF2B5EF4-FFF2-40B4-BE49-F238E27FC236}">
                <a16:creationId xmlns:a16="http://schemas.microsoft.com/office/drawing/2014/main" id="{B2433E13-D14E-DA5F-C23A-8EEA81D2AE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05177" y="6257221"/>
            <a:ext cx="782355" cy="369388"/>
          </a:xfrm>
          <a:prstGeom prst="rect">
            <a:avLst/>
          </a:prstGeom>
        </p:spPr>
      </p:pic>
      <p:sp>
        <p:nvSpPr>
          <p:cNvPr id="5" name="Picture Placeholder 2">
            <a:extLst>
              <a:ext uri="{FF2B5EF4-FFF2-40B4-BE49-F238E27FC236}">
                <a16:creationId xmlns:a16="http://schemas.microsoft.com/office/drawing/2014/main" id="{C5CD4C6B-D54F-D7D4-F444-28D0D64080D1}"/>
              </a:ext>
            </a:extLst>
          </p:cNvPr>
          <p:cNvSpPr>
            <a:spLocks noGrp="1"/>
          </p:cNvSpPr>
          <p:nvPr>
            <p:ph type="pic" idx="1"/>
          </p:nvPr>
        </p:nvSpPr>
        <p:spPr>
          <a:xfrm>
            <a:off x="0" y="0"/>
            <a:ext cx="3399437" cy="6858000"/>
          </a:xfrm>
          <a:prstGeom prst="rect">
            <a:avLst/>
          </a:prstGeom>
        </p:spPr>
        <p:txBody>
          <a:bodyPr/>
          <a:lstStyle>
            <a:lvl1pPr marL="0" indent="0">
              <a:buNone/>
              <a:defRPr sz="3200" b="0" i="0">
                <a:latin typeface="DM Sans 14pt Medium"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8" name="Text Placeholder 3">
            <a:extLst>
              <a:ext uri="{FF2B5EF4-FFF2-40B4-BE49-F238E27FC236}">
                <a16:creationId xmlns:a16="http://schemas.microsoft.com/office/drawing/2014/main" id="{2E5189BA-551C-831E-B7E1-277854AA7129}"/>
              </a:ext>
            </a:extLst>
          </p:cNvPr>
          <p:cNvSpPr>
            <a:spLocks noGrp="1"/>
          </p:cNvSpPr>
          <p:nvPr>
            <p:ph type="body" sz="half" idx="2"/>
          </p:nvPr>
        </p:nvSpPr>
        <p:spPr>
          <a:xfrm>
            <a:off x="3788229" y="1826873"/>
            <a:ext cx="6368142"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DM Sans 14pt Medium"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3896755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7308375" cy="465912"/>
          </a:xfrm>
          <a:prstGeom prst="rect">
            <a:avLst/>
          </a:prstGeom>
        </p:spPr>
        <p:txBody>
          <a:bodyPr/>
          <a:lstStyle>
            <a:lvl1pPr marL="0" indent="0">
              <a:lnSpc>
                <a:spcPct val="110000"/>
              </a:lnSpc>
              <a:spcBef>
                <a:spcPts val="0"/>
              </a:spcBef>
              <a:buNone/>
              <a:defRPr sz="1800" b="0" i="0">
                <a:latin typeface="+mj-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
        <p:nvSpPr>
          <p:cNvPr id="3" name="Text Placeholder 3">
            <a:extLst>
              <a:ext uri="{FF2B5EF4-FFF2-40B4-BE49-F238E27FC236}">
                <a16:creationId xmlns:a16="http://schemas.microsoft.com/office/drawing/2014/main" id="{C05A28D2-32E5-A1E8-866C-416FE3E4FA3C}"/>
              </a:ext>
            </a:extLst>
          </p:cNvPr>
          <p:cNvSpPr>
            <a:spLocks noGrp="1"/>
          </p:cNvSpPr>
          <p:nvPr>
            <p:ph type="body" sz="half" idx="2"/>
          </p:nvPr>
        </p:nvSpPr>
        <p:spPr>
          <a:xfrm>
            <a:off x="307975" y="1893935"/>
            <a:ext cx="5488141"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a:extLst>
              <a:ext uri="{FF2B5EF4-FFF2-40B4-BE49-F238E27FC236}">
                <a16:creationId xmlns:a16="http://schemas.microsoft.com/office/drawing/2014/main" id="{7E1B91A7-69C8-DFB6-0897-4B6BE3810DA8}"/>
              </a:ext>
            </a:extLst>
          </p:cNvPr>
          <p:cNvSpPr>
            <a:spLocks noGrp="1"/>
          </p:cNvSpPr>
          <p:nvPr>
            <p:ph type="body" sz="half" idx="23"/>
          </p:nvPr>
        </p:nvSpPr>
        <p:spPr>
          <a:xfrm>
            <a:off x="6093619" y="1893935"/>
            <a:ext cx="5488141" cy="3811588"/>
          </a:xfrm>
          <a:prstGeom prst="rect">
            <a:avLst/>
          </a:prstGeom>
        </p:spPr>
        <p:txBody>
          <a:bodyPr/>
          <a:lstStyle>
            <a:lvl1pPr marL="285750" indent="-285750">
              <a:lnSpc>
                <a:spcPct val="110000"/>
              </a:lnSpc>
              <a:spcBef>
                <a:spcPts val="0"/>
              </a:spcBef>
              <a:spcAft>
                <a:spcPts val="1200"/>
              </a:spcAft>
              <a:buClr>
                <a:srgbClr val="00BDBB"/>
              </a:buClr>
              <a:buFont typeface="Arial" panose="020B0604020202020204" pitchFamily="34" charset="0"/>
              <a:buChar char="•"/>
              <a:defRPr sz="1600" b="0" i="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Tree>
    <p:extLst>
      <p:ext uri="{BB962C8B-B14F-4D97-AF65-F5344CB8AC3E}">
        <p14:creationId xmlns:p14="http://schemas.microsoft.com/office/powerpoint/2010/main" val="3143246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n-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
        <p:nvSpPr>
          <p:cNvPr id="5" name="Rounded Rectangle 4">
            <a:extLst>
              <a:ext uri="{FF2B5EF4-FFF2-40B4-BE49-F238E27FC236}">
                <a16:creationId xmlns:a16="http://schemas.microsoft.com/office/drawing/2014/main" id="{99B799EB-97C3-2444-F702-AB3686CE8BB0}"/>
              </a:ext>
            </a:extLst>
          </p:cNvPr>
          <p:cNvSpPr/>
          <p:nvPr userDrawn="1"/>
        </p:nvSpPr>
        <p:spPr>
          <a:xfrm>
            <a:off x="0" y="2035886"/>
            <a:ext cx="12192000" cy="3982066"/>
          </a:xfrm>
          <a:prstGeom prst="roundRect">
            <a:avLst>
              <a:gd name="adj" fmla="val 0"/>
            </a:avLst>
          </a:prstGeom>
          <a:solidFill>
            <a:srgbClr val="E6F8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DM Sans 14pt Medium" pitchFamily="2" charset="77"/>
            </a:endParaRPr>
          </a:p>
        </p:txBody>
      </p:sp>
    </p:spTree>
    <p:extLst>
      <p:ext uri="{BB962C8B-B14F-4D97-AF65-F5344CB8AC3E}">
        <p14:creationId xmlns:p14="http://schemas.microsoft.com/office/powerpoint/2010/main" val="2139246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Slide">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79C9BAE-F1AB-3821-AC88-D22BB35FD39D}"/>
              </a:ext>
            </a:extLst>
          </p:cNvPr>
          <p:cNvSpPr>
            <a:spLocks noGrp="1"/>
          </p:cNvSpPr>
          <p:nvPr>
            <p:ph type="title" hasCustomPrompt="1"/>
          </p:nvPr>
        </p:nvSpPr>
        <p:spPr>
          <a:xfrm>
            <a:off x="307975" y="291066"/>
            <a:ext cx="11571288" cy="833791"/>
          </a:xfrm>
        </p:spPr>
        <p:txBody>
          <a:bodyPr>
            <a:normAutofit/>
          </a:bodyPr>
          <a:lstStyle>
            <a:lvl1pPr>
              <a:defRPr sz="3200" b="0" i="0">
                <a:solidFill>
                  <a:srgbClr val="980000"/>
                </a:solidFill>
                <a:latin typeface="+mj-lt"/>
              </a:defRPr>
            </a:lvl1pPr>
          </a:lstStyle>
          <a:p>
            <a:r>
              <a:rPr lang="en-US" dirty="0"/>
              <a:t>Click to add slide title</a:t>
            </a:r>
            <a:endParaRPr lang="en-AU" dirty="0"/>
          </a:p>
        </p:txBody>
      </p:sp>
      <p:sp>
        <p:nvSpPr>
          <p:cNvPr id="11" name="Text Placeholder 5">
            <a:extLst>
              <a:ext uri="{FF2B5EF4-FFF2-40B4-BE49-F238E27FC236}">
                <a16:creationId xmlns:a16="http://schemas.microsoft.com/office/drawing/2014/main" id="{74C991B3-DB49-4DC0-908F-FFB54C5964F5}"/>
              </a:ext>
            </a:extLst>
          </p:cNvPr>
          <p:cNvSpPr>
            <a:spLocks noGrp="1"/>
          </p:cNvSpPr>
          <p:nvPr>
            <p:ph type="body" sz="quarter" idx="21" hasCustomPrompt="1"/>
          </p:nvPr>
        </p:nvSpPr>
        <p:spPr>
          <a:xfrm>
            <a:off x="307975" y="1242909"/>
            <a:ext cx="11571288" cy="465912"/>
          </a:xfrm>
          <a:prstGeom prst="rect">
            <a:avLst/>
          </a:prstGeom>
        </p:spPr>
        <p:txBody>
          <a:bodyPr/>
          <a:lstStyle>
            <a:lvl1pPr marL="0" indent="0">
              <a:lnSpc>
                <a:spcPct val="110000"/>
              </a:lnSpc>
              <a:spcBef>
                <a:spcPts val="0"/>
              </a:spcBef>
              <a:buNone/>
              <a:defRPr sz="1800" b="0" i="0">
                <a:latin typeface="+mn-lt"/>
              </a:defRPr>
            </a:lvl1pPr>
          </a:lstStyle>
          <a:p>
            <a:pPr lvl="0"/>
            <a:r>
              <a:rPr lang="en-US" dirty="0"/>
              <a:t>Click to add sub-title</a:t>
            </a:r>
            <a:endParaRPr lang="en-AU" dirty="0"/>
          </a:p>
        </p:txBody>
      </p:sp>
      <p:sp>
        <p:nvSpPr>
          <p:cNvPr id="2" name="Text Placeholder 5">
            <a:extLst>
              <a:ext uri="{FF2B5EF4-FFF2-40B4-BE49-F238E27FC236}">
                <a16:creationId xmlns:a16="http://schemas.microsoft.com/office/drawing/2014/main" id="{5B94A5B4-730E-467F-D600-C9A63094CB12}"/>
              </a:ext>
            </a:extLst>
          </p:cNvPr>
          <p:cNvSpPr>
            <a:spLocks noGrp="1"/>
          </p:cNvSpPr>
          <p:nvPr>
            <p:ph type="body" sz="quarter" idx="22" hasCustomPrompt="1"/>
          </p:nvPr>
        </p:nvSpPr>
        <p:spPr>
          <a:xfrm>
            <a:off x="1114817" y="6474601"/>
            <a:ext cx="7308375" cy="184666"/>
          </a:xfrm>
          <a:prstGeom prst="rect">
            <a:avLst/>
          </a:prstGeom>
        </p:spPr>
        <p:txBody>
          <a:bodyPr/>
          <a:lstStyle>
            <a:lvl1pPr>
              <a:defRPr lang="en-AU" sz="1100" b="0" i="1" dirty="0">
                <a:latin typeface="DM Sans" pitchFamily="2" charset="77"/>
              </a:defRPr>
            </a:lvl1pPr>
          </a:lstStyle>
          <a:p>
            <a:pPr marL="0" lvl="0" indent="0">
              <a:lnSpc>
                <a:spcPct val="110000"/>
              </a:lnSpc>
              <a:spcBef>
                <a:spcPts val="0"/>
              </a:spcBef>
              <a:buNone/>
            </a:pPr>
            <a:r>
              <a:rPr lang="en-US" dirty="0"/>
              <a:t>Footer</a:t>
            </a:r>
            <a:endParaRPr lang="en-AU" dirty="0"/>
          </a:p>
        </p:txBody>
      </p:sp>
    </p:spTree>
    <p:extLst>
      <p:ext uri="{BB962C8B-B14F-4D97-AF65-F5344CB8AC3E}">
        <p14:creationId xmlns:p14="http://schemas.microsoft.com/office/powerpoint/2010/main" val="3156241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003E3D"/>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pic>
        <p:nvPicPr>
          <p:cNvPr id="10" name="Picture 9" descr="A black background with white text&#10;&#10;Description automatically generated">
            <a:extLst>
              <a:ext uri="{FF2B5EF4-FFF2-40B4-BE49-F238E27FC236}">
                <a16:creationId xmlns:a16="http://schemas.microsoft.com/office/drawing/2014/main" id="{39A27992-63CC-88D9-4C67-038DECCDE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9707" y="6267315"/>
            <a:ext cx="780047" cy="369387"/>
          </a:xfrm>
          <a:prstGeom prst="rect">
            <a:avLst/>
          </a:prstGeom>
          <a:solidFill>
            <a:srgbClr val="003E3D"/>
          </a:solidFill>
        </p:spPr>
      </p:pic>
    </p:spTree>
    <p:extLst>
      <p:ext uri="{BB962C8B-B14F-4D97-AF65-F5344CB8AC3E}">
        <p14:creationId xmlns:p14="http://schemas.microsoft.com/office/powerpoint/2010/main" val="7173699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8A0000"/>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pic>
        <p:nvPicPr>
          <p:cNvPr id="7" name="Picture 6" descr="A black background with white text&#10;&#10;Description automatically generated">
            <a:extLst>
              <a:ext uri="{FF2B5EF4-FFF2-40B4-BE49-F238E27FC236}">
                <a16:creationId xmlns:a16="http://schemas.microsoft.com/office/drawing/2014/main" id="{43DF14E1-F69F-967C-C86A-7DCEEC6F32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9707" y="6267315"/>
            <a:ext cx="780047" cy="369387"/>
          </a:xfrm>
          <a:prstGeom prst="rect">
            <a:avLst/>
          </a:prstGeom>
          <a:solidFill>
            <a:srgbClr val="8A0000"/>
          </a:solidFill>
        </p:spPr>
      </p:pic>
    </p:spTree>
    <p:extLst>
      <p:ext uri="{BB962C8B-B14F-4D97-AF65-F5344CB8AC3E}">
        <p14:creationId xmlns:p14="http://schemas.microsoft.com/office/powerpoint/2010/main" val="6057327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bg>
      <p:bgPr>
        <a:solidFill>
          <a:srgbClr val="00BDBB"/>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8F597E-1C8D-00C0-4012-C2A285D867F6}"/>
              </a:ext>
            </a:extLst>
          </p:cNvPr>
          <p:cNvSpPr>
            <a:spLocks noGrp="1"/>
          </p:cNvSpPr>
          <p:nvPr>
            <p:ph type="title" hasCustomPrompt="1"/>
          </p:nvPr>
        </p:nvSpPr>
        <p:spPr>
          <a:xfrm>
            <a:off x="1430922" y="3012104"/>
            <a:ext cx="4665078" cy="833791"/>
          </a:xfrm>
        </p:spPr>
        <p:txBody>
          <a:bodyPr/>
          <a:lstStyle>
            <a:lvl1pPr>
              <a:lnSpc>
                <a:spcPct val="80000"/>
              </a:lnSpc>
              <a:defRPr sz="6000" b="0" i="0">
                <a:solidFill>
                  <a:schemeClr val="bg1"/>
                </a:solidFill>
                <a:latin typeface="DM Sans 14pt Medium" pitchFamily="2" charset="77"/>
              </a:defRPr>
            </a:lvl1pPr>
          </a:lstStyle>
          <a:p>
            <a:r>
              <a:rPr lang="en-US" dirty="0"/>
              <a:t>Edit chapter slide title</a:t>
            </a:r>
            <a:endParaRPr lang="en-AU" dirty="0"/>
          </a:p>
        </p:txBody>
      </p:sp>
    </p:spTree>
    <p:extLst>
      <p:ext uri="{BB962C8B-B14F-4D97-AF65-F5344CB8AC3E}">
        <p14:creationId xmlns:p14="http://schemas.microsoft.com/office/powerpoint/2010/main" val="3402182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19E6-9960-ACFF-603D-E89683220AC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6B6A62E-ADFC-83DF-AADE-70B3BADC7F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4CD03DB-DE38-B9B6-57E3-D4AB96356D5F}"/>
              </a:ext>
            </a:extLst>
          </p:cNvPr>
          <p:cNvSpPr>
            <a:spLocks noGrp="1"/>
          </p:cNvSpPr>
          <p:nvPr>
            <p:ph type="dt" sz="half" idx="10"/>
          </p:nvPr>
        </p:nvSpPr>
        <p:spPr/>
        <p:txBody>
          <a:bodyPr/>
          <a:lstStyle/>
          <a:p>
            <a:fld id="{CEB90C64-DACE-1C48-8E3C-97A5DA315FB1}" type="datetimeFigureOut">
              <a:rPr lang="en-US" smtClean="0"/>
              <a:t>3/15/2026</a:t>
            </a:fld>
            <a:endParaRPr lang="en-US"/>
          </a:p>
        </p:txBody>
      </p:sp>
      <p:sp>
        <p:nvSpPr>
          <p:cNvPr id="5" name="Footer Placeholder 4">
            <a:extLst>
              <a:ext uri="{FF2B5EF4-FFF2-40B4-BE49-F238E27FC236}">
                <a16:creationId xmlns:a16="http://schemas.microsoft.com/office/drawing/2014/main" id="{BEAAE0C6-AB28-B7A0-AB5E-92DECDA30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44CD9C-8663-D352-9D76-735A2220AA82}"/>
              </a:ext>
            </a:extLst>
          </p:cNvPr>
          <p:cNvSpPr>
            <a:spLocks noGrp="1"/>
          </p:cNvSpPr>
          <p:nvPr>
            <p:ph type="sldNum" sz="quarter" idx="12"/>
          </p:nvPr>
        </p:nvSpPr>
        <p:spPr/>
        <p:txBody>
          <a:bodyPr/>
          <a:lstStyle/>
          <a:p>
            <a:fld id="{2AC5D1B2-7488-9A4C-8306-384E13AB9254}" type="slidenum">
              <a:rPr lang="en-US" smtClean="0"/>
              <a:t>‹#›</a:t>
            </a:fld>
            <a:endParaRPr lang="en-US"/>
          </a:p>
        </p:txBody>
      </p:sp>
    </p:spTree>
    <p:extLst>
      <p:ext uri="{BB962C8B-B14F-4D97-AF65-F5344CB8AC3E}">
        <p14:creationId xmlns:p14="http://schemas.microsoft.com/office/powerpoint/2010/main" val="4059570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0F72FD-29FF-7E52-1C88-12F1B5168F18}"/>
              </a:ext>
            </a:extLst>
          </p:cNvPr>
          <p:cNvSpPr>
            <a:spLocks noGrp="1"/>
          </p:cNvSpPr>
          <p:nvPr>
            <p:ph type="dt" sz="half" idx="10"/>
          </p:nvPr>
        </p:nvSpPr>
        <p:spPr>
          <a:xfrm>
            <a:off x="838200" y="6356350"/>
            <a:ext cx="2743200" cy="365125"/>
          </a:xfrm>
          <a:prstGeom prst="rect">
            <a:avLst/>
          </a:prstGeom>
        </p:spPr>
        <p:txBody>
          <a:bodyPr/>
          <a:lstStyle/>
          <a:p>
            <a:fld id="{E5FE4A79-FDF4-654E-BB60-23F8846B0C33}" type="datetimeFigureOut">
              <a:rPr lang="en-US" smtClean="0"/>
              <a:t>3/15/2026</a:t>
            </a:fld>
            <a:endParaRPr lang="en-US" dirty="0"/>
          </a:p>
        </p:txBody>
      </p:sp>
      <p:sp>
        <p:nvSpPr>
          <p:cNvPr id="3" name="Footer Placeholder 2">
            <a:extLst>
              <a:ext uri="{FF2B5EF4-FFF2-40B4-BE49-F238E27FC236}">
                <a16:creationId xmlns:a16="http://schemas.microsoft.com/office/drawing/2014/main" id="{44D6EA57-B5C0-60A2-9D0B-BB71F9DE374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A3E3B0D3-8370-6829-B06E-85633F4AC526}"/>
              </a:ext>
            </a:extLst>
          </p:cNvPr>
          <p:cNvSpPr>
            <a:spLocks noGrp="1"/>
          </p:cNvSpPr>
          <p:nvPr>
            <p:ph type="sldNum" sz="quarter" idx="12"/>
          </p:nvPr>
        </p:nvSpPr>
        <p:spPr>
          <a:xfrm>
            <a:off x="8610600" y="6356350"/>
            <a:ext cx="2743200" cy="365125"/>
          </a:xfrm>
          <a:prstGeom prst="rect">
            <a:avLst/>
          </a:prstGeom>
        </p:spPr>
        <p:txBody>
          <a:bodyPr/>
          <a:lstStyle/>
          <a:p>
            <a:fld id="{02D78A2E-3C79-F34C-AF3B-17E55453E8E4}" type="slidenum">
              <a:rPr lang="en-US" smtClean="0"/>
              <a:t>‹#›</a:t>
            </a:fld>
            <a:endParaRPr lang="en-US" dirty="0"/>
          </a:p>
        </p:txBody>
      </p:sp>
    </p:spTree>
    <p:extLst>
      <p:ext uri="{BB962C8B-B14F-4D97-AF65-F5344CB8AC3E}">
        <p14:creationId xmlns:p14="http://schemas.microsoft.com/office/powerpoint/2010/main" val="3148887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 Id="rId2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39C4B1-3D98-BB44-4FDE-5A8734EB8EC1}"/>
              </a:ext>
            </a:extLst>
          </p:cNvPr>
          <p:cNvSpPr>
            <a:spLocks noGrp="1"/>
          </p:cNvSpPr>
          <p:nvPr>
            <p:ph type="title"/>
          </p:nvPr>
        </p:nvSpPr>
        <p:spPr>
          <a:xfrm>
            <a:off x="838200" y="268541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7" name="Slide Number Placeholder 5">
            <a:extLst>
              <a:ext uri="{FF2B5EF4-FFF2-40B4-BE49-F238E27FC236}">
                <a16:creationId xmlns:a16="http://schemas.microsoft.com/office/drawing/2014/main" id="{A5C113F6-4AFF-3606-D0E7-A3BDE2176AF4}"/>
              </a:ext>
            </a:extLst>
          </p:cNvPr>
          <p:cNvSpPr txBox="1">
            <a:spLocks/>
          </p:cNvSpPr>
          <p:nvPr userDrawn="1"/>
        </p:nvSpPr>
        <p:spPr>
          <a:xfrm>
            <a:off x="11403383" y="6400903"/>
            <a:ext cx="553784" cy="284772"/>
          </a:xfrm>
          <a:prstGeom prst="rect">
            <a:avLst/>
          </a:prstGeom>
        </p:spPr>
        <p:txBody>
          <a:bodyPr vert="horz" lIns="36000" tIns="36000" rIns="36000" bIns="36000" rtlCol="0" anchor="ctr">
            <a:noAutofit/>
          </a:bodyPr>
          <a:lstStyle>
            <a:defPPr>
              <a:defRPr lang="en-US"/>
            </a:defPPr>
            <a:lvl1pPr marL="0" algn="r" defTabSz="914400" rtl="0" eaLnBrk="1" latinLnBrk="0" hangingPunct="1">
              <a:lnSpc>
                <a:spcPct val="100000"/>
              </a:lnSpc>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70D5686-8FD5-4274-8C2C-00A51404829A}" type="slidenum">
              <a:rPr lang="en-AU" b="0" i="0" smtClean="0">
                <a:latin typeface="DM Sans" pitchFamily="2" charset="77"/>
              </a:rPr>
              <a:pPr/>
              <a:t>‹#›</a:t>
            </a:fld>
            <a:endParaRPr lang="en-AU" b="0" i="0" dirty="0">
              <a:latin typeface="DM Sans" pitchFamily="2" charset="77"/>
            </a:endParaRPr>
          </a:p>
        </p:txBody>
      </p:sp>
      <p:pic>
        <p:nvPicPr>
          <p:cNvPr id="8" name="Picture 7" descr="A black background with a black square&#10;&#10;Description automatically generated with medium confidence">
            <a:extLst>
              <a:ext uri="{FF2B5EF4-FFF2-40B4-BE49-F238E27FC236}">
                <a16:creationId xmlns:a16="http://schemas.microsoft.com/office/drawing/2014/main" id="{DAD611EA-E006-D745-D004-9CA939528697}"/>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192505" y="6267008"/>
            <a:ext cx="782355" cy="369388"/>
          </a:xfrm>
          <a:prstGeom prst="rect">
            <a:avLst/>
          </a:prstGeom>
        </p:spPr>
      </p:pic>
    </p:spTree>
    <p:extLst>
      <p:ext uri="{BB962C8B-B14F-4D97-AF65-F5344CB8AC3E}">
        <p14:creationId xmlns:p14="http://schemas.microsoft.com/office/powerpoint/2010/main" val="3453443432"/>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69" r:id="rId3"/>
    <p:sldLayoutId id="2147483650" r:id="rId4"/>
    <p:sldLayoutId id="2147483667" r:id="rId5"/>
    <p:sldLayoutId id="2147483651" r:id="rId6"/>
    <p:sldLayoutId id="2147483666" r:id="rId7"/>
    <p:sldLayoutId id="2147483652" r:id="rId8"/>
    <p:sldLayoutId id="2147483664" r:id="rId9"/>
    <p:sldLayoutId id="2147483663" r:id="rId10"/>
    <p:sldLayoutId id="2147483660" r:id="rId11"/>
    <p:sldLayoutId id="2147483665" r:id="rId12"/>
    <p:sldLayoutId id="2147483683" r:id="rId13"/>
    <p:sldLayoutId id="2147483654" r:id="rId14"/>
    <p:sldLayoutId id="2147483661" r:id="rId15"/>
    <p:sldLayoutId id="2147483662" r:id="rId16"/>
    <p:sldLayoutId id="2147483684" r:id="rId17"/>
    <p:sldLayoutId id="2147483685" r:id="rId18"/>
  </p:sldLayoutIdLst>
  <p:txStyles>
    <p:titleStyle>
      <a:lvl1pPr algn="l" defTabSz="914400" rtl="0" eaLnBrk="1" latinLnBrk="0" hangingPunct="1">
        <a:lnSpc>
          <a:spcPct val="90000"/>
        </a:lnSpc>
        <a:spcBef>
          <a:spcPct val="0"/>
        </a:spcBef>
        <a:buNone/>
        <a:defRPr sz="4400" b="0" i="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286000"/>
            <a:ext cx="10972800" cy="1280160"/>
          </a:xfrm>
          <a:prstGeom prst="rect">
            <a:avLst/>
          </a:prstGeom>
          <a:noFill/>
        </p:spPr>
        <p:txBody>
          <a:bodyPr wrap="square">
            <a:spAutoFit/>
          </a:bodyPr>
          <a:lstStyle/>
          <a:p>
            <a:pPr algn="ctr"/>
            <a:r>
              <a:rPr sz="3200" b="1" i="0">
                <a:solidFill>
                  <a:srgbClr val="FFFFFF"/>
                </a:solidFill>
                <a:latin typeface="DM Sans"/>
              </a:rPr>
              <a:t>WA Energy Survey</a:t>
            </a:r>
          </a:p>
        </p:txBody>
      </p:sp>
      <p:sp>
        <p:nvSpPr>
          <p:cNvPr id="4" name="TextBox 3"/>
          <p:cNvSpPr txBox="1"/>
          <p:nvPr/>
        </p:nvSpPr>
        <p:spPr>
          <a:xfrm>
            <a:off x="612648" y="3566160"/>
            <a:ext cx="10972800" cy="640080"/>
          </a:xfrm>
          <a:prstGeom prst="rect">
            <a:avLst/>
          </a:prstGeom>
          <a:noFill/>
        </p:spPr>
        <p:txBody>
          <a:bodyPr wrap="square">
            <a:spAutoFit/>
          </a:bodyPr>
          <a:lstStyle/>
          <a:p>
            <a:pPr algn="ctr"/>
            <a:r>
              <a:rPr sz="1800" b="0" i="0">
                <a:solidFill>
                  <a:srgbClr val="9BEFEF"/>
                </a:solidFill>
                <a:latin typeface="DM Sans"/>
              </a:rPr>
              <a:t>Community Attitudes: Energy &amp; Renewables</a:t>
            </a:r>
          </a:p>
        </p:txBody>
      </p:sp>
      <p:sp>
        <p:nvSpPr>
          <p:cNvPr id="5" name="TextBox 4"/>
          <p:cNvSpPr txBox="1"/>
          <p:nvPr/>
        </p:nvSpPr>
        <p:spPr>
          <a:xfrm>
            <a:off x="612648" y="6217920"/>
            <a:ext cx="10972800" cy="365760"/>
          </a:xfrm>
          <a:prstGeom prst="rect">
            <a:avLst/>
          </a:prstGeom>
          <a:noFill/>
        </p:spPr>
        <p:txBody>
          <a:bodyPr wrap="square">
            <a:spAutoFit/>
          </a:bodyPr>
          <a:lstStyle/>
          <a:p>
            <a:pPr algn="ctr"/>
            <a:r>
              <a:rPr sz="1000" b="0" i="0">
                <a:solidFill>
                  <a:srgbClr val="9BEFEF"/>
                </a:solidFill>
                <a:latin typeface="DM Sans"/>
              </a:rPr>
              <a:t>n=1,011 WA adult residents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743200"/>
            <a:ext cx="10972800" cy="1097280"/>
          </a:xfrm>
          <a:prstGeom prst="rect">
            <a:avLst/>
          </a:prstGeom>
          <a:noFill/>
        </p:spPr>
        <p:txBody>
          <a:bodyPr wrap="square">
            <a:spAutoFit/>
          </a:bodyPr>
          <a:lstStyle/>
          <a:p>
            <a:pPr algn="l"/>
            <a:r>
              <a:rPr sz="2800" b="1" i="0">
                <a:solidFill>
                  <a:srgbClr val="FFFFFF"/>
                </a:solidFill>
                <a:latin typeface="DM Sans"/>
              </a:rPr>
              <a:t>Perceptions of Energy Types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10896" y="1005840"/>
            <a:ext cx="11878056" cy="27432"/>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0896" y="201168"/>
            <a:ext cx="11567160" cy="749808"/>
          </a:xfrm>
          <a:prstGeom prst="rect">
            <a:avLst/>
          </a:prstGeom>
          <a:noFill/>
        </p:spPr>
        <p:txBody>
          <a:bodyPr wrap="square">
            <a:spAutoFit/>
          </a:bodyPr>
          <a:lstStyle/>
          <a:p>
            <a:pPr algn="l"/>
            <a:r>
              <a:rPr sz="1800" b="1" i="0">
                <a:solidFill>
                  <a:srgbClr val="A32015"/>
                </a:solidFill>
                <a:latin typeface="DM Sans"/>
              </a:rPr>
              <a:t>Key findings — energy perceptions &amp; renewables</a:t>
            </a:r>
          </a:p>
        </p:txBody>
      </p:sp>
      <p:sp>
        <p:nvSpPr>
          <p:cNvPr id="4" name="TextBox 3"/>
          <p:cNvSpPr txBox="1"/>
          <p:nvPr/>
        </p:nvSpPr>
        <p:spPr>
          <a:xfrm>
            <a:off x="365760" y="1188720"/>
            <a:ext cx="11457432" cy="5303520"/>
          </a:xfrm>
          <a:prstGeom prst="rect">
            <a:avLst/>
          </a:prstGeom>
          <a:noFill/>
        </p:spPr>
        <p:txBody>
          <a:bodyPr wrap="square">
            <a:spAutoFit/>
          </a:bodyPr>
          <a:lstStyle/>
          <a:p>
            <a:r>
              <a:rPr sz="1000" b="0">
                <a:solidFill>
                  <a:srgbClr val="44546A"/>
                </a:solidFill>
                <a:latin typeface="DM Sans"/>
              </a:rPr>
              <a:t>WA residents broadly view coal and oil as bad for the climate, while attitudes to gas are more mixed. Cost of living dominates energy concerns, though climate is the top priority for younger and more progressive cohorts. There is a strong majority in favour of a renewable energy target, with optimism about economic benefits tempered by scepticism on power prices.
</a:t>
            </a:r>
          </a:p>
          <a:p>
            <a:r>
              <a:rPr sz="1000" b="0">
                <a:solidFill>
                  <a:srgbClr val="44546A"/>
                </a:solidFill>
                <a:latin typeface="DM Sans"/>
              </a:rPr>
              <a:t>• Coal (61%) and oil (59%) are rated as bad for the climate by majorities; gas is more divisive (43% total bad).</a:t>
            </a:r>
          </a:p>
          <a:p>
            <a:r>
              <a:rPr sz="1000" b="0">
                <a:solidFill>
                  <a:srgbClr val="44546A"/>
                </a:solidFill>
                <a:latin typeface="DM Sans"/>
              </a:rPr>
              <a:t>• Rising power prices is the #1 energy concern (36%), well ahead of climate change (19%).</a:t>
            </a:r>
          </a:p>
          <a:p>
            <a:r>
              <a:rPr sz="1000" b="0">
                <a:solidFill>
                  <a:srgbClr val="44546A"/>
                </a:solidFill>
                <a:latin typeface="DM Sans"/>
              </a:rPr>
              <a:t>• Majorities believe renewables would bring good jobs (73%), new industries (71%) and better reliability (67%).</a:t>
            </a:r>
          </a:p>
          <a:p>
            <a:r>
              <a:rPr sz="1000" b="0">
                <a:solidFill>
                  <a:srgbClr val="44546A"/>
                </a:solidFill>
                <a:latin typeface="DM Sans"/>
              </a:rPr>
              <a:t>• 62% support a WA renewable energy target; only 15% oppose. Unsure remains high at 23%.</a:t>
            </a:r>
          </a:p>
          <a:p>
            <a:r>
              <a:rPr sz="1000" b="0">
                <a:solidFill>
                  <a:srgbClr val="44546A"/>
                </a:solidFill>
                <a:latin typeface="DM Sans"/>
              </a:rPr>
              <a:t>• Solar consideration is modest: just 32% of non-solar households are considering installing solar.</a:t>
            </a:r>
          </a:p>
        </p:txBody>
      </p:sp>
      <p:sp>
        <p:nvSpPr>
          <p:cNvPr id="5" name="TextBox 4"/>
          <p:cNvSpPr txBox="1"/>
          <p:nvPr/>
        </p:nvSpPr>
        <p:spPr>
          <a:xfrm>
            <a:off x="1097280" y="6236208"/>
            <a:ext cx="10058400" cy="256032"/>
          </a:xfrm>
          <a:prstGeom prst="rect">
            <a:avLst/>
          </a:prstGeom>
          <a:noFill/>
        </p:spPr>
        <p:txBody>
          <a:bodyPr wrap="square">
            <a:spAutoFit/>
          </a:bodyPr>
          <a:lstStyle/>
          <a:p>
            <a:pPr algn="l"/>
            <a:r>
              <a:rPr sz="800" b="0" i="1">
                <a:solidFill>
                  <a:srgbClr val="44546A"/>
                </a:solidFill>
                <a:latin typeface="DM Sans"/>
              </a:rPr>
              <a:t>Base: all respondents (n=1,011)</a:t>
            </a:r>
          </a:p>
        </p:txBody>
      </p:sp>
      <p:sp>
        <p:nvSpPr>
          <p:cNvPr id="6" name="Oval 5"/>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Climate impact of energy types</a:t>
            </a:r>
          </a:p>
        </p:txBody>
      </p:sp>
      <p:sp>
        <p:nvSpPr>
          <p:cNvPr id="3" name="Text Placeholder 2"/>
          <p:cNvSpPr>
            <a:spLocks noGrp="1"/>
          </p:cNvSpPr>
          <p:nvPr>
            <p:ph type="body" idx="21" sz="quarter"/>
          </p:nvPr>
        </p:nvSpPr>
        <p:spPr/>
        <p:txBody>
          <a:bodyPr/>
          <a:lstStyle/>
          <a:p>
            <a:r>
              <a:t>How bad do you think using each of the following energy types is for the climate? (%)</a:t>
            </a:r>
          </a:p>
        </p:txBody>
      </p:sp>
      <p:sp>
        <p:nvSpPr>
          <p:cNvPr id="4" name="Text Placeholder 3"/>
          <p:cNvSpPr>
            <a:spLocks noGrp="1"/>
          </p:cNvSpPr>
          <p:nvPr>
            <p:ph type="body" idx="22" sz="quarter"/>
          </p:nvPr>
        </p:nvSpPr>
        <p:spPr/>
        <p:txBody>
          <a:bodyPr/>
          <a:lstStyle/>
          <a:p>
            <a:r>
              <a:t>Base: all respondents (n=1,011)</a:t>
            </a:r>
          </a:p>
        </p:txBody>
      </p:sp>
      <p:pic>
        <p:nvPicPr>
          <p:cNvPr id="5" name="Picture 4" descr="image.png"/>
          <p:cNvPicPr>
            <a:picLocks noChangeAspect="1"/>
          </p:cNvPicPr>
          <p:nvPr/>
        </p:nvPicPr>
        <p:blipFill>
          <a:blip r:embed="rId2"/>
          <a:stretch>
            <a:fillRect/>
          </a:stretch>
        </p:blipFill>
        <p:spPr>
          <a:xfrm>
            <a:off x="310896" y="2199132"/>
            <a:ext cx="8229600" cy="3657600"/>
          </a:xfrm>
          <a:prstGeom prst="rect">
            <a:avLst/>
          </a:prstGeom>
        </p:spPr>
      </p:pic>
      <p:sp>
        <p:nvSpPr>
          <p:cNvPr id="6" name="TextBox 5"/>
          <p:cNvSpPr txBox="1"/>
          <p:nvPr/>
        </p:nvSpPr>
        <p:spPr>
          <a:xfrm>
            <a:off x="8686800" y="2199132"/>
            <a:ext cx="3136391" cy="3657600"/>
          </a:xfrm>
          <a:prstGeom prst="rect">
            <a:avLst/>
          </a:prstGeom>
          <a:noFill/>
        </p:spPr>
        <p:txBody>
          <a:bodyPr wrap="square">
            <a:spAutoFit/>
          </a:bodyPr>
          <a:lstStyle/>
          <a:p>
            <a:r>
              <a:rPr sz="1200" b="0">
                <a:solidFill>
                  <a:srgbClr val="44546A"/>
                </a:solidFill>
                <a:latin typeface="DM Sans"/>
              </a:rPr>
              <a:t>Coal &amp; oil seen as bad for the climate</a:t>
            </a:r>
          </a:p>
          <a:p>
            <a:r>
              <a:rPr sz="1200" b="0">
                <a:solidFill>
                  <a:srgbClr val="44546A"/>
                </a:solidFill>
                <a:latin typeface="DM Sans"/>
              </a:rPr>
              <a:t>by clear majorities.</a:t>
            </a:r>
          </a:p>
          <a:p>
            <a:r>
              <a:rPr sz="1200" b="0">
                <a:solidFill>
                  <a:srgbClr val="44546A"/>
                </a:solidFill>
                <a:latin typeface="DM Sans"/>
              </a:rPr>
              <a:t/>
            </a:r>
          </a:p>
          <a:p>
            <a:r>
              <a:rPr sz="1200" b="0">
                <a:solidFill>
                  <a:srgbClr val="44546A"/>
                </a:solidFill>
                <a:latin typeface="DM Sans"/>
              </a:rPr>
              <a:t>Gas is more divisive — splits by age:</a:t>
            </a:r>
          </a:p>
          <a:p>
            <a:r>
              <a:rPr sz="1200" b="0">
                <a:solidFill>
                  <a:srgbClr val="00BDBB"/>
                </a:solidFill>
                <a:latin typeface="DM Sans"/>
              </a:rPr>
              <a:t>  ↑ Under 30 — 54% rate gas as bad</a:t>
            </a:r>
          </a:p>
          <a:p>
            <a:r>
              <a:rPr sz="1200" b="0">
                <a:solidFill>
                  <a:srgbClr val="A32015"/>
                </a:solidFill>
                <a:latin typeface="DM Sans"/>
              </a:rPr>
              <a:t>  ↓ 60+ — 38% rate gas as bad</a:t>
            </a:r>
          </a:p>
          <a:p>
            <a:r>
              <a:rPr sz="1200" b="0">
                <a:solidFill>
                  <a:srgbClr val="44546A"/>
                </a:solidFill>
                <a:latin typeface="DM Sans"/>
              </a:rPr>
              <a:t/>
            </a:r>
          </a:p>
          <a:p>
            <a:r>
              <a:rPr sz="1200" b="0">
                <a:solidFill>
                  <a:srgbClr val="44546A"/>
                </a:solidFill>
                <a:latin typeface="DM Sans"/>
              </a:rPr>
              <a:t>And strongly by political vote:</a:t>
            </a:r>
          </a:p>
          <a:p>
            <a:r>
              <a:rPr sz="1200" b="0">
                <a:solidFill>
                  <a:srgbClr val="00BDBB"/>
                </a:solidFill>
                <a:latin typeface="DM Sans"/>
              </a:rPr>
              <a:t>  ↑ Greens — 57% / WA Labor — 49%</a:t>
            </a:r>
          </a:p>
          <a:p>
            <a:r>
              <a:rPr sz="1200" b="0">
                <a:solidFill>
                  <a:srgbClr val="A32015"/>
                </a:solidFill>
                <a:latin typeface="DM Sans"/>
              </a:rPr>
              <a:t>  ↓ Lib/Nat — 35% / One Nation — 29%</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t>Base: all respondents (n=1,011)</a:t>
            </a:r>
          </a:p>
        </p:txBody>
      </p:sp>
      <p:sp>
        <p:nvSpPr>
          <p:cNvPr id="3" name="Title 2"/>
          <p:cNvSpPr>
            <a:spLocks noGrp="1"/>
          </p:cNvSpPr>
          <p:nvPr>
            <p:ph type="title"/>
          </p:nvPr>
        </p:nvSpPr>
        <p:spPr/>
        <p:txBody>
          <a:bodyPr/>
          <a:lstStyle/>
          <a:p>
            <a:r>
              <a:t>Main concern about WA's energy future</a:t>
            </a:r>
          </a:p>
        </p:txBody>
      </p:sp>
      <p:sp>
        <p:nvSpPr>
          <p:cNvPr id="4" name="Text Placeholder 3"/>
          <p:cNvSpPr>
            <a:spLocks noGrp="1"/>
          </p:cNvSpPr>
          <p:nvPr>
            <p:ph type="body" idx="21" sz="quarter"/>
          </p:nvPr>
        </p:nvSpPr>
        <p:spPr/>
        <p:txBody>
          <a:bodyPr/>
          <a:lstStyle/>
          <a:p>
            <a:r>
              <a:t>Which of the following concerns you most when thinking about WA's energy future? (%)</a:t>
            </a:r>
          </a:p>
        </p:txBody>
      </p:sp>
      <p:pic>
        <p:nvPicPr>
          <p:cNvPr id="5" name="Picture 4" descr="image.png"/>
          <p:cNvPicPr>
            <a:picLocks noChangeAspect="1"/>
          </p:cNvPicPr>
          <p:nvPr/>
        </p:nvPicPr>
        <p:blipFill>
          <a:blip r:embed="rId2"/>
          <a:stretch>
            <a:fillRect/>
          </a:stretch>
        </p:blipFill>
        <p:spPr>
          <a:xfrm>
            <a:off x="310896" y="1709928"/>
            <a:ext cx="5303520" cy="4754880"/>
          </a:xfrm>
          <a:prstGeom prst="rect">
            <a:avLst/>
          </a:prstGeom>
        </p:spPr>
      </p:pic>
      <p:sp>
        <p:nvSpPr>
          <p:cNvPr id="6" name="TextBox 5"/>
          <p:cNvSpPr txBox="1"/>
          <p:nvPr/>
        </p:nvSpPr>
        <p:spPr>
          <a:xfrm>
            <a:off x="7379208" y="1709928"/>
            <a:ext cx="4453128" cy="4754880"/>
          </a:xfrm>
          <a:prstGeom prst="rect">
            <a:avLst/>
          </a:prstGeom>
          <a:noFill/>
        </p:spPr>
        <p:txBody>
          <a:bodyPr wrap="square">
            <a:spAutoFit/>
          </a:bodyPr>
          <a:lstStyle/>
          <a:p>
            <a:r>
              <a:rPr sz="1200" b="0">
                <a:solidFill>
                  <a:srgbClr val="44546A"/>
                </a:solidFill>
                <a:latin typeface="DM Sans"/>
              </a:rPr>
              <a:t>Rising power prices is the dominant</a:t>
            </a:r>
          </a:p>
          <a:p>
            <a:r>
              <a:rPr sz="1200" b="0">
                <a:solidFill>
                  <a:srgbClr val="44546A"/>
                </a:solidFill>
                <a:latin typeface="DM Sans"/>
              </a:rPr>
              <a:t>concern across all groups.</a:t>
            </a:r>
          </a:p>
          <a:p>
            <a:r>
              <a:rPr sz="1200" b="0">
                <a:solidFill>
                  <a:srgbClr val="44546A"/>
                </a:solidFill>
                <a:latin typeface="DM Sans"/>
              </a:rPr>
              <a:t/>
            </a:r>
          </a:p>
          <a:p>
            <a:r>
              <a:rPr sz="1200" b="0">
                <a:solidFill>
                  <a:srgbClr val="44546A"/>
                </a:solidFill>
                <a:latin typeface="DM Sans"/>
              </a:rPr>
              <a:t>Climate concern is highest among</a:t>
            </a:r>
          </a:p>
          <a:p>
            <a:r>
              <a:rPr sz="1200" b="0">
                <a:solidFill>
                  <a:srgbClr val="44546A"/>
                </a:solidFill>
                <a:latin typeface="DM Sans"/>
              </a:rPr>
              <a:t>younger and more progressive residents:</a:t>
            </a:r>
          </a:p>
          <a:p>
            <a:r>
              <a:rPr sz="1200" b="0">
                <a:solidFill>
                  <a:srgbClr val="00BDBB"/>
                </a:solidFill>
                <a:latin typeface="DM Sans"/>
              </a:rPr>
              <a:t>  ↑ Under 30 — 24% cite climate</a:t>
            </a:r>
          </a:p>
          <a:p>
            <a:r>
              <a:rPr sz="1200" b="0">
                <a:solidFill>
                  <a:srgbClr val="A32015"/>
                </a:solidFill>
                <a:latin typeface="DM Sans"/>
              </a:rPr>
              <a:t>  ↓ 60+ — 16% cite climate</a:t>
            </a:r>
          </a:p>
          <a:p>
            <a:r>
              <a:rPr sz="1200" b="0">
                <a:solidFill>
                  <a:srgbClr val="00BDBB"/>
                </a:solidFill>
                <a:latin typeface="DM Sans"/>
              </a:rPr>
              <a:t>  ↑ Women — 23% climate (vs 15% men)</a:t>
            </a:r>
          </a:p>
          <a:p>
            <a:r>
              <a:rPr sz="1200" b="0">
                <a:solidFill>
                  <a:srgbClr val="00BDBB"/>
                </a:solidFill>
                <a:latin typeface="DM Sans"/>
              </a:rPr>
              <a:t>  ↑ Greens — 30% climate</a:t>
            </a:r>
          </a:p>
          <a:p>
            <a:r>
              <a:rPr sz="1200" b="0">
                <a:solidFill>
                  <a:srgbClr val="44546A"/>
                </a:solidFill>
                <a:latin typeface="DM Sans"/>
              </a:rPr>
              <a:t/>
            </a:r>
          </a:p>
          <a:p>
            <a:r>
              <a:rPr sz="1200" b="0">
                <a:solidFill>
                  <a:srgbClr val="44546A"/>
                </a:solidFill>
                <a:latin typeface="DM Sans"/>
              </a:rPr>
              <a:t>Power prices skew older &amp; conservative:</a:t>
            </a:r>
          </a:p>
          <a:p>
            <a:r>
              <a:rPr sz="1200" b="0">
                <a:solidFill>
                  <a:srgbClr val="A32015"/>
                </a:solidFill>
                <a:latin typeface="DM Sans"/>
              </a:rPr>
              <a:t>  ↑ 60+ — 42% cite rising prices</a:t>
            </a:r>
          </a:p>
          <a:p>
            <a:r>
              <a:rPr sz="1200" b="0">
                <a:solidFill>
                  <a:srgbClr val="A32015"/>
                </a:solidFill>
                <a:latin typeface="DM Sans"/>
              </a:rPr>
              <a:t>  ↑ One Nation — 48% rising prices</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2743200"/>
            <a:ext cx="10972800" cy="1097280"/>
          </a:xfrm>
          <a:prstGeom prst="rect">
            <a:avLst/>
          </a:prstGeom>
          <a:noFill/>
        </p:spPr>
        <p:txBody>
          <a:bodyPr wrap="square">
            <a:spAutoFit/>
          </a:bodyPr>
          <a:lstStyle/>
          <a:p>
            <a:pPr algn="l"/>
            <a:r>
              <a:rPr sz="2800" b="1" i="0">
                <a:solidFill>
                  <a:srgbClr val="FFFFFF"/>
                </a:solidFill>
                <a:latin typeface="DM Sans"/>
              </a:rPr>
              <a:t>Renewable Energy Attitudes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Likely outcomes of more renewable energy</a:t>
            </a:r>
          </a:p>
        </p:txBody>
      </p:sp>
      <p:sp>
        <p:nvSpPr>
          <p:cNvPr id="3" name="Text Placeholder 2"/>
          <p:cNvSpPr>
            <a:spLocks noGrp="1"/>
          </p:cNvSpPr>
          <p:nvPr>
            <p:ph type="body" idx="21" sz="quarter"/>
          </p:nvPr>
        </p:nvSpPr>
        <p:spPr/>
        <p:txBody>
          <a:bodyPr/>
          <a:lstStyle/>
          <a:p>
            <a:r>
              <a:t>How likely do you think these outcomes would be if WA used more renewable energy? (%)</a:t>
            </a:r>
          </a:p>
        </p:txBody>
      </p:sp>
      <p:sp>
        <p:nvSpPr>
          <p:cNvPr id="4" name="Text Placeholder 3"/>
          <p:cNvSpPr>
            <a:spLocks noGrp="1"/>
          </p:cNvSpPr>
          <p:nvPr>
            <p:ph type="body" idx="22" sz="quarter"/>
          </p:nvPr>
        </p:nvSpPr>
        <p:spPr/>
        <p:txBody>
          <a:bodyPr/>
          <a:lstStyle/>
          <a:p>
            <a:r>
              <a:t>Base: all respondents (n=1,011)</a:t>
            </a:r>
          </a:p>
        </p:txBody>
      </p:sp>
      <p:pic>
        <p:nvPicPr>
          <p:cNvPr id="5" name="Picture 4" descr="image.png"/>
          <p:cNvPicPr>
            <a:picLocks noChangeAspect="1"/>
          </p:cNvPicPr>
          <p:nvPr/>
        </p:nvPicPr>
        <p:blipFill>
          <a:blip r:embed="rId2"/>
          <a:stretch>
            <a:fillRect/>
          </a:stretch>
        </p:blipFill>
        <p:spPr>
          <a:xfrm>
            <a:off x="310896" y="2061972"/>
            <a:ext cx="8229600" cy="3931920"/>
          </a:xfrm>
          <a:prstGeom prst="rect">
            <a:avLst/>
          </a:prstGeom>
        </p:spPr>
      </p:pic>
      <p:sp>
        <p:nvSpPr>
          <p:cNvPr id="6" name="TextBox 5"/>
          <p:cNvSpPr txBox="1"/>
          <p:nvPr/>
        </p:nvSpPr>
        <p:spPr>
          <a:xfrm>
            <a:off x="8686800" y="2061972"/>
            <a:ext cx="3136391" cy="3931920"/>
          </a:xfrm>
          <a:prstGeom prst="rect">
            <a:avLst/>
          </a:prstGeom>
          <a:noFill/>
        </p:spPr>
        <p:txBody>
          <a:bodyPr wrap="square">
            <a:spAutoFit/>
          </a:bodyPr>
          <a:lstStyle/>
          <a:p>
            <a:r>
              <a:rPr sz="1000" b="0">
                <a:solidFill>
                  <a:srgbClr val="44546A"/>
                </a:solidFill>
                <a:latin typeface="DM Sans"/>
              </a:rPr>
              <a:t>Optimism is broad — driven mainly by</a:t>
            </a:r>
          </a:p>
          <a:p>
            <a:r>
              <a:rPr sz="1000" b="0">
                <a:solidFill>
                  <a:srgbClr val="44546A"/>
                </a:solidFill>
                <a:latin typeface="DM Sans"/>
              </a:rPr>
              <a:t>age and political alignment.</a:t>
            </a:r>
          </a:p>
          <a:p>
            <a:r>
              <a:rPr sz="1000" b="0">
                <a:solidFill>
                  <a:srgbClr val="44546A"/>
                </a:solidFill>
                <a:latin typeface="DM Sans"/>
              </a:rPr>
              <a:t/>
            </a:r>
          </a:p>
          <a:p>
            <a:r>
              <a:rPr sz="1000" b="0">
                <a:solidFill>
                  <a:srgbClr val="44546A"/>
                </a:solidFill>
                <a:latin typeface="DM Sans"/>
              </a:rPr>
              <a:t>Best outcomes: jobs, industries,</a:t>
            </a:r>
          </a:p>
          <a:p>
            <a:r>
              <a:rPr sz="1000" b="0">
                <a:solidFill>
                  <a:srgbClr val="44546A"/>
                </a:solidFill>
                <a:latin typeface="DM Sans"/>
              </a:rPr>
              <a:t>infrastructure, environment (70–73%).</a:t>
            </a:r>
          </a:p>
          <a:p>
            <a:r>
              <a:rPr sz="1000" b="0">
                <a:solidFill>
                  <a:srgbClr val="44546A"/>
                </a:solidFill>
                <a:latin typeface="DM Sans"/>
              </a:rPr>
              <a:t/>
            </a:r>
          </a:p>
          <a:p>
            <a:r>
              <a:rPr sz="1000" b="0">
                <a:solidFill>
                  <a:srgbClr val="00BDBB"/>
                </a:solidFill>
                <a:latin typeface="DM Sans"/>
              </a:rPr>
              <a:t>  ↑ 30–44yo — 73–80% total likely</a:t>
            </a:r>
          </a:p>
          <a:p>
            <a:r>
              <a:rPr sz="1000" b="0">
                <a:solidFill>
                  <a:srgbClr val="A32015"/>
                </a:solidFill>
                <a:latin typeface="DM Sans"/>
              </a:rPr>
              <a:t>  ↓ 60+ — 55–68% total likely</a:t>
            </a:r>
          </a:p>
          <a:p>
            <a:r>
              <a:rPr sz="1000" b="0">
                <a:solidFill>
                  <a:srgbClr val="44546A"/>
                </a:solidFill>
                <a:latin typeface="DM Sans"/>
              </a:rPr>
              <a:t/>
            </a:r>
          </a:p>
          <a:p>
            <a:r>
              <a:rPr sz="1000" b="0">
                <a:solidFill>
                  <a:srgbClr val="44546A"/>
                </a:solidFill>
                <a:latin typeface="DM Sans"/>
              </a:rPr>
              <a:t>Power prices &amp; cost of living attract</a:t>
            </a:r>
          </a:p>
          <a:p>
            <a:r>
              <a:rPr sz="1000" b="0">
                <a:solidFill>
                  <a:srgbClr val="44546A"/>
                </a:solidFill>
                <a:latin typeface="DM Sans"/>
              </a:rPr>
              <a:t>most scepticism (57–59%).</a:t>
            </a:r>
          </a:p>
          <a:p>
            <a:r>
              <a:rPr sz="1000" b="0">
                <a:solidFill>
                  <a:srgbClr val="00BDBB"/>
                </a:solidFill>
                <a:latin typeface="DM Sans"/>
              </a:rPr>
              <a:t>  ↑ WA Labor — 65–67% likely</a:t>
            </a:r>
          </a:p>
          <a:p>
            <a:r>
              <a:rPr sz="1000" b="0">
                <a:solidFill>
                  <a:srgbClr val="A32015"/>
                </a:solidFill>
                <a:latin typeface="DM Sans"/>
              </a:rPr>
              <a:t>  ↓ One Nation — 29–40% likely</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t>Base: all respondents (n=1,011)</a:t>
            </a:r>
          </a:p>
        </p:txBody>
      </p:sp>
      <p:sp>
        <p:nvSpPr>
          <p:cNvPr id="3" name="Title 2"/>
          <p:cNvSpPr>
            <a:spLocks noGrp="1"/>
          </p:cNvSpPr>
          <p:nvPr>
            <p:ph type="title"/>
          </p:nvPr>
        </p:nvSpPr>
        <p:spPr/>
        <p:txBody>
          <a:bodyPr/>
          <a:lstStyle/>
          <a:p>
            <a:r>
              <a:t>Support for a WA renewable energy target</a:t>
            </a:r>
          </a:p>
        </p:txBody>
      </p:sp>
      <p:sp>
        <p:nvSpPr>
          <p:cNvPr id="4" name="Text Placeholder 3"/>
          <p:cNvSpPr>
            <a:spLocks noGrp="1"/>
          </p:cNvSpPr>
          <p:nvPr>
            <p:ph type="body" idx="21" sz="quarter"/>
          </p:nvPr>
        </p:nvSpPr>
        <p:spPr/>
        <p:txBody>
          <a:bodyPr/>
          <a:lstStyle/>
          <a:p>
            <a:r>
              <a:t>How strongly do you support or oppose WA adopting a renewable energy target? (%)</a:t>
            </a:r>
          </a:p>
        </p:txBody>
      </p:sp>
      <p:pic>
        <p:nvPicPr>
          <p:cNvPr id="5" name="Picture 4" descr="image.png"/>
          <p:cNvPicPr>
            <a:picLocks noChangeAspect="1"/>
          </p:cNvPicPr>
          <p:nvPr/>
        </p:nvPicPr>
        <p:blipFill>
          <a:blip r:embed="rId2"/>
          <a:stretch>
            <a:fillRect/>
          </a:stretch>
        </p:blipFill>
        <p:spPr>
          <a:xfrm>
            <a:off x="310896" y="1709928"/>
            <a:ext cx="5303520" cy="4251960"/>
          </a:xfrm>
          <a:prstGeom prst="rect">
            <a:avLst/>
          </a:prstGeom>
        </p:spPr>
      </p:pic>
      <p:sp>
        <p:nvSpPr>
          <p:cNvPr id="6" name="Oval 5"/>
          <p:cNvSpPr/>
          <p:nvPr/>
        </p:nvSpPr>
        <p:spPr>
          <a:xfrm>
            <a:off x="4677690" y="2235470"/>
            <a:ext cx="938832" cy="938832"/>
          </a:xfrm>
          <a:prstGeom prst="ellipse">
            <a:avLst/>
          </a:prstGeom>
          <a:solidFill>
            <a:srgbClr val="00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77690" y="2291800"/>
            <a:ext cx="938832" cy="488193"/>
          </a:xfrm>
          <a:prstGeom prst="rect">
            <a:avLst/>
          </a:prstGeom>
          <a:noFill/>
        </p:spPr>
        <p:txBody>
          <a:bodyPr wrap="none">
            <a:spAutoFit/>
          </a:bodyPr>
          <a:lstStyle/>
          <a:p>
            <a:pPr algn="ctr"/>
            <a:r>
              <a:rPr sz="3100" b="1">
                <a:solidFill>
                  <a:srgbClr val="FFFFFF"/>
                </a:solidFill>
                <a:latin typeface="DM Sans"/>
              </a:rPr>
              <a:t>62</a:t>
            </a:r>
            <a:r>
              <a:rPr sz="2000" b="1">
                <a:solidFill>
                  <a:srgbClr val="FFFFFF"/>
                </a:solidFill>
                <a:latin typeface="DM Sans"/>
              </a:rPr>
              <a:t>%</a:t>
            </a:r>
          </a:p>
        </p:txBody>
      </p:sp>
      <p:sp>
        <p:nvSpPr>
          <p:cNvPr id="8" name="TextBox 7"/>
          <p:cNvSpPr txBox="1"/>
          <p:nvPr/>
        </p:nvSpPr>
        <p:spPr>
          <a:xfrm>
            <a:off x="4677690" y="2761216"/>
            <a:ext cx="938832" cy="356756"/>
          </a:xfrm>
          <a:prstGeom prst="rect">
            <a:avLst/>
          </a:prstGeom>
          <a:noFill/>
        </p:spPr>
        <p:txBody>
          <a:bodyPr wrap="square">
            <a:spAutoFit/>
          </a:bodyPr>
          <a:lstStyle/>
          <a:p>
            <a:pPr algn="ctr"/>
            <a:r>
              <a:rPr sz="1600" b="0" i="0">
                <a:solidFill>
                  <a:srgbClr val="FFFFFF"/>
                </a:solidFill>
                <a:latin typeface="DM Sans"/>
              </a:rPr>
              <a:t>Support</a:t>
            </a:r>
          </a:p>
        </p:txBody>
      </p:sp>
      <p:sp>
        <p:nvSpPr>
          <p:cNvPr id="9" name="Oval 8"/>
          <p:cNvSpPr/>
          <p:nvPr/>
        </p:nvSpPr>
        <p:spPr>
          <a:xfrm>
            <a:off x="2964942" y="3847133"/>
            <a:ext cx="844949" cy="844949"/>
          </a:xfrm>
          <a:prstGeom prst="ellipse">
            <a:avLst/>
          </a:prstGeom>
          <a:solidFill>
            <a:srgbClr val="A320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64942" y="3897830"/>
            <a:ext cx="844949" cy="439373"/>
          </a:xfrm>
          <a:prstGeom prst="rect">
            <a:avLst/>
          </a:prstGeom>
          <a:noFill/>
        </p:spPr>
        <p:txBody>
          <a:bodyPr wrap="none">
            <a:spAutoFit/>
          </a:bodyPr>
          <a:lstStyle/>
          <a:p>
            <a:pPr algn="ctr"/>
            <a:r>
              <a:rPr sz="2800" b="1">
                <a:solidFill>
                  <a:srgbClr val="FFFFFF"/>
                </a:solidFill>
                <a:latin typeface="DM Sans"/>
              </a:rPr>
              <a:t>15</a:t>
            </a:r>
            <a:r>
              <a:rPr sz="1800" b="1">
                <a:solidFill>
                  <a:srgbClr val="FFFFFF"/>
                </a:solidFill>
                <a:latin typeface="DM Sans"/>
              </a:rPr>
              <a:t>%</a:t>
            </a:r>
          </a:p>
        </p:txBody>
      </p:sp>
      <p:sp>
        <p:nvSpPr>
          <p:cNvPr id="11" name="TextBox 10"/>
          <p:cNvSpPr txBox="1"/>
          <p:nvPr/>
        </p:nvSpPr>
        <p:spPr>
          <a:xfrm>
            <a:off x="2964942" y="4320304"/>
            <a:ext cx="844949" cy="321080"/>
          </a:xfrm>
          <a:prstGeom prst="rect">
            <a:avLst/>
          </a:prstGeom>
          <a:noFill/>
        </p:spPr>
        <p:txBody>
          <a:bodyPr wrap="square">
            <a:spAutoFit/>
          </a:bodyPr>
          <a:lstStyle/>
          <a:p>
            <a:pPr algn="ctr"/>
            <a:r>
              <a:rPr sz="1400" b="0" i="0">
                <a:solidFill>
                  <a:srgbClr val="FFFFFF"/>
                </a:solidFill>
                <a:latin typeface="DM Sans"/>
              </a:rPr>
              <a:t>Oppose</a:t>
            </a:r>
          </a:p>
        </p:txBody>
      </p:sp>
      <p:sp>
        <p:nvSpPr>
          <p:cNvPr id="12" name="TextBox 11"/>
          <p:cNvSpPr txBox="1"/>
          <p:nvPr/>
        </p:nvSpPr>
        <p:spPr>
          <a:xfrm>
            <a:off x="7379208" y="1709928"/>
            <a:ext cx="4453128" cy="4251960"/>
          </a:xfrm>
          <a:prstGeom prst="rect">
            <a:avLst/>
          </a:prstGeom>
          <a:noFill/>
        </p:spPr>
        <p:txBody>
          <a:bodyPr wrap="square">
            <a:spAutoFit/>
          </a:bodyPr>
          <a:lstStyle/>
          <a:p>
            <a:r>
              <a:rPr sz="1200" b="0">
                <a:solidFill>
                  <a:srgbClr val="44546A"/>
                </a:solidFill>
                <a:latin typeface="DM Sans"/>
              </a:rPr>
              <a:t>62% support a renewable energy target;</a:t>
            </a:r>
          </a:p>
          <a:p>
            <a:r>
              <a:rPr sz="1200" b="0">
                <a:solidFill>
                  <a:srgbClr val="44546A"/>
                </a:solidFill>
                <a:latin typeface="DM Sans"/>
              </a:rPr>
              <a:t>only 15% oppose.</a:t>
            </a:r>
          </a:p>
          <a:p>
            <a:r>
              <a:rPr sz="1200" b="0">
                <a:solidFill>
                  <a:srgbClr val="44546A"/>
                </a:solidFill>
                <a:latin typeface="DM Sans"/>
              </a:rPr>
              <a:t/>
            </a:r>
          </a:p>
          <a:p>
            <a:r>
              <a:rPr sz="1200" b="0">
                <a:solidFill>
                  <a:srgbClr val="44546A"/>
                </a:solidFill>
                <a:latin typeface="DM Sans"/>
              </a:rPr>
              <a:t>Strongest support among:</a:t>
            </a:r>
          </a:p>
          <a:p>
            <a:r>
              <a:rPr sz="1200" b="0">
                <a:solidFill>
                  <a:srgbClr val="00BDBB"/>
                </a:solidFill>
                <a:latin typeface="DM Sans"/>
              </a:rPr>
              <a:t>  ↑ WA Labor voters — 78%</a:t>
            </a:r>
          </a:p>
          <a:p>
            <a:r>
              <a:rPr sz="1200" b="0">
                <a:solidFill>
                  <a:srgbClr val="00BDBB"/>
                </a:solidFill>
                <a:latin typeface="DM Sans"/>
              </a:rPr>
              <a:t>  ↑ Inner city Perth — 70%</a:t>
            </a:r>
          </a:p>
          <a:p>
            <a:r>
              <a:rPr sz="1200" b="0">
                <a:solidFill>
                  <a:srgbClr val="00BDBB"/>
                </a:solidFill>
                <a:latin typeface="DM Sans"/>
              </a:rPr>
              <a:t>  ↑ 30–44 year olds — 66%</a:t>
            </a:r>
          </a:p>
          <a:p>
            <a:r>
              <a:rPr sz="1200" b="0">
                <a:solidFill>
                  <a:srgbClr val="00BDBB"/>
                </a:solidFill>
                <a:latin typeface="DM Sans"/>
              </a:rPr>
              <a:t>  ↑ Solar owners — 70%</a:t>
            </a:r>
          </a:p>
          <a:p>
            <a:r>
              <a:rPr sz="1200" b="0">
                <a:solidFill>
                  <a:srgbClr val="44546A"/>
                </a:solidFill>
                <a:latin typeface="DM Sans"/>
              </a:rPr>
              <a:t/>
            </a:r>
          </a:p>
          <a:p>
            <a:r>
              <a:rPr sz="1200" b="0">
                <a:solidFill>
                  <a:srgbClr val="44546A"/>
                </a:solidFill>
                <a:latin typeface="DM Sans"/>
              </a:rPr>
              <a:t>Most opposition from:</a:t>
            </a:r>
          </a:p>
          <a:p>
            <a:r>
              <a:rPr sz="1200" b="0">
                <a:solidFill>
                  <a:srgbClr val="A32015"/>
                </a:solidFill>
                <a:latin typeface="DM Sans"/>
              </a:rPr>
              <a:t>  ↓ One Nation — 35% support, 46% oppose</a:t>
            </a:r>
          </a:p>
          <a:p>
            <a:r>
              <a:rPr sz="1200" b="0">
                <a:solidFill>
                  <a:srgbClr val="A32015"/>
                </a:solidFill>
                <a:latin typeface="DM Sans"/>
              </a:rPr>
              <a:t>  ↓ 60+ — 56% support, 25% oppose</a:t>
            </a:r>
          </a:p>
        </p:txBody>
      </p:sp>
      <p:sp>
        <p:nvSpPr>
          <p:cNvPr id="13" name="Oval 12"/>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t>Base: respondents without solar (n=473)</a:t>
            </a:r>
          </a:p>
        </p:txBody>
      </p:sp>
      <p:sp>
        <p:nvSpPr>
          <p:cNvPr id="3" name="Title 2"/>
          <p:cNvSpPr>
            <a:spLocks noGrp="1"/>
          </p:cNvSpPr>
          <p:nvPr>
            <p:ph type="title"/>
          </p:nvPr>
        </p:nvSpPr>
        <p:spPr/>
        <p:txBody>
          <a:bodyPr/>
          <a:lstStyle/>
          <a:p>
            <a:r>
              <a:t>Considering installing rooftop solar</a:t>
            </a:r>
          </a:p>
        </p:txBody>
      </p:sp>
      <p:sp>
        <p:nvSpPr>
          <p:cNvPr id="4" name="Text Placeholder 3"/>
          <p:cNvSpPr>
            <a:spLocks noGrp="1"/>
          </p:cNvSpPr>
          <p:nvPr>
            <p:ph type="body" idx="21" sz="quarter"/>
          </p:nvPr>
        </p:nvSpPr>
        <p:spPr/>
        <p:txBody>
          <a:bodyPr/>
          <a:lstStyle/>
          <a:p>
            <a:r>
              <a:t>Are you considering installing rooftop solar? (%)</a:t>
            </a:r>
          </a:p>
        </p:txBody>
      </p:sp>
      <p:pic>
        <p:nvPicPr>
          <p:cNvPr id="5" name="Picture 4" descr="image.png"/>
          <p:cNvPicPr>
            <a:picLocks noChangeAspect="1"/>
          </p:cNvPicPr>
          <p:nvPr/>
        </p:nvPicPr>
        <p:blipFill>
          <a:blip r:embed="rId2"/>
          <a:stretch>
            <a:fillRect/>
          </a:stretch>
        </p:blipFill>
        <p:spPr>
          <a:xfrm>
            <a:off x="310896" y="1709928"/>
            <a:ext cx="5303520" cy="4114800"/>
          </a:xfrm>
          <a:prstGeom prst="rect">
            <a:avLst/>
          </a:prstGeom>
        </p:spPr>
      </p:pic>
      <p:sp>
        <p:nvSpPr>
          <p:cNvPr id="6" name="TextBox 5"/>
          <p:cNvSpPr txBox="1"/>
          <p:nvPr/>
        </p:nvSpPr>
        <p:spPr>
          <a:xfrm>
            <a:off x="7379208" y="1709928"/>
            <a:ext cx="4453128" cy="4114800"/>
          </a:xfrm>
          <a:prstGeom prst="rect">
            <a:avLst/>
          </a:prstGeom>
          <a:noFill/>
        </p:spPr>
        <p:txBody>
          <a:bodyPr wrap="square">
            <a:spAutoFit/>
          </a:bodyPr>
          <a:lstStyle/>
          <a:p>
            <a:r>
              <a:rPr sz="1200" b="0">
                <a:solidFill>
                  <a:srgbClr val="44546A"/>
                </a:solidFill>
                <a:latin typeface="DM Sans"/>
              </a:rPr>
              <a:t>Only 1 in 3 non-solar households</a:t>
            </a:r>
          </a:p>
          <a:p>
            <a:r>
              <a:rPr sz="1200" b="0">
                <a:solidFill>
                  <a:srgbClr val="44546A"/>
                </a:solidFill>
                <a:latin typeface="DM Sans"/>
              </a:rPr>
              <a:t>are considering solar — 26% unsure.</a:t>
            </a:r>
          </a:p>
          <a:p>
            <a:r>
              <a:rPr sz="1200" b="0">
                <a:solidFill>
                  <a:srgbClr val="44546A"/>
                </a:solidFill>
                <a:latin typeface="DM Sans"/>
              </a:rPr>
              <a:t/>
            </a:r>
          </a:p>
          <a:p>
            <a:r>
              <a:rPr sz="1200" b="0">
                <a:solidFill>
                  <a:srgbClr val="44546A"/>
                </a:solidFill>
                <a:latin typeface="DM Sans"/>
              </a:rPr>
              <a:t>Most likely to consider:</a:t>
            </a:r>
          </a:p>
          <a:p>
            <a:r>
              <a:rPr sz="1200" b="0">
                <a:solidFill>
                  <a:srgbClr val="00BDBB"/>
                </a:solidFill>
                <a:latin typeface="DM Sans"/>
              </a:rPr>
              <a:t>  ↑ Mortgage holders — 48%</a:t>
            </a:r>
          </a:p>
          <a:p>
            <a:r>
              <a:rPr sz="1200" b="0">
                <a:solidFill>
                  <a:srgbClr val="00BDBB"/>
                </a:solidFill>
                <a:latin typeface="DM Sans"/>
              </a:rPr>
              <a:t>  ↑ 30–44 year olds — 42%</a:t>
            </a:r>
          </a:p>
          <a:p>
            <a:r>
              <a:rPr sz="1200" b="0">
                <a:solidFill>
                  <a:srgbClr val="00BDBB"/>
                </a:solidFill>
                <a:latin typeface="DM Sans"/>
              </a:rPr>
              <a:t>  ↑ Income &gt;$120k — 42%</a:t>
            </a:r>
          </a:p>
          <a:p>
            <a:r>
              <a:rPr sz="1200" b="0">
                <a:solidFill>
                  <a:srgbClr val="44546A"/>
                </a:solidFill>
                <a:latin typeface="DM Sans"/>
              </a:rPr>
              <a:t/>
            </a:r>
          </a:p>
          <a:p>
            <a:r>
              <a:rPr sz="1200" b="0">
                <a:solidFill>
                  <a:srgbClr val="44546A"/>
                </a:solidFill>
                <a:latin typeface="DM Sans"/>
              </a:rPr>
              <a:t>Least likely:</a:t>
            </a:r>
          </a:p>
          <a:p>
            <a:r>
              <a:rPr sz="1200" b="0">
                <a:solidFill>
                  <a:srgbClr val="A32015"/>
                </a:solidFill>
                <a:latin typeface="DM Sans"/>
              </a:rPr>
              <a:t>  ↓ 60+ — 24% (61% say no)</a:t>
            </a:r>
          </a:p>
          <a:p>
            <a:r>
              <a:rPr sz="1200" b="0">
                <a:solidFill>
                  <a:srgbClr val="A32015"/>
                </a:solidFill>
                <a:latin typeface="DM Sans"/>
              </a:rPr>
              <a:t>  ↓ Income &lt;$60k — 23%</a:t>
            </a:r>
          </a:p>
          <a:p>
            <a:r>
              <a:rPr sz="1200" b="0">
                <a:solidFill>
                  <a:srgbClr val="A32015"/>
                </a:solidFill>
                <a:latin typeface="DM Sans"/>
              </a:rPr>
              <a:t>  ↓ Retired — 21%</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201168"/>
            <a:ext cx="11567160" cy="749808"/>
          </a:xfrm>
          <a:prstGeom prst="rect">
            <a:avLst/>
          </a:prstGeom>
          <a:noFill/>
        </p:spPr>
        <p:txBody>
          <a:bodyPr wrap="square">
            <a:spAutoFit/>
          </a:bodyPr>
          <a:lstStyle/>
          <a:p>
            <a:pPr algn="l"/>
            <a:r>
              <a:rPr sz="1800" b="1" i="0">
                <a:solidFill>
                  <a:srgbClr val="027F7C"/>
                </a:solidFill>
                <a:latin typeface="DM Sans"/>
              </a:rPr>
              <a:t>Main reason for supporting a renewable energy target</a:t>
            </a:r>
          </a:p>
        </p:txBody>
      </p:sp>
      <p:sp>
        <p:nvSpPr>
          <p:cNvPr id="3" name="Rectangle 2"/>
          <p:cNvSpPr/>
          <p:nvPr/>
        </p:nvSpPr>
        <p:spPr>
          <a:xfrm>
            <a:off x="310896" y="1005840"/>
            <a:ext cx="11878056" cy="27432"/>
          </a:xfrm>
          <a:prstGeom prst="rect">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10896" y="1042415"/>
            <a:ext cx="8229600" cy="347472"/>
          </a:xfrm>
          <a:prstGeom prst="rect">
            <a:avLst/>
          </a:prstGeom>
          <a:noFill/>
        </p:spPr>
        <p:txBody>
          <a:bodyPr wrap="square">
            <a:spAutoFit/>
          </a:bodyPr>
          <a:lstStyle/>
          <a:p>
            <a:pPr algn="l"/>
            <a:r>
              <a:rPr sz="1100" b="0" i="1">
                <a:solidFill>
                  <a:srgbClr val="44546A"/>
                </a:solidFill>
                <a:latin typeface="DM Sans"/>
              </a:rPr>
              <a:t>What is the main reason for supporting a target? (%, among supporters)</a:t>
            </a:r>
          </a:p>
        </p:txBody>
      </p:sp>
      <p:graphicFrame>
        <p:nvGraphicFramePr>
          <p:cNvPr id="5" name="Table 4"/>
          <p:cNvGraphicFramePr>
            <a:graphicFrameLocks noGrp="1"/>
          </p:cNvGraphicFramePr>
          <p:nvPr/>
        </p:nvGraphicFramePr>
        <p:xfrm>
          <a:off x="310896" y="1709928"/>
          <a:ext cx="11512295" cy="4645152"/>
        </p:xfrm>
        <a:graphic>
          <a:graphicData uri="http://schemas.openxmlformats.org/drawingml/2006/table">
            <a:tbl>
              <a:tblPr firstRow="1" bandRow="1">
                <a:tableStyleId>{5C22544A-7EE6-4342-B048-85BDC9FD1C3A}</a:tableStyleId>
              </a:tblPr>
              <a:tblGrid>
                <a:gridCol w="9785451"/>
                <a:gridCol w="1726844"/>
              </a:tblGrid>
              <a:tr h="309676">
                <a:tc>
                  <a:txBody>
                    <a:bodyPr wrap="none"/>
                    <a:lstStyle/>
                    <a:p>
                      <a:pPr algn="l"/>
                      <a:r>
                        <a:rPr sz="1100" b="1">
                          <a:solidFill>
                            <a:srgbClr val="FFFFFF"/>
                          </a:solidFill>
                          <a:latin typeface="DM Sans"/>
                        </a:rPr>
                        <a:t>Response</a:t>
                      </a:r>
                    </a:p>
                  </a:txBody>
                  <a:tcPr>
                    <a:solidFill>
                      <a:srgbClr val="027F7C"/>
                    </a:solidFill>
                  </a:tcPr>
                </a:tc>
                <a:tc>
                  <a:txBody>
                    <a:bodyPr wrap="none"/>
                    <a:lstStyle/>
                    <a:p>
                      <a:pPr algn="ctr"/>
                      <a:r>
                        <a:rPr sz="1100" b="1">
                          <a:solidFill>
                            <a:srgbClr val="FFFFFF"/>
                          </a:solidFill>
                          <a:latin typeface="DM Sans"/>
                        </a:rPr>
                        <a:t>%</a:t>
                      </a:r>
                    </a:p>
                  </a:txBody>
                  <a:tcPr>
                    <a:solidFill>
                      <a:srgbClr val="027F7C"/>
                    </a:solidFill>
                  </a:tcPr>
                </a:tc>
              </a:tr>
              <a:tr h="309676">
                <a:tc>
                  <a:txBody>
                    <a:bodyPr wrap="square"/>
                    <a:lstStyle/>
                    <a:p>
                      <a:pPr algn="l"/>
                      <a:r>
                        <a:rPr sz="1000" b="1">
                          <a:solidFill>
                            <a:srgbClr val="027F7C"/>
                          </a:solidFill>
                          <a:latin typeface="DM Sans"/>
                        </a:rPr>
                        <a:t>Targets create direction and momentum</a:t>
                      </a:r>
                      <a:r>
                        <a:rPr sz="1000" b="0">
                          <a:solidFill>
                            <a:srgbClr val="027F7C"/>
                          </a:solidFill>
                          <a:latin typeface="DM Sans"/>
                        </a:rPr>
                        <a:t>: Provides a clear goal and encourages progress.</a:t>
                      </a:r>
                    </a:p>
                  </a:txBody>
                  <a:tcPr>
                    <a:solidFill>
                      <a:srgbClr val="FFFFFF"/>
                    </a:solidFill>
                  </a:tcPr>
                </a:tc>
                <a:tc>
                  <a:txBody>
                    <a:bodyPr wrap="none"/>
                    <a:lstStyle/>
                    <a:p>
                      <a:pPr algn="ctr"/>
                      <a:r>
                        <a:rPr sz="1000" b="1">
                          <a:solidFill>
                            <a:srgbClr val="027F7C"/>
                          </a:solidFill>
                          <a:latin typeface="DM Sans"/>
                        </a:rPr>
                        <a:t>25%</a:t>
                      </a:r>
                    </a:p>
                  </a:txBody>
                  <a:tcPr>
                    <a:solidFill>
                      <a:srgbClr val="FFFFFF"/>
                    </a:solidFill>
                  </a:tcPr>
                </a:tc>
              </a:tr>
              <a:tr h="309676">
                <a:tc>
                  <a:txBody>
                    <a:bodyPr wrap="square"/>
                    <a:lstStyle/>
                    <a:p>
                      <a:pPr algn="l"/>
                      <a:r>
                        <a:rPr sz="1000" b="1">
                          <a:solidFill>
                            <a:srgbClr val="44546A"/>
                          </a:solidFill>
                          <a:latin typeface="DM Sans"/>
                        </a:rPr>
                        <a:t>“Right thing to do” / general support</a:t>
                      </a:r>
                      <a:r>
                        <a:rPr sz="1000" b="0">
                          <a:solidFill>
                            <a:srgbClr val="44546A"/>
                          </a:solidFill>
                          <a:latin typeface="DM Sans"/>
                        </a:rPr>
                        <a:t>: Values-based support without a specific reason.</a:t>
                      </a:r>
                    </a:p>
                  </a:txBody>
                  <a:tcPr>
                    <a:solidFill>
                      <a:srgbClr val="E6F8F9"/>
                    </a:solidFill>
                  </a:tcPr>
                </a:tc>
                <a:tc>
                  <a:txBody>
                    <a:bodyPr wrap="none"/>
                    <a:lstStyle/>
                    <a:p>
                      <a:pPr algn="ctr"/>
                      <a:r>
                        <a:rPr sz="1000" b="1">
                          <a:solidFill>
                            <a:srgbClr val="027F7C"/>
                          </a:solidFill>
                          <a:latin typeface="DM Sans"/>
                        </a:rPr>
                        <a:t>23%</a:t>
                      </a:r>
                    </a:p>
                  </a:txBody>
                  <a:tcPr>
                    <a:solidFill>
                      <a:srgbClr val="E6F8F9"/>
                    </a:solidFill>
                  </a:tcPr>
                </a:tc>
              </a:tr>
              <a:tr h="309676">
                <a:tc>
                  <a:txBody>
                    <a:bodyPr wrap="square"/>
                    <a:lstStyle/>
                    <a:p>
                      <a:pPr algn="l"/>
                      <a:r>
                        <a:rPr sz="1000" b="1">
                          <a:solidFill>
                            <a:srgbClr val="44546A"/>
                          </a:solidFill>
                          <a:latin typeface="DM Sans"/>
                        </a:rPr>
                        <a:t>Better environment and health outcomes</a:t>
                      </a:r>
                      <a:r>
                        <a:rPr sz="1000" b="0">
                          <a:solidFill>
                            <a:srgbClr val="44546A"/>
                          </a:solidFill>
                          <a:latin typeface="DM Sans"/>
                        </a:rPr>
                        <a:t>: Cleaner air, less pollution, and protecting ecosystems.</a:t>
                      </a:r>
                    </a:p>
                  </a:txBody>
                  <a:tcPr>
                    <a:solidFill>
                      <a:srgbClr val="FFFFFF"/>
                    </a:solidFill>
                  </a:tcPr>
                </a:tc>
                <a:tc>
                  <a:txBody>
                    <a:bodyPr wrap="none"/>
                    <a:lstStyle/>
                    <a:p>
                      <a:pPr algn="ctr"/>
                      <a:r>
                        <a:rPr sz="1000" b="1">
                          <a:solidFill>
                            <a:srgbClr val="44546A"/>
                          </a:solidFill>
                          <a:latin typeface="DM Sans"/>
                        </a:rPr>
                        <a:t>16%</a:t>
                      </a:r>
                    </a:p>
                  </a:txBody>
                  <a:tcPr>
                    <a:solidFill>
                      <a:srgbClr val="FFFFFF"/>
                    </a:solidFill>
                  </a:tcPr>
                </a:tc>
              </a:tr>
              <a:tr h="309676">
                <a:tc>
                  <a:txBody>
                    <a:bodyPr wrap="square"/>
                    <a:lstStyle/>
                    <a:p>
                      <a:pPr algn="l"/>
                      <a:r>
                        <a:rPr sz="1000" b="1">
                          <a:solidFill>
                            <a:srgbClr val="44546A"/>
                          </a:solidFill>
                          <a:latin typeface="DM Sans"/>
                        </a:rPr>
                        <a:t>Climate change and emissions reduction</a:t>
                      </a:r>
                      <a:r>
                        <a:rPr sz="1000" b="0">
                          <a:solidFill>
                            <a:srgbClr val="44546A"/>
                          </a:solidFill>
                          <a:latin typeface="DM Sans"/>
                        </a:rPr>
                        <a:t>: Cutting greenhouse gas emissions and addressing climate change.</a:t>
                      </a:r>
                    </a:p>
                  </a:txBody>
                  <a:tcPr>
                    <a:solidFill>
                      <a:srgbClr val="E6F8F9"/>
                    </a:solidFill>
                  </a:tcPr>
                </a:tc>
                <a:tc>
                  <a:txBody>
                    <a:bodyPr wrap="none"/>
                    <a:lstStyle/>
                    <a:p>
                      <a:pPr algn="ctr"/>
                      <a:r>
                        <a:rPr sz="1000" b="1">
                          <a:solidFill>
                            <a:srgbClr val="44546A"/>
                          </a:solidFill>
                          <a:latin typeface="DM Sans"/>
                        </a:rPr>
                        <a:t>14%</a:t>
                      </a:r>
                    </a:p>
                  </a:txBody>
                  <a:tcPr>
                    <a:solidFill>
                      <a:srgbClr val="E6F8F9"/>
                    </a:solidFill>
                  </a:tcPr>
                </a:tc>
              </a:tr>
              <a:tr h="309676">
                <a:tc>
                  <a:txBody>
                    <a:bodyPr wrap="square"/>
                    <a:lstStyle/>
                    <a:p>
                      <a:pPr algn="l"/>
                      <a:r>
                        <a:rPr sz="1000" b="1">
                          <a:solidFill>
                            <a:srgbClr val="44546A"/>
                          </a:solidFill>
                          <a:latin typeface="DM Sans"/>
                        </a:rPr>
                        <a:t>Reduce reliance on fossil fuels</a:t>
                      </a:r>
                      <a:r>
                        <a:rPr sz="1000" b="0">
                          <a:solidFill>
                            <a:srgbClr val="44546A"/>
                          </a:solidFill>
                          <a:latin typeface="DM Sans"/>
                        </a:rPr>
                        <a:t>: Accelerates the transition away from coal and gas.</a:t>
                      </a:r>
                    </a:p>
                  </a:txBody>
                  <a:tcPr>
                    <a:solidFill>
                      <a:srgbClr val="FFFFFF"/>
                    </a:solidFill>
                  </a:tcPr>
                </a:tc>
                <a:tc>
                  <a:txBody>
                    <a:bodyPr wrap="none"/>
                    <a:lstStyle/>
                    <a:p>
                      <a:pPr algn="ctr"/>
                      <a:r>
                        <a:rPr sz="1000" b="1">
                          <a:solidFill>
                            <a:srgbClr val="44546A"/>
                          </a:solidFill>
                          <a:latin typeface="DM Sans"/>
                        </a:rPr>
                        <a:t>11%</a:t>
                      </a:r>
                    </a:p>
                  </a:txBody>
                  <a:tcPr>
                    <a:solidFill>
                      <a:srgbClr val="FFFFFF"/>
                    </a:solidFill>
                  </a:tcPr>
                </a:tc>
              </a:tr>
              <a:tr h="309676">
                <a:tc>
                  <a:txBody>
                    <a:bodyPr wrap="square"/>
                    <a:lstStyle/>
                    <a:p>
                      <a:pPr algn="l"/>
                      <a:r>
                        <a:rPr sz="1000" b="1">
                          <a:solidFill>
                            <a:srgbClr val="44546A"/>
                          </a:solidFill>
                          <a:latin typeface="DM Sans"/>
                        </a:rPr>
                        <a:t>Accountability and measurement</a:t>
                      </a:r>
                      <a:r>
                        <a:rPr sz="1000" b="0">
                          <a:solidFill>
                            <a:srgbClr val="44546A"/>
                          </a:solidFill>
                          <a:latin typeface="DM Sans"/>
                        </a:rPr>
                        <a:t>: Enables progress tracking and holds government and industry accountable.</a:t>
                      </a:r>
                    </a:p>
                  </a:txBody>
                  <a:tcPr>
                    <a:solidFill>
                      <a:srgbClr val="E6F8F9"/>
                    </a:solidFill>
                  </a:tcPr>
                </a:tc>
                <a:tc>
                  <a:txBody>
                    <a:bodyPr wrap="none"/>
                    <a:lstStyle/>
                    <a:p>
                      <a:pPr algn="ctr"/>
                      <a:r>
                        <a:rPr sz="1000" b="1">
                          <a:solidFill>
                            <a:srgbClr val="44546A"/>
                          </a:solidFill>
                          <a:latin typeface="DM Sans"/>
                        </a:rPr>
                        <a:t>10%</a:t>
                      </a:r>
                    </a:p>
                  </a:txBody>
                  <a:tcPr>
                    <a:solidFill>
                      <a:srgbClr val="E6F8F9"/>
                    </a:solidFill>
                  </a:tcPr>
                </a:tc>
              </a:tr>
              <a:tr h="309676">
                <a:tc>
                  <a:txBody>
                    <a:bodyPr wrap="square"/>
                    <a:lstStyle/>
                    <a:p>
                      <a:pPr algn="l"/>
                      <a:r>
                        <a:rPr sz="1000" b="1">
                          <a:solidFill>
                            <a:srgbClr val="44546A"/>
                          </a:solidFill>
                          <a:latin typeface="DM Sans"/>
                        </a:rPr>
                        <a:t>Cost of living and cheaper power over time</a:t>
                      </a:r>
                      <a:r>
                        <a:rPr sz="1000" b="0">
                          <a:solidFill>
                            <a:srgbClr val="44546A"/>
                          </a:solidFill>
                          <a:latin typeface="DM Sans"/>
                        </a:rPr>
                        <a:t>: Expectation renewables will lower electricity costs.</a:t>
                      </a:r>
                    </a:p>
                  </a:txBody>
                  <a:tcPr>
                    <a:solidFill>
                      <a:srgbClr val="FFFFFF"/>
                    </a:solidFill>
                  </a:tcPr>
                </a:tc>
                <a:tc>
                  <a:txBody>
                    <a:bodyPr wrap="none"/>
                    <a:lstStyle/>
                    <a:p>
                      <a:pPr algn="ctr"/>
                      <a:r>
                        <a:rPr sz="1000" b="1">
                          <a:solidFill>
                            <a:srgbClr val="44546A"/>
                          </a:solidFill>
                          <a:latin typeface="DM Sans"/>
                        </a:rPr>
                        <a:t>10%</a:t>
                      </a:r>
                    </a:p>
                  </a:txBody>
                  <a:tcPr>
                    <a:solidFill>
                      <a:srgbClr val="FFFFFF"/>
                    </a:solidFill>
                  </a:tcPr>
                </a:tc>
              </a:tr>
              <a:tr h="309676">
                <a:tc>
                  <a:txBody>
                    <a:bodyPr wrap="square"/>
                    <a:lstStyle/>
                    <a:p>
                      <a:pPr algn="l"/>
                      <a:r>
                        <a:rPr sz="1000" b="1">
                          <a:solidFill>
                            <a:srgbClr val="44546A"/>
                          </a:solidFill>
                          <a:latin typeface="DM Sans"/>
                        </a:rPr>
                        <a:t>Future generations</a:t>
                      </a:r>
                      <a:r>
                        <a:rPr sz="1000" b="0">
                          <a:solidFill>
                            <a:srgbClr val="44546A"/>
                          </a:solidFill>
                          <a:latin typeface="DM Sans"/>
                        </a:rPr>
                        <a:t>: Ensuring a sustainable planet for children and future generations.</a:t>
                      </a:r>
                    </a:p>
                  </a:txBody>
                  <a:tcPr>
                    <a:solidFill>
                      <a:srgbClr val="E6F8F9"/>
                    </a:solidFill>
                  </a:tcPr>
                </a:tc>
                <a:tc>
                  <a:txBody>
                    <a:bodyPr wrap="none"/>
                    <a:lstStyle/>
                    <a:p>
                      <a:pPr algn="ctr"/>
                      <a:r>
                        <a:rPr sz="1000" b="1">
                          <a:solidFill>
                            <a:srgbClr val="44546A"/>
                          </a:solidFill>
                          <a:latin typeface="DM Sans"/>
                        </a:rPr>
                        <a:t>7%</a:t>
                      </a:r>
                    </a:p>
                  </a:txBody>
                  <a:tcPr>
                    <a:solidFill>
                      <a:srgbClr val="E6F8F9"/>
                    </a:solidFill>
                  </a:tcPr>
                </a:tc>
              </a:tr>
              <a:tr h="309676">
                <a:tc>
                  <a:txBody>
                    <a:bodyPr wrap="square"/>
                    <a:lstStyle/>
                    <a:p>
                      <a:pPr algn="l"/>
                      <a:r>
                        <a:rPr sz="1000" b="1">
                          <a:solidFill>
                            <a:srgbClr val="44546A"/>
                          </a:solidFill>
                          <a:latin typeface="DM Sans"/>
                        </a:rPr>
                        <a:t>Conditional support focused on feasibility</a:t>
                      </a:r>
                      <a:r>
                        <a:rPr sz="1000" b="0">
                          <a:solidFill>
                            <a:srgbClr val="44546A"/>
                          </a:solidFill>
                          <a:latin typeface="DM Sans"/>
                        </a:rPr>
                        <a:t>: Support depends on targets being realistic and affordable.</a:t>
                      </a:r>
                    </a:p>
                  </a:txBody>
                  <a:tcPr>
                    <a:solidFill>
                      <a:srgbClr val="FFFFFF"/>
                    </a:solidFill>
                  </a:tcPr>
                </a:tc>
                <a:tc>
                  <a:txBody>
                    <a:bodyPr wrap="none"/>
                    <a:lstStyle/>
                    <a:p>
                      <a:pPr algn="ctr"/>
                      <a:r>
                        <a:rPr sz="1000" b="1">
                          <a:solidFill>
                            <a:srgbClr val="44546A"/>
                          </a:solidFill>
                          <a:latin typeface="DM Sans"/>
                        </a:rPr>
                        <a:t>6%</a:t>
                      </a:r>
                    </a:p>
                  </a:txBody>
                  <a:tcPr>
                    <a:solidFill>
                      <a:srgbClr val="FFFFFF"/>
                    </a:solidFill>
                  </a:tcPr>
                </a:tc>
              </a:tr>
              <a:tr h="309676">
                <a:tc>
                  <a:txBody>
                    <a:bodyPr wrap="square"/>
                    <a:lstStyle/>
                    <a:p>
                      <a:pPr algn="l"/>
                      <a:r>
                        <a:rPr sz="1000" b="1">
                          <a:solidFill>
                            <a:srgbClr val="44546A"/>
                          </a:solidFill>
                          <a:latin typeface="DM Sans"/>
                        </a:rPr>
                        <a:t>Economic opportunity and jobs</a:t>
                      </a:r>
                      <a:r>
                        <a:rPr sz="1000" b="0">
                          <a:solidFill>
                            <a:srgbClr val="44546A"/>
                          </a:solidFill>
                          <a:latin typeface="DM Sans"/>
                        </a:rPr>
                        <a:t>: Supports new industries, economic growth, and job creation.</a:t>
                      </a:r>
                    </a:p>
                  </a:txBody>
                  <a:tcPr>
                    <a:solidFill>
                      <a:srgbClr val="E6F8F9"/>
                    </a:solidFill>
                  </a:tcPr>
                </a:tc>
                <a:tc>
                  <a:txBody>
                    <a:bodyPr wrap="none"/>
                    <a:lstStyle/>
                    <a:p>
                      <a:pPr algn="ctr"/>
                      <a:r>
                        <a:rPr sz="1000" b="1">
                          <a:solidFill>
                            <a:srgbClr val="44546A"/>
                          </a:solidFill>
                          <a:latin typeface="DM Sans"/>
                        </a:rPr>
                        <a:t>6%</a:t>
                      </a:r>
                    </a:p>
                  </a:txBody>
                  <a:tcPr>
                    <a:solidFill>
                      <a:srgbClr val="E6F8F9"/>
                    </a:solidFill>
                  </a:tcPr>
                </a:tc>
              </a:tr>
              <a:tr h="309676">
                <a:tc>
                  <a:txBody>
                    <a:bodyPr wrap="square"/>
                    <a:lstStyle/>
                    <a:p>
                      <a:pPr algn="l"/>
                      <a:r>
                        <a:rPr sz="1000" b="1">
                          <a:solidFill>
                            <a:srgbClr val="44546A"/>
                          </a:solidFill>
                          <a:latin typeface="DM Sans"/>
                        </a:rPr>
                        <a:t>Energy security and reliability</a:t>
                      </a:r>
                      <a:r>
                        <a:rPr sz="1000" b="0">
                          <a:solidFill>
                            <a:srgbClr val="44546A"/>
                          </a:solidFill>
                          <a:latin typeface="DM Sans"/>
                        </a:rPr>
                        <a:t>: Helps ensure stable and reliable energy supply.</a:t>
                      </a:r>
                    </a:p>
                  </a:txBody>
                  <a:tcPr>
                    <a:solidFill>
                      <a:srgbClr val="FFFFFF"/>
                    </a:solidFill>
                  </a:tcPr>
                </a:tc>
                <a:tc>
                  <a:txBody>
                    <a:bodyPr wrap="none"/>
                    <a:lstStyle/>
                    <a:p>
                      <a:pPr algn="ctr"/>
                      <a:r>
                        <a:rPr sz="1000" b="1">
                          <a:solidFill>
                            <a:srgbClr val="44546A"/>
                          </a:solidFill>
                          <a:latin typeface="DM Sans"/>
                        </a:rPr>
                        <a:t>6%</a:t>
                      </a:r>
                    </a:p>
                  </a:txBody>
                  <a:tcPr>
                    <a:solidFill>
                      <a:srgbClr val="FFFFFF"/>
                    </a:solidFill>
                  </a:tcPr>
                </a:tc>
              </a:tr>
              <a:tr h="309676">
                <a:tc>
                  <a:txBody>
                    <a:bodyPr wrap="square"/>
                    <a:lstStyle/>
                    <a:p>
                      <a:pPr algn="l"/>
                      <a:r>
                        <a:rPr sz="1000" b="1">
                          <a:solidFill>
                            <a:srgbClr val="44546A"/>
                          </a:solidFill>
                          <a:latin typeface="DM Sans"/>
                        </a:rPr>
                        <a:t>Dissatisfaction with politics or delivery</a:t>
                      </a:r>
                      <a:r>
                        <a:rPr sz="1000" b="0">
                          <a:solidFill>
                            <a:srgbClr val="44546A"/>
                          </a:solidFill>
                          <a:latin typeface="DM Sans"/>
                        </a:rPr>
                        <a:t>: Criticism of government action or speed of delivery.</a:t>
                      </a:r>
                    </a:p>
                  </a:txBody>
                  <a:tcPr>
                    <a:solidFill>
                      <a:srgbClr val="E6F8F9"/>
                    </a:solidFill>
                  </a:tcPr>
                </a:tc>
                <a:tc>
                  <a:txBody>
                    <a:bodyPr wrap="none"/>
                    <a:lstStyle/>
                    <a:p>
                      <a:pPr algn="ctr"/>
                      <a:r>
                        <a:rPr sz="1000" b="1">
                          <a:solidFill>
                            <a:srgbClr val="44546A"/>
                          </a:solidFill>
                          <a:latin typeface="DM Sans"/>
                        </a:rPr>
                        <a:t>5%</a:t>
                      </a:r>
                    </a:p>
                  </a:txBody>
                  <a:tcPr>
                    <a:solidFill>
                      <a:srgbClr val="E6F8F9"/>
                    </a:solidFill>
                  </a:tcPr>
                </a:tc>
              </a:tr>
              <a:tr h="309676">
                <a:tc>
                  <a:txBody>
                    <a:bodyPr wrap="square"/>
                    <a:lstStyle/>
                    <a:p>
                      <a:pPr algn="l"/>
                      <a:r>
                        <a:rPr sz="1000" b="1">
                          <a:solidFill>
                            <a:srgbClr val="44546A"/>
                          </a:solidFill>
                          <a:latin typeface="DM Sans"/>
                        </a:rPr>
                        <a:t>Certainty for planning and investment</a:t>
                      </a:r>
                      <a:r>
                        <a:rPr sz="1000" b="0">
                          <a:solidFill>
                            <a:srgbClr val="44546A"/>
                          </a:solidFill>
                          <a:latin typeface="DM Sans"/>
                        </a:rPr>
                        <a:t>: Provides clarity for long-term planning and investment.</a:t>
                      </a:r>
                    </a:p>
                  </a:txBody>
                  <a:tcPr>
                    <a:solidFill>
                      <a:srgbClr val="FFFFFF"/>
                    </a:solidFill>
                  </a:tcPr>
                </a:tc>
                <a:tc>
                  <a:txBody>
                    <a:bodyPr wrap="none"/>
                    <a:lstStyle/>
                    <a:p>
                      <a:pPr algn="ctr"/>
                      <a:r>
                        <a:rPr sz="1000" b="1">
                          <a:solidFill>
                            <a:srgbClr val="44546A"/>
                          </a:solidFill>
                          <a:latin typeface="DM Sans"/>
                        </a:rPr>
                        <a:t>4%</a:t>
                      </a:r>
                    </a:p>
                  </a:txBody>
                  <a:tcPr>
                    <a:solidFill>
                      <a:srgbClr val="FFFFFF"/>
                    </a:solidFill>
                  </a:tcPr>
                </a:tc>
              </a:tr>
              <a:tr h="309688">
                <a:tc>
                  <a:txBody>
                    <a:bodyPr wrap="square"/>
                    <a:lstStyle/>
                    <a:p>
                      <a:pPr algn="l"/>
                      <a:r>
                        <a:rPr sz="1000" b="1">
                          <a:solidFill>
                            <a:srgbClr val="44546A"/>
                          </a:solidFill>
                          <a:latin typeface="DM Sans"/>
                        </a:rPr>
                        <a:t>Unsure</a:t>
                      </a:r>
                    </a:p>
                  </a:txBody>
                  <a:tcPr>
                    <a:solidFill>
                      <a:srgbClr val="E6F8F9"/>
                    </a:solidFill>
                  </a:tcPr>
                </a:tc>
                <a:tc>
                  <a:txBody>
                    <a:bodyPr wrap="none"/>
                    <a:lstStyle/>
                    <a:p>
                      <a:pPr algn="ctr"/>
                      <a:r>
                        <a:rPr sz="1000" b="1">
                          <a:solidFill>
                            <a:srgbClr val="44546A"/>
                          </a:solidFill>
                          <a:latin typeface="DM Sans"/>
                        </a:rPr>
                        <a:t>4%</a:t>
                      </a:r>
                    </a:p>
                  </a:txBody>
                  <a:tcPr>
                    <a:solidFill>
                      <a:srgbClr val="E6F8F9"/>
                    </a:solidFill>
                  </a:tcPr>
                </a:tc>
              </a:tr>
            </a:tbl>
          </a:graphicData>
        </a:graphic>
      </p:graphicFrame>
      <p:sp>
        <p:nvSpPr>
          <p:cNvPr id="6" name="TextBox 5"/>
          <p:cNvSpPr txBox="1"/>
          <p:nvPr/>
        </p:nvSpPr>
        <p:spPr>
          <a:xfrm>
            <a:off x="1097280" y="6236208"/>
            <a:ext cx="10058400" cy="256032"/>
          </a:xfrm>
          <a:prstGeom prst="rect">
            <a:avLst/>
          </a:prstGeom>
          <a:noFill/>
        </p:spPr>
        <p:txBody>
          <a:bodyPr wrap="square">
            <a:spAutoFit/>
          </a:bodyPr>
          <a:lstStyle/>
          <a:p>
            <a:pPr algn="l"/>
            <a:r>
              <a:rPr sz="800" b="0" i="1">
                <a:solidFill>
                  <a:srgbClr val="44546A"/>
                </a:solidFill>
                <a:latin typeface="DM Sans"/>
              </a:rPr>
              <a:t>Base: those who support a target (n=626)</a:t>
            </a:r>
          </a:p>
        </p:txBody>
      </p:sp>
      <p:sp>
        <p:nvSpPr>
          <p:cNvPr id="7" name="Oval 6"/>
          <p:cNvSpPr/>
          <p:nvPr/>
        </p:nvSpPr>
        <p:spPr>
          <a:xfrm>
            <a:off x="11548872" y="6217920"/>
            <a:ext cx="274320" cy="274320"/>
          </a:xfrm>
          <a:prstGeom prst="ellipse">
            <a:avLst/>
          </a:prstGeom>
          <a:solidFill>
            <a:srgbClr val="027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548872" y="6250838"/>
            <a:ext cx="274320" cy="208483"/>
          </a:xfrm>
          <a:prstGeom prst="rect">
            <a:avLst/>
          </a:prstGeom>
          <a:noFill/>
        </p:spPr>
        <p:txBody>
          <a:bodyPr wrap="square">
            <a:spAutoFit/>
          </a:bodyPr>
          <a:lstStyle/>
          <a:p>
            <a:pPr algn="ctr"/>
            <a:r>
              <a:rPr sz="1000" b="1" i="0">
                <a:solidFill>
                  <a:srgbClr val="FFFFFF"/>
                </a:solidFill>
                <a:latin typeface="DM Sans"/>
              </a:rPr>
              <a:t>7</a:t>
            </a:r>
          </a:p>
        </p:txBody>
      </p:sp>
    </p:spTree>
  </p:cSld>
  <p:clrMapOvr>
    <a:masterClrMapping/>
  </p:clrMapOvr>
</p:sld>
</file>

<file path=ppt/theme/theme1.xml><?xml version="1.0" encoding="utf-8"?>
<a:theme xmlns:a="http://schemas.openxmlformats.org/drawingml/2006/main" name="Office Theme">
  <a:themeElements>
    <a:clrScheme name="Custom 4">
      <a:dk1>
        <a:sysClr val="windowText" lastClr="000000"/>
      </a:dk1>
      <a:lt1>
        <a:sysClr val="window" lastClr="FFFFFF"/>
      </a:lt1>
      <a:dk2>
        <a:srgbClr val="44546A"/>
      </a:dk2>
      <a:lt2>
        <a:srgbClr val="E7E6E6"/>
      </a:lt2>
      <a:accent1>
        <a:srgbClr val="027F7C"/>
      </a:accent1>
      <a:accent2>
        <a:srgbClr val="00BDBB"/>
      </a:accent2>
      <a:accent3>
        <a:srgbClr val="9BEFEF"/>
      </a:accent3>
      <a:accent4>
        <a:srgbClr val="F5C5C5"/>
      </a:accent4>
      <a:accent5>
        <a:srgbClr val="FA8488"/>
      </a:accent5>
      <a:accent6>
        <a:srgbClr val="A32015"/>
      </a:accent6>
      <a:hlink>
        <a:srgbClr val="0563C1"/>
      </a:hlink>
      <a:folHlink>
        <a:srgbClr val="954F72"/>
      </a:folHlink>
    </a:clrScheme>
    <a:fontScheme name="Custom 7">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EBE1FB6-EDD4-4FA0-A6F0-E90A0F9D24C3}" vid="{0C80A656-FDD7-420C-9C91-094203702F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7830C7-CCA5-4086-BC04-ABC4B37A3B3B}">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3C5F446F2FBA5499C3138717435CD8E" ma:contentTypeVersion="18" ma:contentTypeDescription="Create a new document." ma:contentTypeScope="" ma:versionID="da8ca0a730ae20e733c3b0b25bc9a0d9">
  <xsd:schema xmlns:xsd="http://www.w3.org/2001/XMLSchema" xmlns:xs="http://www.w3.org/2001/XMLSchema" xmlns:p="http://schemas.microsoft.com/office/2006/metadata/properties" xmlns:ns2="a58b19d8-c329-48bc-abec-075b6f6744d3" xmlns:ns3="7c7aad43-5b3e-48d2-bc31-bc60de2cb891" targetNamespace="http://schemas.microsoft.com/office/2006/metadata/properties" ma:root="true" ma:fieldsID="8e4deecbac5d9a897942519eaa3b4037" ns2:_="" ns3:_="">
    <xsd:import namespace="a58b19d8-c329-48bc-abec-075b6f6744d3"/>
    <xsd:import namespace="7c7aad43-5b3e-48d2-bc31-bc60de2cb89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8b19d8-c329-48bc-abec-075b6f6744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3a8ff67-effd-457f-a18e-d029b8810d9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c7aad43-5b3e-48d2-bc31-bc60de2cb89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900a275-e472-48ae-b0bc-40b06c3353e4}" ma:internalName="TaxCatchAll" ma:showField="CatchAllData" ma:web="7c7aad43-5b3e-48d2-bc31-bc60de2cb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8D2413-3D60-43ED-928E-01466A227BAC}">
  <ds:schemaRefs>
    <ds:schemaRef ds:uri="http://schemas.microsoft.com/sharepoint/v3/contenttype/forms"/>
  </ds:schemaRefs>
</ds:datastoreItem>
</file>

<file path=customXml/itemProps2.xml><?xml version="1.0" encoding="utf-8"?>
<ds:datastoreItem xmlns:ds="http://schemas.openxmlformats.org/officeDocument/2006/customXml" ds:itemID="{F625BB28-D861-49D6-8199-D4E94B77E7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8b19d8-c329-48bc-abec-075b6f6744d3"/>
    <ds:schemaRef ds:uri="7c7aad43-5b3e-48d2-bc31-bc60de2cb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TotalTime>
  <Words>4878</Words>
  <Application>Microsoft Office PowerPoint</Application>
  <PresentationFormat>Widescreen</PresentationFormat>
  <Paragraphs>698</Paragraphs>
  <Slides>59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DM Sans 14pt Medium</vt:lpstr>
      <vt:lpstr>DM Sans 14pt Light</vt:lpstr>
      <vt:lpstr>DM Sans</vt:lpstr>
      <vt:lpstr>Arial</vt:lpstr>
      <vt:lpstr>Calibri</vt:lpstr>
      <vt:lpstr>PT Serif</vt:lpstr>
      <vt:lpstr>DM Sans 14pt</vt:lpstr>
      <vt:lpstr>DM Sans 14pt SemiBold</vt:lpstr>
      <vt:lpstr>Office Theme</vt:lpstr>
      <vt:lpstr>Title Survey report</vt:lpstr>
      <vt:lpstr>PowerPoint Presentation</vt:lpstr>
      <vt:lpstr>PowerPoint Presentation</vt:lpstr>
      <vt:lpstr>PowerPoint Presentation</vt:lpstr>
      <vt:lpstr>PowerPoint Presentation</vt:lpstr>
      <vt:lpstr>PowerPoint Presentation</vt:lpstr>
      <vt:lpstr>SLIDES I USE</vt:lpstr>
      <vt:lpstr>Tracking (2-4 periods) – 2 responses + unsure</vt:lpstr>
      <vt:lpstr>Tracking (2-4 periods) – 4 point scale</vt:lpstr>
      <vt:lpstr>Tracking (2-4 periods) – 5 point scale</vt:lpstr>
      <vt:lpstr>2 point scale + binary</vt:lpstr>
      <vt:lpstr>2 point scale + unsure with longer responses</vt:lpstr>
      <vt:lpstr>4 point scale</vt:lpstr>
      <vt:lpstr>Non-scale multiple responses</vt:lpstr>
      <vt:lpstr>Most/ second most</vt:lpstr>
      <vt:lpstr>4 point grid question – bidirectional</vt:lpstr>
      <vt:lpstr>4 point grid question – bidirectional (large)</vt:lpstr>
      <vt:lpstr>5 point grid question – bidirectional</vt:lpstr>
      <vt:lpstr>4 point grid question – monodirectional</vt:lpstr>
      <vt:lpstr>4 point - column</vt:lpstr>
      <vt:lpstr>Stacked bar vertical</vt:lpstr>
      <vt:lpstr>Tracking cluster bars</vt:lpstr>
      <vt:lpstr>Total by dem</vt:lpstr>
      <vt:lpstr>Totals by vote</vt:lpstr>
      <vt:lpstr>Stacked column with total</vt:lpstr>
      <vt:lpstr>Tracking - line</vt:lpstr>
      <vt:lpstr>Commentary - 1  </vt:lpstr>
      <vt:lpstr>Methodology</vt:lpstr>
      <vt:lpstr>TITLE PAGES</vt:lpstr>
      <vt:lpstr>What we do</vt:lpstr>
      <vt:lpstr>PowerPoint Presentation</vt:lpstr>
      <vt:lpstr>Quant: Daily tracking omnibus</vt:lpstr>
      <vt:lpstr>Quant: Standalones and segmentations</vt:lpstr>
      <vt:lpstr>Qualitative research options</vt:lpstr>
      <vt:lpstr>Our experience spans a wide range of sectors globally including politics, infrastructure, energy, transport, the primary sector, financial services, and public policy.  Talbot Mills Research principals, David Talbot and Stephen Mills, have had roles in strategy at the highest levels of politics and business.   David was pollster to New Zealand Prime Minister Jacinda Ardern, and now works for a range of Australian Federal and State political leaders as well as decision-makers in many listed companies.  As a firm, Talbot Mills Research is regularly cited in international media and have been the most accurate pollsters in many Australasian races. </vt:lpstr>
      <vt:lpstr>Our experience spans a wide range of sectors globally including politics, infrastructure, energy, transport, the primary sector, financial services, and public policy.  Talbot Mills Research principals, David Talbot and Stephen Mills, have had roles in strategy at the highest levels of politics and business.   David was pollster to New Zealand Prime Minister Jacinda Ardern, and now works for a range of Australian Federal and State political leaders as well as decision-makers in many listed companies.  As a firm, Talbot Mills Research is regularly cited in international media and have been the most accurate pollsters in many Australasian races. </vt:lpstr>
      <vt:lpstr>Title page header</vt:lpstr>
      <vt:lpstr>Headline here</vt:lpstr>
      <vt:lpstr>CHAPTER SLIDES</vt:lpstr>
      <vt:lpstr>Chapter Highlight</vt:lpstr>
      <vt:lpstr>Chapter  Highlight</vt:lpstr>
      <vt:lpstr>Other quant slides</vt:lpstr>
      <vt:lpstr>Impact on job</vt:lpstr>
      <vt:lpstr>Job security</vt:lpstr>
      <vt:lpstr>Headline here</vt:lpstr>
      <vt:lpstr>Impact on job</vt:lpstr>
      <vt:lpstr>Impact on job</vt:lpstr>
      <vt:lpstr>AI usage</vt:lpstr>
      <vt:lpstr>AI: Useful vs. serious risk</vt:lpstr>
      <vt:lpstr>QUOTE PAGES</vt:lpstr>
      <vt:lpstr>Positive media</vt:lpstr>
      <vt:lpstr>Negative media</vt:lpstr>
      <vt:lpstr>INFORMATION HEAVY PAGES</vt:lpstr>
      <vt:lpstr>Methodology</vt:lpstr>
      <vt:lpstr>Headline here</vt:lpstr>
      <vt:lpstr>Headline here</vt:lpstr>
      <vt:lpstr>Headline here</vt:lpstr>
      <vt:lpstr>Headline here</vt:lpstr>
      <vt:lpstr>Report prepared by Name for Talbot Mills Research name@talbotmillsresearch.com.au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Butt</dc:creator>
  <cp:lastModifiedBy>Thomas Butt</cp:lastModifiedBy>
  <cp:revision>1</cp:revision>
  <cp:lastPrinted>2024-02-11T21:53:43Z</cp:lastPrinted>
  <dcterms:created xsi:type="dcterms:W3CDTF">2026-03-15T01:04:19Z</dcterms:created>
  <dcterms:modified xsi:type="dcterms:W3CDTF">2026-03-15T01:07:31Z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2024-04-07T22:55:15Z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3a5faf02-d29f-4791-8e6c-cf518a6c9b50</vt:lpwstr>
  </property>
  <property fmtid="{D5CDD505-2E9C-101B-9397-08002B2CF9AE}" pid="7" name="MSIP_Label_defa4170-0d19-0005-0004-bc88714345d2_ActionId">
    <vt:lpwstr>015225aa-059c-4828-ba1b-906718064d94</vt:lpwstr>
  </property>
  <property fmtid="{D5CDD505-2E9C-101B-9397-08002B2CF9AE}" pid="8" name="MSIP_Label_defa4170-0d19-0005-0004-bc88714345d2_ContentBits">
    <vt:lpwstr>0</vt:lpwstr>
  </property>
</Properties>
</file>