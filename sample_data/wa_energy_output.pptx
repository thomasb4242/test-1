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 id="267" r:id="rId39"/>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For each of the following, how bad do you think using the following energy types are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10515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TextBox 5"/>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And how likely do you think these following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10515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There has been discussion about the WA government setting a target for the generation of renewable energy. 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Oval 5"/>
          <p:cNvSpPr/>
          <p:nvPr/>
        </p:nvSpPr>
        <p:spPr>
          <a:xfrm>
            <a:off x="4676933" y="2440131"/>
            <a:ext cx="928737" cy="92873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6933" y="2495855"/>
            <a:ext cx="928737" cy="48294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91186" y="2960224"/>
            <a:ext cx="1300232" cy="352920"/>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261" y="4034464"/>
            <a:ext cx="835864" cy="835864"/>
          </a:xfrm>
          <a:prstGeom prst="ellipse">
            <a:avLst/>
          </a:prstGeom>
          <a:solidFill>
            <a:srgbClr val="FA8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261" y="4084616"/>
            <a:ext cx="835864" cy="434649"/>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7088" y="4502548"/>
            <a:ext cx="1170209" cy="317628"/>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920240"/>
            <a:ext cx="5303520" cy="4114800"/>
          </a:xfrm>
          <a:prstGeom prst="rect">
            <a:avLst/>
          </a:prstGeom>
        </p:spPr>
      </p:pic>
      <p:sp>
        <p:nvSpPr>
          <p:cNvPr id="6" name="TextBox 5"/>
          <p:cNvSpPr txBox="1"/>
          <p:nvPr/>
        </p:nvSpPr>
        <p:spPr>
          <a:xfrm>
            <a:off x="7379208" y="1920240"/>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reason for supporting a renewable energy target</a:t>
            </a:r>
          </a:p>
        </p:txBody>
      </p:sp>
      <p:sp>
        <p:nvSpPr>
          <p:cNvPr id="3" name="Text Placeholder 2"/>
          <p:cNvSpPr>
            <a:spLocks noGrp="1"/>
          </p:cNvSpPr>
          <p:nvPr>
            <p:ph type="body" idx="21" sz="quarter"/>
          </p:nvPr>
        </p:nvSpPr>
        <p:spPr/>
        <p:txBody>
          <a:bodyPr/>
          <a:lstStyle/>
          <a:p>
            <a:r>
              <a:t>What is the main reason for supporting a target? (%, among supporters)</a:t>
            </a:r>
          </a:p>
        </p:txBody>
      </p:sp>
      <p:sp>
        <p:nvSpPr>
          <p:cNvPr id="4" name="Text Placeholder 3"/>
          <p:cNvSpPr>
            <a:spLocks noGrp="1"/>
          </p:cNvSpPr>
          <p:nvPr>
            <p:ph type="body" idx="22" sz="quarter"/>
          </p:nvPr>
        </p:nvSpPr>
        <p:spPr/>
        <p:txBody>
          <a:bodyPr/>
          <a:lstStyle/>
          <a:p>
            <a:r>
              <a:t>Base: those who support a target (n=626)</a:t>
            </a:r>
          </a:p>
        </p:txBody>
      </p:sp>
      <p:sp>
        <p:nvSpPr>
          <p:cNvPr id="5" name="Text Placeholder 4"/>
          <p:cNvSpPr>
            <a:spLocks noGrp="1"/>
          </p:cNvSpPr>
          <p:nvPr>
            <p:ph type="body" idx="2" sz="half"/>
          </p:nvPr>
        </p:nvSpPr>
        <p:spPr/>
        <p:txBody>
          <a:bodyPr/>
          <a:lstStyle/>
          <a:p/>
        </p:txBody>
      </p:sp>
      <p:sp>
        <p:nvSpPr>
          <p:cNvPr id="6" name="Text Placeholder 5"/>
          <p:cNvSpPr>
            <a:spLocks noGrp="1"/>
          </p:cNvSpPr>
          <p:nvPr>
            <p:ph type="body" idx="23" sz="half"/>
          </p:nvPr>
        </p:nvSpPr>
        <p:spPr/>
        <p:txBody>
          <a:bodyPr/>
          <a:lstStyle/>
          <a:p/>
        </p:txBody>
      </p:sp>
      <p:graphicFrame>
        <p:nvGraphicFramePr>
          <p:cNvPr id="7" name="Table 6"/>
          <p:cNvGraphicFramePr>
            <a:graphicFrameLocks noGrp="1"/>
          </p:cNvGraphicFramePr>
          <p:nvPr/>
        </p:nvGraphicFramePr>
        <p:xfrm>
          <a:off x="310896" y="1920240"/>
          <a:ext cx="11512295" cy="4434840"/>
        </p:xfrm>
        <a:graphic>
          <a:graphicData uri="http://schemas.openxmlformats.org/drawingml/2006/table">
            <a:tbl>
              <a:tblPr firstRow="1" bandRow="1">
                <a:tableStyleId>{5C22544A-7EE6-4342-B048-85BDC9FD1C3A}</a:tableStyleId>
              </a:tblPr>
              <a:tblGrid>
                <a:gridCol w="9785451"/>
                <a:gridCol w="1726844"/>
              </a:tblGrid>
              <a:tr h="29565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295656">
                <a:tc>
                  <a:txBody>
                    <a:bodyPr wrap="square"/>
                    <a:lstStyle/>
                    <a:p>
                      <a:pPr algn="l"/>
                      <a:r>
                        <a:rPr sz="1400" b="1">
                          <a:solidFill>
                            <a:srgbClr val="1A1A1A"/>
                          </a:solidFill>
                          <a:latin typeface="DM Sans"/>
                        </a:rPr>
                        <a:t>Targets create direction and momentum</a:t>
                      </a:r>
                      <a:r>
                        <a:rPr sz="1400" b="0">
                          <a:solidFill>
                            <a:srgbClr val="1A1A1A"/>
                          </a:solidFill>
                          <a:latin typeface="DM Sans"/>
                        </a:rPr>
                        <a:t>: Provides a clear goal and encourages progress.</a:t>
                      </a:r>
                    </a:p>
                  </a:txBody>
                  <a:tcPr>
                    <a:solidFill>
                      <a:srgbClr val="FFFFFF"/>
                    </a:solidFill>
                  </a:tcPr>
                </a:tc>
                <a:tc>
                  <a:txBody>
                    <a:bodyPr wrap="none"/>
                    <a:lstStyle/>
                    <a:p>
                      <a:pPr algn="ctr"/>
                      <a:r>
                        <a:rPr sz="1400" b="1">
                          <a:solidFill>
                            <a:srgbClr val="1A1A1A"/>
                          </a:solidFill>
                          <a:latin typeface="DM Sans"/>
                        </a:rPr>
                        <a:t>25%</a:t>
                      </a:r>
                    </a:p>
                  </a:txBody>
                  <a:tcPr>
                    <a:solidFill>
                      <a:srgbClr val="FFFFFF"/>
                    </a:solidFill>
                  </a:tcPr>
                </a:tc>
              </a:tr>
              <a:tr h="295656">
                <a:tc>
                  <a:txBody>
                    <a:bodyPr wrap="square"/>
                    <a:lstStyle/>
                    <a:p>
                      <a:pPr algn="l"/>
                      <a:r>
                        <a:rPr sz="1400" b="1">
                          <a:solidFill>
                            <a:srgbClr val="1A1A1A"/>
                          </a:solidFill>
                          <a:latin typeface="DM Sans"/>
                        </a:rPr>
                        <a:t>“Right thing to do” / general support</a:t>
                      </a:r>
                      <a:r>
                        <a:rPr sz="1400" b="0">
                          <a:solidFill>
                            <a:srgbClr val="1A1A1A"/>
                          </a:solidFill>
                          <a:latin typeface="DM Sans"/>
                        </a:rPr>
                        <a:t>: Values-based support without a specific reason.</a:t>
                      </a:r>
                    </a:p>
                  </a:txBody>
                  <a:tcPr>
                    <a:solidFill>
                      <a:srgbClr val="E6F8F9"/>
                    </a:solidFill>
                  </a:tcPr>
                </a:tc>
                <a:tc>
                  <a:txBody>
                    <a:bodyPr wrap="none"/>
                    <a:lstStyle/>
                    <a:p>
                      <a:pPr algn="ctr"/>
                      <a:r>
                        <a:rPr sz="1400" b="1">
                          <a:solidFill>
                            <a:srgbClr val="1A1A1A"/>
                          </a:solidFill>
                          <a:latin typeface="DM Sans"/>
                        </a:rPr>
                        <a:t>23%</a:t>
                      </a:r>
                    </a:p>
                  </a:txBody>
                  <a:tcPr>
                    <a:solidFill>
                      <a:srgbClr val="E6F8F9"/>
                    </a:solidFill>
                  </a:tcPr>
                </a:tc>
              </a:tr>
              <a:tr h="295656">
                <a:tc>
                  <a:txBody>
                    <a:bodyPr wrap="square"/>
                    <a:lstStyle/>
                    <a:p>
                      <a:pPr algn="l"/>
                      <a:r>
                        <a:rPr sz="1400" b="1">
                          <a:solidFill>
                            <a:srgbClr val="1A1A1A"/>
                          </a:solidFill>
                          <a:latin typeface="DM Sans"/>
                        </a:rPr>
                        <a:t>Better environment and health outcomes</a:t>
                      </a:r>
                      <a:r>
                        <a:rPr sz="1400" b="0">
                          <a:solidFill>
                            <a:srgbClr val="1A1A1A"/>
                          </a:solidFill>
                          <a:latin typeface="DM Sans"/>
                        </a:rPr>
                        <a:t>: Cleaner air, less pollution, and protecting ecosystems.</a:t>
                      </a:r>
                    </a:p>
                  </a:txBody>
                  <a:tcPr>
                    <a:solidFill>
                      <a:srgbClr val="FFFFFF"/>
                    </a:solidFill>
                  </a:tcPr>
                </a:tc>
                <a:tc>
                  <a:txBody>
                    <a:bodyPr wrap="none"/>
                    <a:lstStyle/>
                    <a:p>
                      <a:pPr algn="ctr"/>
                      <a:r>
                        <a:rPr sz="1400" b="1">
                          <a:solidFill>
                            <a:srgbClr val="1A1A1A"/>
                          </a:solidFill>
                          <a:latin typeface="DM Sans"/>
                        </a:rPr>
                        <a:t>16%</a:t>
                      </a:r>
                    </a:p>
                  </a:txBody>
                  <a:tcPr>
                    <a:solidFill>
                      <a:srgbClr val="FFFFFF"/>
                    </a:solidFill>
                  </a:tcPr>
                </a:tc>
              </a:tr>
              <a:tr h="295656">
                <a:tc>
                  <a:txBody>
                    <a:bodyPr wrap="square"/>
                    <a:lstStyle/>
                    <a:p>
                      <a:pPr algn="l"/>
                      <a:r>
                        <a:rPr sz="1400" b="1">
                          <a:solidFill>
                            <a:srgbClr val="1A1A1A"/>
                          </a:solidFill>
                          <a:latin typeface="DM Sans"/>
                        </a:rPr>
                        <a:t>Climate change and emissions reduction</a:t>
                      </a:r>
                      <a:r>
                        <a:rPr sz="1400" b="0">
                          <a:solidFill>
                            <a:srgbClr val="1A1A1A"/>
                          </a:solidFill>
                          <a:latin typeface="DM Sans"/>
                        </a:rPr>
                        <a:t>: Cutting greenhouse gas emissions and addressing climate change.</a:t>
                      </a:r>
                    </a:p>
                  </a:txBody>
                  <a:tcPr>
                    <a:solidFill>
                      <a:srgbClr val="E6F8F9"/>
                    </a:solidFill>
                  </a:tcPr>
                </a:tc>
                <a:tc>
                  <a:txBody>
                    <a:bodyPr wrap="none"/>
                    <a:lstStyle/>
                    <a:p>
                      <a:pPr algn="ctr"/>
                      <a:r>
                        <a:rPr sz="1400" b="1">
                          <a:solidFill>
                            <a:srgbClr val="1A1A1A"/>
                          </a:solidFill>
                          <a:latin typeface="DM Sans"/>
                        </a:rPr>
                        <a:t>14%</a:t>
                      </a:r>
                    </a:p>
                  </a:txBody>
                  <a:tcPr>
                    <a:solidFill>
                      <a:srgbClr val="E6F8F9"/>
                    </a:solidFill>
                  </a:tcPr>
                </a:tc>
              </a:tr>
              <a:tr h="295656">
                <a:tc>
                  <a:txBody>
                    <a:bodyPr wrap="square"/>
                    <a:lstStyle/>
                    <a:p>
                      <a:pPr algn="l"/>
                      <a:r>
                        <a:rPr sz="1400" b="1">
                          <a:solidFill>
                            <a:srgbClr val="1A1A1A"/>
                          </a:solidFill>
                          <a:latin typeface="DM Sans"/>
                        </a:rPr>
                        <a:t>Reduce reliance on fossil fuels</a:t>
                      </a:r>
                      <a:r>
                        <a:rPr sz="1400" b="0">
                          <a:solidFill>
                            <a:srgbClr val="1A1A1A"/>
                          </a:solidFill>
                          <a:latin typeface="DM Sans"/>
                        </a:rPr>
                        <a:t>: Accelerates the transition away from coal and gas.</a:t>
                      </a:r>
                    </a:p>
                  </a:txBody>
                  <a:tcPr>
                    <a:solidFill>
                      <a:srgbClr val="FFFFFF"/>
                    </a:solidFill>
                  </a:tcPr>
                </a:tc>
                <a:tc>
                  <a:txBody>
                    <a:bodyPr wrap="none"/>
                    <a:lstStyle/>
                    <a:p>
                      <a:pPr algn="ctr"/>
                      <a:r>
                        <a:rPr sz="1400" b="1">
                          <a:solidFill>
                            <a:srgbClr val="1A1A1A"/>
                          </a:solidFill>
                          <a:latin typeface="DM Sans"/>
                        </a:rPr>
                        <a:t>11%</a:t>
                      </a:r>
                    </a:p>
                  </a:txBody>
                  <a:tcPr>
                    <a:solidFill>
                      <a:srgbClr val="FFFFFF"/>
                    </a:solidFill>
                  </a:tcPr>
                </a:tc>
              </a:tr>
              <a:tr h="295656">
                <a:tc>
                  <a:txBody>
                    <a:bodyPr wrap="square"/>
                    <a:lstStyle/>
                    <a:p>
                      <a:pPr algn="l"/>
                      <a:r>
                        <a:rPr sz="1400" b="1">
                          <a:solidFill>
                            <a:srgbClr val="1A1A1A"/>
                          </a:solidFill>
                          <a:latin typeface="DM Sans"/>
                        </a:rPr>
                        <a:t>Accountability and measurement</a:t>
                      </a:r>
                      <a:r>
                        <a:rPr sz="1400" b="0">
                          <a:solidFill>
                            <a:srgbClr val="1A1A1A"/>
                          </a:solidFill>
                          <a:latin typeface="DM Sans"/>
                        </a:rPr>
                        <a:t>: Enables progress tracking and holds government and industry accountable.</a:t>
                      </a:r>
                    </a:p>
                  </a:txBody>
                  <a:tcPr>
                    <a:solidFill>
                      <a:srgbClr val="E6F8F9"/>
                    </a:solidFill>
                  </a:tcPr>
                </a:tc>
                <a:tc>
                  <a:txBody>
                    <a:bodyPr wrap="none"/>
                    <a:lstStyle/>
                    <a:p>
                      <a:pPr algn="ctr"/>
                      <a:r>
                        <a:rPr sz="1400" b="1">
                          <a:solidFill>
                            <a:srgbClr val="1A1A1A"/>
                          </a:solidFill>
                          <a:latin typeface="DM Sans"/>
                        </a:rPr>
                        <a:t>10%</a:t>
                      </a:r>
                    </a:p>
                  </a:txBody>
                  <a:tcPr>
                    <a:solidFill>
                      <a:srgbClr val="E6F8F9"/>
                    </a:solidFill>
                  </a:tcPr>
                </a:tc>
              </a:tr>
              <a:tr h="295656">
                <a:tc>
                  <a:txBody>
                    <a:bodyPr wrap="square"/>
                    <a:lstStyle/>
                    <a:p>
                      <a:pPr algn="l"/>
                      <a:r>
                        <a:rPr sz="1400" b="1">
                          <a:solidFill>
                            <a:srgbClr val="1A1A1A"/>
                          </a:solidFill>
                          <a:latin typeface="DM Sans"/>
                        </a:rPr>
                        <a:t>Cost of living and cheaper power over time</a:t>
                      </a:r>
                      <a:r>
                        <a:rPr sz="1400" b="0">
                          <a:solidFill>
                            <a:srgbClr val="1A1A1A"/>
                          </a:solidFill>
                          <a:latin typeface="DM Sans"/>
                        </a:rPr>
                        <a:t>: Expectation renewables will lower electricity costs.</a:t>
                      </a:r>
                    </a:p>
                  </a:txBody>
                  <a:tcPr>
                    <a:solidFill>
                      <a:srgbClr val="FFFFFF"/>
                    </a:solidFill>
                  </a:tcPr>
                </a:tc>
                <a:tc>
                  <a:txBody>
                    <a:bodyPr wrap="none"/>
                    <a:lstStyle/>
                    <a:p>
                      <a:pPr algn="ctr"/>
                      <a:r>
                        <a:rPr sz="1400" b="1">
                          <a:solidFill>
                            <a:srgbClr val="1A1A1A"/>
                          </a:solidFill>
                          <a:latin typeface="DM Sans"/>
                        </a:rPr>
                        <a:t>10%</a:t>
                      </a:r>
                    </a:p>
                  </a:txBody>
                  <a:tcPr>
                    <a:solidFill>
                      <a:srgbClr val="FFFFFF"/>
                    </a:solidFill>
                  </a:tcPr>
                </a:tc>
              </a:tr>
              <a:tr h="295656">
                <a:tc>
                  <a:txBody>
                    <a:bodyPr wrap="square"/>
                    <a:lstStyle/>
                    <a:p>
                      <a:pPr algn="l"/>
                      <a:r>
                        <a:rPr sz="1400" b="1">
                          <a:solidFill>
                            <a:srgbClr val="1A1A1A"/>
                          </a:solidFill>
                          <a:latin typeface="DM Sans"/>
                        </a:rPr>
                        <a:t>Future generations</a:t>
                      </a:r>
                      <a:r>
                        <a:rPr sz="1400" b="0">
                          <a:solidFill>
                            <a:srgbClr val="1A1A1A"/>
                          </a:solidFill>
                          <a:latin typeface="DM Sans"/>
                        </a:rPr>
                        <a:t>: Ensuring a sustainable planet for children and future generations.</a:t>
                      </a:r>
                    </a:p>
                  </a:txBody>
                  <a:tcPr>
                    <a:solidFill>
                      <a:srgbClr val="E6F8F9"/>
                    </a:solidFill>
                  </a:tcPr>
                </a:tc>
                <a:tc>
                  <a:txBody>
                    <a:bodyPr wrap="none"/>
                    <a:lstStyle/>
                    <a:p>
                      <a:pPr algn="ctr"/>
                      <a:r>
                        <a:rPr sz="1400" b="1">
                          <a:solidFill>
                            <a:srgbClr val="1A1A1A"/>
                          </a:solidFill>
                          <a:latin typeface="DM Sans"/>
                        </a:rPr>
                        <a:t>7%</a:t>
                      </a:r>
                    </a:p>
                  </a:txBody>
                  <a:tcPr>
                    <a:solidFill>
                      <a:srgbClr val="E6F8F9"/>
                    </a:solidFill>
                  </a:tcPr>
                </a:tc>
              </a:tr>
              <a:tr h="295656">
                <a:tc>
                  <a:txBody>
                    <a:bodyPr wrap="square"/>
                    <a:lstStyle/>
                    <a:p>
                      <a:pPr algn="l"/>
                      <a:r>
                        <a:rPr sz="1400" b="1">
                          <a:solidFill>
                            <a:srgbClr val="1A1A1A"/>
                          </a:solidFill>
                          <a:latin typeface="DM Sans"/>
                        </a:rPr>
                        <a:t>Conditional support focused on feasibility</a:t>
                      </a:r>
                      <a:r>
                        <a:rPr sz="1400" b="0">
                          <a:solidFill>
                            <a:srgbClr val="1A1A1A"/>
                          </a:solidFill>
                          <a:latin typeface="DM Sans"/>
                        </a:rPr>
                        <a:t>: Support depends on targets being realistic and affordable.</a:t>
                      </a:r>
                    </a:p>
                  </a:txBody>
                  <a:tcPr>
                    <a:solidFill>
                      <a:srgbClr val="FFFFFF"/>
                    </a:solidFill>
                  </a:tcPr>
                </a:tc>
                <a:tc>
                  <a:txBody>
                    <a:bodyPr wrap="none"/>
                    <a:lstStyle/>
                    <a:p>
                      <a:pPr algn="ctr"/>
                      <a:r>
                        <a:rPr sz="1400" b="1">
                          <a:solidFill>
                            <a:srgbClr val="1A1A1A"/>
                          </a:solidFill>
                          <a:latin typeface="DM Sans"/>
                        </a:rPr>
                        <a:t>6%</a:t>
                      </a:r>
                    </a:p>
                  </a:txBody>
                  <a:tcPr>
                    <a:solidFill>
                      <a:srgbClr val="FFFFFF"/>
                    </a:solidFill>
                  </a:tcPr>
                </a:tc>
              </a:tr>
              <a:tr h="295656">
                <a:tc>
                  <a:txBody>
                    <a:bodyPr wrap="square"/>
                    <a:lstStyle/>
                    <a:p>
                      <a:pPr algn="l"/>
                      <a:r>
                        <a:rPr sz="1400" b="1">
                          <a:solidFill>
                            <a:srgbClr val="1A1A1A"/>
                          </a:solidFill>
                          <a:latin typeface="DM Sans"/>
                        </a:rPr>
                        <a:t>Economic opportunity and jobs</a:t>
                      </a:r>
                      <a:r>
                        <a:rPr sz="1400" b="0">
                          <a:solidFill>
                            <a:srgbClr val="1A1A1A"/>
                          </a:solidFill>
                          <a:latin typeface="DM Sans"/>
                        </a:rPr>
                        <a:t>: Supports new industries, economic growth, and job creation.</a:t>
                      </a:r>
                    </a:p>
                  </a:txBody>
                  <a:tcPr>
                    <a:solidFill>
                      <a:srgbClr val="E6F8F9"/>
                    </a:solidFill>
                  </a:tcPr>
                </a:tc>
                <a:tc>
                  <a:txBody>
                    <a:bodyPr wrap="none"/>
                    <a:lstStyle/>
                    <a:p>
                      <a:pPr algn="ctr"/>
                      <a:r>
                        <a:rPr sz="1400" b="1">
                          <a:solidFill>
                            <a:srgbClr val="1A1A1A"/>
                          </a:solidFill>
                          <a:latin typeface="DM Sans"/>
                        </a:rPr>
                        <a:t>6%</a:t>
                      </a:r>
                    </a:p>
                  </a:txBody>
                  <a:tcPr>
                    <a:solidFill>
                      <a:srgbClr val="E6F8F9"/>
                    </a:solidFill>
                  </a:tcPr>
                </a:tc>
              </a:tr>
              <a:tr h="295656">
                <a:tc>
                  <a:txBody>
                    <a:bodyPr wrap="square"/>
                    <a:lstStyle/>
                    <a:p>
                      <a:pPr algn="l"/>
                      <a:r>
                        <a:rPr sz="1400" b="1">
                          <a:solidFill>
                            <a:srgbClr val="1A1A1A"/>
                          </a:solidFill>
                          <a:latin typeface="DM Sans"/>
                        </a:rPr>
                        <a:t>Energy security and reliability</a:t>
                      </a:r>
                      <a:r>
                        <a:rPr sz="1400" b="0">
                          <a:solidFill>
                            <a:srgbClr val="1A1A1A"/>
                          </a:solidFill>
                          <a:latin typeface="DM Sans"/>
                        </a:rPr>
                        <a:t>: Helps ensure stable and reliable energy supply.</a:t>
                      </a:r>
                    </a:p>
                  </a:txBody>
                  <a:tcPr>
                    <a:solidFill>
                      <a:srgbClr val="FFFFFF"/>
                    </a:solidFill>
                  </a:tcPr>
                </a:tc>
                <a:tc>
                  <a:txBody>
                    <a:bodyPr wrap="none"/>
                    <a:lstStyle/>
                    <a:p>
                      <a:pPr algn="ctr"/>
                      <a:r>
                        <a:rPr sz="1400" b="1">
                          <a:solidFill>
                            <a:srgbClr val="1A1A1A"/>
                          </a:solidFill>
                          <a:latin typeface="DM Sans"/>
                        </a:rPr>
                        <a:t>6%</a:t>
                      </a:r>
                    </a:p>
                  </a:txBody>
                  <a:tcPr>
                    <a:solidFill>
                      <a:srgbClr val="FFFFFF"/>
                    </a:solidFill>
                  </a:tcPr>
                </a:tc>
              </a:tr>
              <a:tr h="295656">
                <a:tc>
                  <a:txBody>
                    <a:bodyPr wrap="square"/>
                    <a:lstStyle/>
                    <a:p>
                      <a:pPr algn="l"/>
                      <a:r>
                        <a:rPr sz="1400" b="1">
                          <a:solidFill>
                            <a:srgbClr val="1A1A1A"/>
                          </a:solidFill>
                          <a:latin typeface="DM Sans"/>
                        </a:rPr>
                        <a:t>Dissatisfaction with politics or delivery</a:t>
                      </a:r>
                      <a:r>
                        <a:rPr sz="1400" b="0">
                          <a:solidFill>
                            <a:srgbClr val="1A1A1A"/>
                          </a:solidFill>
                          <a:latin typeface="DM Sans"/>
                        </a:rPr>
                        <a:t>: Criticism of government action or speed of delivery.</a:t>
                      </a:r>
                    </a:p>
                  </a:txBody>
                  <a:tcPr>
                    <a:solidFill>
                      <a:srgbClr val="E6F8F9"/>
                    </a:solidFill>
                  </a:tcPr>
                </a:tc>
                <a:tc>
                  <a:txBody>
                    <a:bodyPr wrap="none"/>
                    <a:lstStyle/>
                    <a:p>
                      <a:pPr algn="ctr"/>
                      <a:r>
                        <a:rPr sz="1400" b="1">
                          <a:solidFill>
                            <a:srgbClr val="1A1A1A"/>
                          </a:solidFill>
                          <a:latin typeface="DM Sans"/>
                        </a:rPr>
                        <a:t>5%</a:t>
                      </a:r>
                    </a:p>
                  </a:txBody>
                  <a:tcPr>
                    <a:solidFill>
                      <a:srgbClr val="E6F8F9"/>
                    </a:solidFill>
                  </a:tcPr>
                </a:tc>
              </a:tr>
              <a:tr h="295656">
                <a:tc>
                  <a:txBody>
                    <a:bodyPr wrap="square"/>
                    <a:lstStyle/>
                    <a:p>
                      <a:pPr algn="l"/>
                      <a:r>
                        <a:rPr sz="1400" b="1">
                          <a:solidFill>
                            <a:srgbClr val="1A1A1A"/>
                          </a:solidFill>
                          <a:latin typeface="DM Sans"/>
                        </a:rPr>
                        <a:t>Certainty for planning and investment</a:t>
                      </a:r>
                      <a:r>
                        <a:rPr sz="1400" b="0">
                          <a:solidFill>
                            <a:srgbClr val="1A1A1A"/>
                          </a:solidFill>
                          <a:latin typeface="DM Sans"/>
                        </a:rPr>
                        <a:t>: Provides clarity for long-term planning and investment.</a:t>
                      </a:r>
                    </a:p>
                  </a:txBody>
                  <a:tcPr>
                    <a:solidFill>
                      <a:srgbClr val="FFFFFF"/>
                    </a:solidFill>
                  </a:tcPr>
                </a:tc>
                <a:tc>
                  <a:txBody>
                    <a:bodyPr wrap="none"/>
                    <a:lstStyle/>
                    <a:p>
                      <a:pPr algn="ctr"/>
                      <a:r>
                        <a:rPr sz="1400" b="1">
                          <a:solidFill>
                            <a:srgbClr val="1A1A1A"/>
                          </a:solidFill>
                          <a:latin typeface="DM Sans"/>
                        </a:rPr>
                        <a:t>4%</a:t>
                      </a:r>
                    </a:p>
                  </a:txBody>
                  <a:tcPr>
                    <a:solidFill>
                      <a:srgbClr val="FFFFFF"/>
                    </a:solidFill>
                  </a:tcPr>
                </a:tc>
              </a:tr>
              <a:tr h="295656">
                <a:tc>
                  <a:txBody>
                    <a:bodyPr wrap="square"/>
                    <a:lstStyle/>
                    <a:p>
                      <a:pPr algn="l"/>
                      <a:r>
                        <a:rPr sz="1400" b="1">
                          <a:solidFill>
                            <a:srgbClr val="1A1A1A"/>
                          </a:solidFill>
                          <a:latin typeface="DM Sans"/>
                        </a:rPr>
                        <a:t>Unsure</a:t>
                      </a:r>
                    </a:p>
                  </a:txBody>
                  <a:tcPr>
                    <a:solidFill>
                      <a:srgbClr val="E6F8F9"/>
                    </a:solidFill>
                  </a:tcPr>
                </a:tc>
                <a:tc>
                  <a:txBody>
                    <a:bodyPr wrap="none"/>
                    <a:lstStyle/>
                    <a:p>
                      <a:pPr algn="ctr"/>
                      <a:r>
                        <a:rPr sz="1400" b="1">
                          <a:solidFill>
                            <a:srgbClr val="1A1A1A"/>
                          </a:solidFill>
                          <a:latin typeface="DM Sans"/>
                        </a:rPr>
                        <a:t>4%</a:t>
                      </a:r>
                    </a:p>
                  </a:txBody>
                  <a:tcPr>
                    <a:solidFill>
                      <a:srgbClr val="E6F8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for a WA renewable energy target — tracking</a:t>
            </a:r>
          </a:p>
        </p:txBody>
      </p:sp>
      <p:sp>
        <p:nvSpPr>
          <p:cNvPr id="3" name="Text Placeholder 2"/>
          <p:cNvSpPr>
            <a:spLocks noGrp="1"/>
          </p:cNvSpPr>
          <p:nvPr>
            <p:ph type="body" idx="21" sz="quarter"/>
          </p:nvPr>
        </p:nvSpPr>
        <p:spPr/>
        <p:txBody>
          <a:bodyPr/>
          <a:lstStyle/>
          <a:p>
            <a:r>
              <a:t>How strongly do you support or oppose WA adopting a renewable energy target? (%, selected waves)</a:t>
            </a:r>
          </a:p>
        </p:txBody>
      </p:sp>
      <p:sp>
        <p:nvSpPr>
          <p:cNvPr id="4" name="Text Placeholder 3"/>
          <p:cNvSpPr>
            <a:spLocks noGrp="1"/>
          </p:cNvSpPr>
          <p:nvPr>
            <p:ph type="body" idx="22" sz="quarter"/>
          </p:nvPr>
        </p:nvSpPr>
        <p:spPr/>
        <p:txBody>
          <a:bodyPr/>
          <a:lstStyle/>
          <a:p>
            <a:r>
              <a:t>Base: all respondents (n≈1,000 per wave, illustrative)</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400" b="0">
                <a:solidFill>
                  <a:srgbClr val="44546A"/>
                </a:solidFill>
                <a:latin typeface="DM Sans"/>
              </a:rPr>
              <a:t>Support for a renewable energy target has</a:t>
            </a:r>
          </a:p>
          <a:p>
            <a:r>
              <a:rPr sz="1400" b="0">
                <a:solidFill>
                  <a:srgbClr val="44546A"/>
                </a:solidFill>
                <a:latin typeface="DM Sans"/>
              </a:rPr>
              <a:t>grown steadily across all five waves.</a:t>
            </a:r>
          </a:p>
          <a:p>
            <a:r>
              <a:rPr sz="1400" b="0">
                <a:solidFill>
                  <a:srgbClr val="44546A"/>
                </a:solidFill>
                <a:latin typeface="DM Sans"/>
              </a:rPr>
              <a:t/>
            </a:r>
          </a:p>
          <a:p>
            <a:r>
              <a:rPr sz="1400" b="0">
                <a:solidFill>
                  <a:srgbClr val="00BDBB"/>
                </a:solidFill>
                <a:latin typeface="DM Sans"/>
              </a:rPr>
              <a:t>  ↑ Total support up 5pp since Aug 2022</a:t>
            </a:r>
          </a:p>
          <a:p>
            <a:r>
              <a:rPr sz="1400" b="0">
                <a:solidFill>
                  <a:srgbClr val="A32015"/>
                </a:solidFill>
                <a:latin typeface="DM Sans"/>
              </a:rPr>
              <a:t>  ↓ Unsure down 5pp across the same period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outcomes of more renewable energy — by age group</a:t>
            </a:r>
          </a:p>
        </p:txBody>
      </p:sp>
      <p:sp>
        <p:nvSpPr>
          <p:cNvPr id="3" name="Text Placeholder 2"/>
          <p:cNvSpPr>
            <a:spLocks noGrp="1"/>
          </p:cNvSpPr>
          <p:nvPr>
            <p:ph type="body" idx="21" sz="quarter"/>
          </p:nvPr>
        </p:nvSpPr>
        <p:spPr/>
        <p:txBody>
          <a:bodyPr/>
          <a:lstStyle/>
          <a:p>
            <a:r>
              <a:t>% who think each outcome is 'likely' if WA used more renewable energy</a:t>
            </a:r>
          </a:p>
        </p:txBody>
      </p:sp>
      <p:sp>
        <p:nvSpPr>
          <p:cNvPr id="4" name="Text Placeholder 3"/>
          <p:cNvSpPr>
            <a:spLocks noGrp="1"/>
          </p:cNvSpPr>
          <p:nvPr>
            <p:ph type="body" idx="22" sz="quarter"/>
          </p:nvPr>
        </p:nvSpPr>
        <p:spPr/>
        <p:txBody>
          <a:bodyPr/>
          <a:lstStyle/>
          <a:p>
            <a:r>
              <a:t>Base: all respondents (n=1,011; illustrative breakdowns)</a:t>
            </a:r>
          </a:p>
        </p:txBody>
      </p:sp>
      <p:pic>
        <p:nvPicPr>
          <p:cNvPr id="5" name="Picture 4" descr="image.png"/>
          <p:cNvPicPr>
            <a:picLocks noChangeAspect="1"/>
          </p:cNvPicPr>
          <p:nvPr/>
        </p:nvPicPr>
        <p:blipFill>
          <a:blip r:embed="rId2"/>
          <a:stretch>
            <a:fillRect/>
          </a:stretch>
        </p:blipFill>
        <p:spPr>
          <a:xfrm>
            <a:off x="310896" y="2061972"/>
            <a:ext cx="11567160"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