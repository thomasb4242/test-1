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 id="266" r:id="rId38"/>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How bad do you think using each of the following energy types is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587752"/>
            <a:ext cx="8229600" cy="2880360"/>
          </a:xfrm>
          <a:prstGeom prst="rect">
            <a:avLst/>
          </a:prstGeom>
        </p:spPr>
      </p:pic>
      <p:sp>
        <p:nvSpPr>
          <p:cNvPr id="6" name="TextBox 5"/>
          <p:cNvSpPr txBox="1"/>
          <p:nvPr/>
        </p:nvSpPr>
        <p:spPr>
          <a:xfrm>
            <a:off x="8686800" y="2587752"/>
            <a:ext cx="3136391" cy="288036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709928"/>
            <a:ext cx="5303520" cy="4754880"/>
          </a:xfrm>
          <a:prstGeom prst="rect">
            <a:avLst/>
          </a:prstGeom>
        </p:spPr>
      </p:pic>
      <p:sp>
        <p:nvSpPr>
          <p:cNvPr id="6" name="TextBox 5"/>
          <p:cNvSpPr txBox="1"/>
          <p:nvPr/>
        </p:nvSpPr>
        <p:spPr>
          <a:xfrm>
            <a:off x="7379208" y="1709928"/>
            <a:ext cx="4453128" cy="475488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 (1 of 2)</a:t>
            </a:r>
          </a:p>
        </p:txBody>
      </p:sp>
      <p:sp>
        <p:nvSpPr>
          <p:cNvPr id="3" name="Text Placeholder 2"/>
          <p:cNvSpPr>
            <a:spLocks noGrp="1"/>
          </p:cNvSpPr>
          <p:nvPr>
            <p:ph type="body" idx="21" sz="quarter"/>
          </p:nvPr>
        </p:nvSpPr>
        <p:spPr/>
        <p:txBody>
          <a:bodyPr/>
          <a:lstStyle/>
          <a:p>
            <a:r>
              <a:t>How likely do you think these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30552"/>
            <a:ext cx="8229600" cy="3794760"/>
          </a:xfrm>
          <a:prstGeom prst="rect">
            <a:avLst/>
          </a:prstGeom>
        </p:spPr>
      </p:pic>
      <p:sp>
        <p:nvSpPr>
          <p:cNvPr id="6" name="TextBox 5"/>
          <p:cNvSpPr txBox="1"/>
          <p:nvPr/>
        </p:nvSpPr>
        <p:spPr>
          <a:xfrm>
            <a:off x="8686800" y="2130552"/>
            <a:ext cx="3136391" cy="3794760"/>
          </a:xfrm>
          <a:prstGeom prst="rect">
            <a:avLst/>
          </a:prstGeom>
          <a:noFill/>
        </p:spPr>
        <p:txBody>
          <a:bodyPr wrap="square">
            <a:spAutoFit/>
          </a:bodyPr>
          <a:lstStyle/>
          <a:p>
            <a:r>
              <a:rPr sz="1100" b="0">
                <a:solidFill>
                  <a:srgbClr val="44546A"/>
                </a:solidFill>
                <a:latin typeface="DM Sans"/>
              </a:rPr>
              <a:t>Optimism is broad — driven mainly by</a:t>
            </a:r>
          </a:p>
          <a:p>
            <a:r>
              <a:rPr sz="1100" b="0">
                <a:solidFill>
                  <a:srgbClr val="44546A"/>
                </a:solidFill>
                <a:latin typeface="DM Sans"/>
              </a:rPr>
              <a:t>age and political alignment.</a:t>
            </a:r>
          </a:p>
          <a:p>
            <a:r>
              <a:rPr sz="1100" b="0">
                <a:solidFill>
                  <a:srgbClr val="44546A"/>
                </a:solidFill>
                <a:latin typeface="DM Sans"/>
              </a:rPr>
              <a:t/>
            </a:r>
          </a:p>
          <a:p>
            <a:r>
              <a:rPr sz="1100" b="0">
                <a:solidFill>
                  <a:srgbClr val="44546A"/>
                </a:solidFill>
                <a:latin typeface="DM Sans"/>
              </a:rPr>
              <a:t>Strongest optimism among 30–44 year olds:</a:t>
            </a:r>
          </a:p>
          <a:p>
            <a:r>
              <a:rPr sz="1100" b="0">
                <a:solidFill>
                  <a:srgbClr val="00BDBB"/>
                </a:solidFill>
                <a:latin typeface="DM Sans"/>
              </a:rPr>
              <a:t>  ↑ 30–44yo — 73–80% total likely</a:t>
            </a:r>
          </a:p>
          <a:p>
            <a:r>
              <a:rPr sz="1100" b="0">
                <a:solidFill>
                  <a:srgbClr val="A32015"/>
                </a:solidFill>
                <a:latin typeface="DM Sans"/>
              </a:rPr>
              <a:t>  ↓ 60+ — 57–68% total likely</a:t>
            </a:r>
          </a:p>
          <a:p>
            <a:r>
              <a:rPr sz="1100" b="0">
                <a:solidFill>
                  <a:srgbClr val="44546A"/>
                </a:solidFill>
                <a:latin typeface="DM Sans"/>
              </a:rPr>
              <a:t/>
            </a:r>
          </a:p>
          <a:p>
            <a:r>
              <a:rPr sz="1100" b="0">
                <a:solidFill>
                  <a:srgbClr val="44546A"/>
                </a:solidFill>
                <a:latin typeface="DM Sans"/>
              </a:rPr>
              <a:t>Solar/battery owners more optimistic:</a:t>
            </a:r>
          </a:p>
          <a:p>
            <a:r>
              <a:rPr sz="1100" b="0">
                <a:solidFill>
                  <a:srgbClr val="00BDBB"/>
                </a:solidFill>
                <a:latin typeface="DM Sans"/>
              </a:rPr>
              <a:t>  ↑ Solar owners — ~75–79%</a:t>
            </a:r>
          </a:p>
          <a:p>
            <a:r>
              <a:rPr sz="1100" b="0">
                <a:solidFill>
                  <a:srgbClr val="A32015"/>
                </a:solidFill>
                <a:latin typeface="DM Sans"/>
              </a:rPr>
              <a:t>  ↓ No solar — ~56–66%</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 (2 of 2)</a:t>
            </a:r>
          </a:p>
        </p:txBody>
      </p:sp>
      <p:sp>
        <p:nvSpPr>
          <p:cNvPr id="3" name="Text Placeholder 2"/>
          <p:cNvSpPr>
            <a:spLocks noGrp="1"/>
          </p:cNvSpPr>
          <p:nvPr>
            <p:ph type="body" idx="21" sz="quarter"/>
          </p:nvPr>
        </p:nvSpPr>
        <p:spPr/>
        <p:txBody>
          <a:bodyPr/>
          <a:lstStyle/>
          <a:p>
            <a:r>
              <a:t>How likely do you think these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30552"/>
            <a:ext cx="8229600" cy="3794760"/>
          </a:xfrm>
          <a:prstGeom prst="rect">
            <a:avLst/>
          </a:prstGeom>
        </p:spPr>
      </p:pic>
      <p:sp>
        <p:nvSpPr>
          <p:cNvPr id="6" name="TextBox 5"/>
          <p:cNvSpPr txBox="1"/>
          <p:nvPr/>
        </p:nvSpPr>
        <p:spPr>
          <a:xfrm>
            <a:off x="8686800" y="2130552"/>
            <a:ext cx="3136391" cy="3794760"/>
          </a:xfrm>
          <a:prstGeom prst="rect">
            <a:avLst/>
          </a:prstGeom>
          <a:noFill/>
        </p:spPr>
        <p:txBody>
          <a:bodyPr wrap="square">
            <a:spAutoFit/>
          </a:bodyPr>
          <a:lstStyle/>
          <a:p>
            <a:r>
              <a:rPr sz="1100" b="0">
                <a:solidFill>
                  <a:srgbClr val="44546A"/>
                </a:solidFill>
                <a:latin typeface="DM Sans"/>
              </a:rPr>
              <a:t>Power prices &amp; cost of living attract</a:t>
            </a:r>
          </a:p>
          <a:p>
            <a:r>
              <a:rPr sz="1100" b="0">
                <a:solidFill>
                  <a:srgbClr val="44546A"/>
                </a:solidFill>
                <a:latin typeface="DM Sans"/>
              </a:rPr>
              <a:t>greatest scepticism — but still majority</a:t>
            </a:r>
          </a:p>
          <a:p>
            <a:r>
              <a:rPr sz="1100" b="0">
                <a:solidFill>
                  <a:srgbClr val="44546A"/>
                </a:solidFill>
                <a:latin typeface="DM Sans"/>
              </a:rPr>
              <a:t>optimism (57–59% total likely).</a:t>
            </a:r>
          </a:p>
          <a:p>
            <a:r>
              <a:rPr sz="1100" b="0">
                <a:solidFill>
                  <a:srgbClr val="44546A"/>
                </a:solidFill>
                <a:latin typeface="DM Sans"/>
              </a:rPr>
              <a:t/>
            </a:r>
          </a:p>
          <a:p>
            <a:r>
              <a:rPr sz="1100" b="0">
                <a:solidFill>
                  <a:srgbClr val="44546A"/>
                </a:solidFill>
                <a:latin typeface="DM Sans"/>
              </a:rPr>
              <a:t>Political vote is the strongest divider:</a:t>
            </a:r>
          </a:p>
          <a:p>
            <a:r>
              <a:rPr sz="1100" b="0">
                <a:solidFill>
                  <a:srgbClr val="00BDBB"/>
                </a:solidFill>
                <a:latin typeface="DM Sans"/>
              </a:rPr>
              <a:t>  ↑ WA Labor — 65–67% likely</a:t>
            </a:r>
          </a:p>
          <a:p>
            <a:r>
              <a:rPr sz="1100" b="0">
                <a:solidFill>
                  <a:srgbClr val="A32015"/>
                </a:solidFill>
                <a:latin typeface="DM Sans"/>
              </a:rPr>
              <a:t>  ↓ One Nation — 29–40% likely</a:t>
            </a:r>
          </a:p>
          <a:p>
            <a:r>
              <a:rPr sz="1100" b="0">
                <a:solidFill>
                  <a:srgbClr val="44546A"/>
                </a:solidFill>
                <a:latin typeface="DM Sans"/>
              </a:rPr>
              <a:t/>
            </a:r>
          </a:p>
          <a:p>
            <a:r>
              <a:rPr sz="1100" b="0">
                <a:solidFill>
                  <a:srgbClr val="44546A"/>
                </a:solidFill>
                <a:latin typeface="DM Sans"/>
              </a:rPr>
              <a:t>Education gradient:</a:t>
            </a:r>
          </a:p>
          <a:p>
            <a:r>
              <a:rPr sz="1100" b="0">
                <a:solidFill>
                  <a:srgbClr val="00BDBB"/>
                </a:solidFill>
                <a:latin typeface="DM Sans"/>
              </a:rPr>
              <a:t>  ↑ University — 62–68% likely</a:t>
            </a:r>
          </a:p>
          <a:p>
            <a:r>
              <a:rPr sz="1100" b="0">
                <a:solidFill>
                  <a:srgbClr val="A32015"/>
                </a:solidFill>
                <a:latin typeface="DM Sans"/>
              </a:rPr>
              <a:t>  ↓ Secondary/lower — 48–52% likely</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593777" y="2305882"/>
            <a:ext cx="798007" cy="79800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93777" y="2353763"/>
            <a:ext cx="798007" cy="414964"/>
          </a:xfrm>
          <a:prstGeom prst="rect">
            <a:avLst/>
          </a:prstGeom>
          <a:noFill/>
        </p:spPr>
        <p:txBody>
          <a:bodyPr wrap="none">
            <a:spAutoFit/>
          </a:bodyPr>
          <a:lstStyle/>
          <a:p>
            <a:pPr algn="ctr"/>
            <a:r>
              <a:rPr sz="2700" b="1">
                <a:solidFill>
                  <a:srgbClr val="FFFFFF"/>
                </a:solidFill>
                <a:latin typeface="DM Sans"/>
              </a:rPr>
              <a:t>62</a:t>
            </a:r>
            <a:r>
              <a:rPr sz="1700" b="1">
                <a:solidFill>
                  <a:srgbClr val="FFFFFF"/>
                </a:solidFill>
                <a:latin typeface="DM Sans"/>
              </a:rPr>
              <a:t>%</a:t>
            </a:r>
          </a:p>
        </p:txBody>
      </p:sp>
      <p:sp>
        <p:nvSpPr>
          <p:cNvPr id="8" name="TextBox 7"/>
          <p:cNvSpPr txBox="1"/>
          <p:nvPr/>
        </p:nvSpPr>
        <p:spPr>
          <a:xfrm>
            <a:off x="4593777" y="2752767"/>
            <a:ext cx="798007" cy="303242"/>
          </a:xfrm>
          <a:prstGeom prst="rect">
            <a:avLst/>
          </a:prstGeom>
          <a:noFill/>
        </p:spPr>
        <p:txBody>
          <a:bodyPr wrap="square">
            <a:spAutoFit/>
          </a:bodyPr>
          <a:lstStyle/>
          <a:p>
            <a:pPr algn="ctr"/>
            <a:r>
              <a:rPr sz="1300" b="0" i="0">
                <a:solidFill>
                  <a:srgbClr val="FFFFFF"/>
                </a:solidFill>
                <a:latin typeface="DM Sans"/>
              </a:rPr>
              <a:t>Support</a:t>
            </a:r>
          </a:p>
        </p:txBody>
      </p:sp>
      <p:sp>
        <p:nvSpPr>
          <p:cNvPr id="9" name="Oval 8"/>
          <p:cNvSpPr/>
          <p:nvPr/>
        </p:nvSpPr>
        <p:spPr>
          <a:xfrm>
            <a:off x="2619668" y="3910504"/>
            <a:ext cx="718207" cy="71820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19668" y="3953596"/>
            <a:ext cx="718207" cy="373467"/>
          </a:xfrm>
          <a:prstGeom prst="rect">
            <a:avLst/>
          </a:prstGeom>
          <a:noFill/>
        </p:spPr>
        <p:txBody>
          <a:bodyPr wrap="none">
            <a:spAutoFit/>
          </a:bodyPr>
          <a:lstStyle/>
          <a:p>
            <a:pPr algn="ctr"/>
            <a:r>
              <a:rPr sz="2400" b="1">
                <a:solidFill>
                  <a:srgbClr val="FFFFFF"/>
                </a:solidFill>
                <a:latin typeface="DM Sans"/>
              </a:rPr>
              <a:t>15</a:t>
            </a:r>
            <a:r>
              <a:rPr sz="1500" b="1">
                <a:solidFill>
                  <a:srgbClr val="FFFFFF"/>
                </a:solidFill>
                <a:latin typeface="DM Sans"/>
              </a:rPr>
              <a:t>%</a:t>
            </a:r>
          </a:p>
        </p:txBody>
      </p:sp>
      <p:sp>
        <p:nvSpPr>
          <p:cNvPr id="11" name="TextBox 10"/>
          <p:cNvSpPr txBox="1"/>
          <p:nvPr/>
        </p:nvSpPr>
        <p:spPr>
          <a:xfrm>
            <a:off x="2619668" y="4312700"/>
            <a:ext cx="718207" cy="272918"/>
          </a:xfrm>
          <a:prstGeom prst="rect">
            <a:avLst/>
          </a:prstGeom>
          <a:noFill/>
        </p:spPr>
        <p:txBody>
          <a:bodyPr wrap="square">
            <a:spAutoFit/>
          </a:bodyPr>
          <a:lstStyle/>
          <a:p>
            <a:pPr algn="ctr"/>
            <a:r>
              <a:rPr sz="1200" b="0" i="0">
                <a:solidFill>
                  <a:srgbClr val="FFFFFF"/>
                </a:solidFill>
                <a:latin typeface="DM Sans"/>
              </a:rPr>
              <a:t>Oppose</a:t>
            </a:r>
          </a:p>
        </p:txBody>
      </p:sp>
      <p:sp>
        <p:nvSpPr>
          <p:cNvPr id="12" name="TextBox 11"/>
          <p:cNvSpPr txBox="1"/>
          <p:nvPr/>
        </p:nvSpPr>
        <p:spPr>
          <a:xfrm>
            <a:off x="7379208" y="1709928"/>
            <a:ext cx="4453128" cy="425196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those who support a target (n=626)</a:t>
            </a:r>
          </a:p>
        </p:txBody>
      </p:sp>
      <p:sp>
        <p:nvSpPr>
          <p:cNvPr id="3" name="Title 2"/>
          <p:cNvSpPr>
            <a:spLocks noGrp="1"/>
          </p:cNvSpPr>
          <p:nvPr>
            <p:ph type="title"/>
          </p:nvPr>
        </p:nvSpPr>
        <p:spPr/>
        <p:txBody>
          <a:bodyPr/>
          <a:lstStyle/>
          <a:p>
            <a:r>
              <a:t>Main reason for supporting a renewable energy target</a:t>
            </a:r>
          </a:p>
        </p:txBody>
      </p:sp>
      <p:sp>
        <p:nvSpPr>
          <p:cNvPr id="4" name="Text Placeholder 3"/>
          <p:cNvSpPr>
            <a:spLocks noGrp="1"/>
          </p:cNvSpPr>
          <p:nvPr>
            <p:ph type="body" idx="21" sz="quarter"/>
          </p:nvPr>
        </p:nvSpPr>
        <p:spPr/>
        <p:txBody>
          <a:bodyPr/>
          <a:lstStyle/>
          <a:p>
            <a:r>
              <a:t>What is the main reason for supporting a target? (%, among supporters)</a:t>
            </a:r>
          </a:p>
        </p:txBody>
      </p:sp>
      <p:pic>
        <p:nvPicPr>
          <p:cNvPr id="5" name="Picture 4" descr="image.png"/>
          <p:cNvPicPr>
            <a:picLocks noChangeAspect="1"/>
          </p:cNvPicPr>
          <p:nvPr/>
        </p:nvPicPr>
        <p:blipFill>
          <a:blip r:embed="rId2"/>
          <a:stretch>
            <a:fillRect/>
          </a:stretch>
        </p:blipFill>
        <p:spPr>
          <a:xfrm>
            <a:off x="310896" y="1709928"/>
            <a:ext cx="5303520" cy="4754880"/>
          </a:xfrm>
          <a:prstGeom prst="rect">
            <a:avLst/>
          </a:prstGeom>
        </p:spPr>
      </p:pic>
      <p:sp>
        <p:nvSpPr>
          <p:cNvPr id="6" name="TextBox 5"/>
          <p:cNvSpPr txBox="1"/>
          <p:nvPr/>
        </p:nvSpPr>
        <p:spPr>
          <a:xfrm>
            <a:off x="7379208" y="1709928"/>
            <a:ext cx="4453128" cy="4754880"/>
          </a:xfrm>
          <a:prstGeom prst="rect">
            <a:avLst/>
          </a:prstGeom>
          <a:noFill/>
        </p:spPr>
        <p:txBody>
          <a:bodyPr wrap="square">
            <a:spAutoFit/>
          </a:bodyPr>
          <a:lstStyle/>
          <a:p>
            <a:r>
              <a:rPr sz="1200" b="0">
                <a:solidFill>
                  <a:srgbClr val="44546A"/>
                </a:solidFill>
                <a:latin typeface="DM Sans"/>
              </a:rPr>
              <a:t>Practical momentum and values-based</a:t>
            </a:r>
          </a:p>
          <a:p>
            <a:r>
              <a:rPr sz="1200" b="0">
                <a:solidFill>
                  <a:srgbClr val="44546A"/>
                </a:solidFill>
                <a:latin typeface="DM Sans"/>
              </a:rPr>
              <a:t>support are the dominant themes.</a:t>
            </a:r>
          </a:p>
          <a:p>
            <a:r>
              <a:rPr sz="1200" b="0">
                <a:solidFill>
                  <a:srgbClr val="44546A"/>
                </a:solidFill>
                <a:latin typeface="DM Sans"/>
              </a:rPr>
              <a:t/>
            </a:r>
          </a:p>
          <a:p>
            <a:r>
              <a:rPr sz="1200" b="0">
                <a:solidFill>
                  <a:srgbClr val="44546A"/>
                </a:solidFill>
                <a:latin typeface="DM Sans"/>
              </a:rPr>
              <a:t>Top reasons:</a:t>
            </a:r>
          </a:p>
          <a:p>
            <a:r>
              <a:rPr sz="1200" b="0">
                <a:solidFill>
                  <a:srgbClr val="44546A"/>
                </a:solidFill>
                <a:latin typeface="DM Sans"/>
              </a:rPr>
              <a:t>1. Clear goals &amp; direction — 25%</a:t>
            </a:r>
          </a:p>
          <a:p>
            <a:r>
              <a:rPr sz="1200" b="0">
                <a:solidFill>
                  <a:srgbClr val="44546A"/>
                </a:solidFill>
                <a:latin typeface="DM Sans"/>
              </a:rPr>
              <a:t>2. 'Right thing to do' — 23%</a:t>
            </a:r>
          </a:p>
          <a:p>
            <a:r>
              <a:rPr sz="1200" b="0">
                <a:solidFill>
                  <a:srgbClr val="44546A"/>
                </a:solidFill>
                <a:latin typeface="DM Sans"/>
              </a:rPr>
              <a:t>3. Better environment &amp; health — 16%</a:t>
            </a:r>
          </a:p>
          <a:p>
            <a:r>
              <a:rPr sz="1200" b="0">
                <a:solidFill>
                  <a:srgbClr val="44546A"/>
                </a:solidFill>
                <a:latin typeface="DM Sans"/>
              </a:rPr>
              <a:t>4. Climate &amp; emissions — 14%</a:t>
            </a:r>
          </a:p>
          <a:p>
            <a:r>
              <a:rPr sz="1200" b="0">
                <a:solidFill>
                  <a:srgbClr val="44546A"/>
                </a:solidFill>
                <a:latin typeface="DM Sans"/>
              </a:rPr>
              <a:t>5. Reduce fossil fuel reliance — 11%</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8</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