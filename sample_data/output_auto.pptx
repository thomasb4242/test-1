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Sample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DD8D8"/>
                </a:solidFill>
              </a:rPr>
              <a:t>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D8D8"/>
                </a:solidFill>
              </a:rPr>
              <a:t>n=200 respondents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Respondent 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[respondent_id] — numeric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commentary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Overall, how satisfied are you with our service?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[overall_satisfaction]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4752"/>
            <a:ext cx="50292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76272"/>
            <a:ext cx="1371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62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3657600"/>
            <a:ext cx="1097280" cy="1097280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789273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37913"/>
            <a:ext cx="1097280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subgroup breakdowns here, e.g.:</a:t>
            </a:r>
          </a:p>
          <a:p>
            <a:r>
              <a:rPr sz="1000" b="0">
                <a:solidFill>
                  <a:srgbClr val="58595B"/>
                </a:solidFill>
              </a:rPr>
              <a:t>– Under 30:  XX%</a:t>
            </a:r>
          </a:p>
          <a:p>
            <a:r>
              <a:rPr sz="1000" b="0">
                <a:solidFill>
                  <a:srgbClr val="58595B"/>
                </a:solidFill>
              </a:rPr>
              <a:t>– 30–44: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How likely are you to recommend us? (0-10)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[recommend_score] — numeric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commentary 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Please rate the quality of our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[product_quality]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4752"/>
            <a:ext cx="50292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76272"/>
            <a:ext cx="1371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62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3657600"/>
            <a:ext cx="1097280" cy="1097280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789273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37913"/>
            <a:ext cx="1097280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subgroup breakdowns here, e.g.:</a:t>
            </a:r>
          </a:p>
          <a:p>
            <a:r>
              <a:rPr sz="1000" b="0">
                <a:solidFill>
                  <a:srgbClr val="58595B"/>
                </a:solidFill>
              </a:rPr>
              <a:t>– Under 30:  XX%</a:t>
            </a:r>
          </a:p>
          <a:p>
            <a:r>
              <a:rPr sz="1000" b="0">
                <a:solidFill>
                  <a:srgbClr val="58595B"/>
                </a:solidFill>
              </a:rPr>
              <a:t>– 30–44: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Please rate your experience with customer service.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[customer_service]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4752"/>
            <a:ext cx="50292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76272"/>
            <a:ext cx="1371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62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3657600"/>
            <a:ext cx="1097280" cy="1097280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789273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37913"/>
            <a:ext cx="1097280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subgroup breakdowns here, e.g.:</a:t>
            </a:r>
          </a:p>
          <a:p>
            <a:r>
              <a:rPr sz="1000" b="0">
                <a:solidFill>
                  <a:srgbClr val="58595B"/>
                </a:solidFill>
              </a:rPr>
              <a:t>– Under 30:  XX%</a:t>
            </a:r>
          </a:p>
          <a:p>
            <a:r>
              <a:rPr sz="1000" b="0">
                <a:solidFill>
                  <a:srgbClr val="58595B"/>
                </a:solidFill>
              </a:rPr>
              <a:t>– 30–44: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Please rate value for money.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[value_for_money]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4752"/>
            <a:ext cx="50292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76272"/>
            <a:ext cx="1371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62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3657600"/>
            <a:ext cx="1097280" cy="1097280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789273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37913"/>
            <a:ext cx="1097280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subgroup breakdowns here, e.g.:</a:t>
            </a:r>
          </a:p>
          <a:p>
            <a:r>
              <a:rPr sz="1000" b="0">
                <a:solidFill>
                  <a:srgbClr val="58595B"/>
                </a:solidFill>
              </a:rPr>
              <a:t>– Under 30:  XX%</a:t>
            </a:r>
          </a:p>
          <a:p>
            <a:r>
              <a:rPr sz="1000" b="0">
                <a:solidFill>
                  <a:srgbClr val="58595B"/>
                </a:solidFill>
              </a:rPr>
              <a:t>– 30–44: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Which region are you based in?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[region]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4752"/>
            <a:ext cx="50292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76272"/>
            <a:ext cx="1371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62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3657600"/>
            <a:ext cx="1097280" cy="1097280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789273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37913"/>
            <a:ext cx="1097280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subgroup breakdowns here, e.g.:</a:t>
            </a:r>
          </a:p>
          <a:p>
            <a:r>
              <a:rPr sz="1000" b="0">
                <a:solidFill>
                  <a:srgbClr val="58595B"/>
                </a:solidFill>
              </a:rPr>
              <a:t>– Under 30:  XX%</a:t>
            </a:r>
          </a:p>
          <a:p>
            <a:r>
              <a:rPr sz="1000" b="0">
                <a:solidFill>
                  <a:srgbClr val="58595B"/>
                </a:solidFill>
              </a:rPr>
              <a:t>– 30–44: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What is your age group?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[age_group]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44752"/>
            <a:ext cx="5029200" cy="48463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160520" y="2011680"/>
            <a:ext cx="1371600" cy="1371600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76272"/>
            <a:ext cx="137160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862072"/>
            <a:ext cx="1371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9" name="Oval 8"/>
          <p:cNvSpPr/>
          <p:nvPr/>
        </p:nvSpPr>
        <p:spPr>
          <a:xfrm>
            <a:off x="4160520" y="3657600"/>
            <a:ext cx="1097280" cy="1097280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3789273"/>
            <a:ext cx="10972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337913"/>
            <a:ext cx="1097280" cy="351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Negative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444752"/>
            <a:ext cx="3337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Add subgroup breakdowns here, e.g.:</a:t>
            </a:r>
          </a:p>
          <a:p>
            <a:r>
              <a:rPr sz="1000" b="0">
                <a:solidFill>
                  <a:srgbClr val="58595B"/>
                </a:solidFill>
              </a:rPr>
              <a:t>– Under 30:  XX%</a:t>
            </a:r>
          </a:p>
          <a:p>
            <a:r>
              <a:rPr sz="1000" b="0">
                <a:solidFill>
                  <a:srgbClr val="58595B"/>
                </a:solidFill>
              </a:rPr>
              <a:t>– 30–44: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