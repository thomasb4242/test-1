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Concern about the issue</a:t>
            </a:r>
          </a:p>
        </p:txBody>
      </p:sp>
      <p:sp>
        <p:nvSpPr>
          <p:cNvPr id="4" name="Text Placeholder 3"/>
          <p:cNvSpPr>
            <a:spLocks noGrp="1"/>
          </p:cNvSpPr>
          <p:nvPr>
            <p:ph type="body" idx="21" sz="quarter"/>
          </p:nvPr>
        </p:nvSpPr>
        <p:spPr/>
        <p:txBody>
          <a:bodyPr/>
          <a:lstStyle/>
          <a:p>
            <a: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331493" y="2399765"/>
            <a:ext cx="610241" cy="610241"/>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31493" y="2436380"/>
            <a:ext cx="610241" cy="317325"/>
          </a:xfrm>
          <a:prstGeom prst="rect">
            <a:avLst/>
          </a:prstGeom>
          <a:noFill/>
        </p:spPr>
        <p:txBody>
          <a:bodyPr wrap="none">
            <a:spAutoFit/>
          </a:bodyPr>
          <a:lstStyle/>
          <a:p>
            <a:pPr algn="ctr"/>
            <a:r>
              <a:rPr sz="2000" b="1">
                <a:solidFill>
                  <a:srgbClr val="FFFFFF"/>
                </a:solidFill>
                <a:latin typeface="DM Sans"/>
              </a:rPr>
              <a:t>60</a:t>
            </a:r>
            <a:r>
              <a:rPr sz="1300" b="1">
                <a:solidFill>
                  <a:srgbClr val="FFFFFF"/>
                </a:solidFill>
                <a:latin typeface="DM Sans"/>
              </a:rPr>
              <a:t>%</a:t>
            </a:r>
          </a:p>
        </p:txBody>
      </p:sp>
      <p:sp>
        <p:nvSpPr>
          <p:cNvPr id="8" name="TextBox 7"/>
          <p:cNvSpPr txBox="1"/>
          <p:nvPr/>
        </p:nvSpPr>
        <p:spPr>
          <a:xfrm>
            <a:off x="4331493" y="2741501"/>
            <a:ext cx="610241" cy="231891"/>
          </a:xfrm>
          <a:prstGeom prst="rect">
            <a:avLst/>
          </a:prstGeom>
          <a:noFill/>
        </p:spPr>
        <p:txBody>
          <a:bodyPr wrap="square">
            <a:spAutoFit/>
          </a:bodyPr>
          <a:lstStyle/>
          <a:p>
            <a:pPr algn="ctr"/>
            <a:r>
              <a:rPr sz="700" b="0" i="0">
                <a:solidFill>
                  <a:srgbClr val="FFFFFF"/>
                </a:solidFill>
                <a:latin typeface="DM Sans"/>
              </a:rPr>
              <a:t>Concerned</a:t>
            </a:r>
          </a:p>
        </p:txBody>
      </p:sp>
      <p:sp>
        <p:nvSpPr>
          <p:cNvPr id="9" name="Oval 8"/>
          <p:cNvSpPr/>
          <p:nvPr/>
        </p:nvSpPr>
        <p:spPr>
          <a:xfrm>
            <a:off x="2519780" y="4777359"/>
            <a:ext cx="549217" cy="54921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780" y="4810313"/>
            <a:ext cx="549217" cy="285592"/>
          </a:xfrm>
          <a:prstGeom prst="rect">
            <a:avLst/>
          </a:prstGeom>
          <a:noFill/>
        </p:spPr>
        <p:txBody>
          <a:bodyPr wrap="none">
            <a:spAutoFit/>
          </a:bodyPr>
          <a:lstStyle/>
          <a:p>
            <a:pPr algn="ctr"/>
            <a:r>
              <a:rPr sz="1800" b="1">
                <a:solidFill>
                  <a:srgbClr val="FFFFFF"/>
                </a:solidFill>
                <a:latin typeface="DM Sans"/>
              </a:rPr>
              <a:t>15</a:t>
            </a:r>
            <a:r>
              <a:rPr sz="1200" b="1">
                <a:solidFill>
                  <a:srgbClr val="FFFFFF"/>
                </a:solidFill>
                <a:latin typeface="DM Sans"/>
              </a:rPr>
              <a:t>%</a:t>
            </a:r>
          </a:p>
        </p:txBody>
      </p:sp>
      <p:sp>
        <p:nvSpPr>
          <p:cNvPr id="11" name="TextBox 10"/>
          <p:cNvSpPr txBox="1"/>
          <p:nvPr/>
        </p:nvSpPr>
        <p:spPr>
          <a:xfrm>
            <a:off x="2519780" y="5084921"/>
            <a:ext cx="549217" cy="208702"/>
          </a:xfrm>
          <a:prstGeom prst="rect">
            <a:avLst/>
          </a:prstGeom>
          <a:noFill/>
        </p:spPr>
        <p:txBody>
          <a:bodyPr wrap="square">
            <a:spAutoFit/>
          </a:bodyPr>
          <a:lstStyle/>
          <a:p>
            <a:pPr algn="ctr"/>
            <a:r>
              <a:rPr sz="600" b="0" i="0">
                <a:solidFill>
                  <a:srgbClr val="FFFFFF"/>
                </a:solidFill>
                <a:latin typeface="DM Sans"/>
              </a:rPr>
              <a:t>Not concerned</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Concern by age group:</a:t>
            </a:r>
          </a:p>
          <a:p>
            <a:r>
              <a:rPr sz="1400" b="0">
                <a:solidFill>
                  <a:srgbClr val="44546A"/>
                </a:solidFill>
                <a:latin typeface="DM Sans"/>
              </a:rPr>
              <a:t>– 18–24:   XX% very/extremely concerned</a:t>
            </a:r>
          </a:p>
          <a:p>
            <a:r>
              <a:rPr sz="1400" b="0">
                <a:solidFill>
                  <a:srgbClr val="44546A"/>
                </a:solidFill>
                <a:latin typeface="DM Sans"/>
              </a:rPr>
              <a:t>– 25–34:   XX%</a:t>
            </a:r>
          </a:p>
          <a:p>
            <a:r>
              <a:rPr sz="1400" b="0">
                <a:solidFill>
                  <a:srgbClr val="44546A"/>
                </a:solidFill>
                <a:latin typeface="DM Sans"/>
              </a:rPr>
              <a:t>– 35–44:   XX%</a:t>
            </a:r>
          </a:p>
          <a:p>
            <a:r>
              <a:rPr sz="1400" b="0">
                <a:solidFill>
                  <a:srgbClr val="44546A"/>
                </a:solidFill>
                <a:latin typeface="DM Sans"/>
              </a:rPr>
              <a:t>– 45–54:   XX%</a:t>
            </a:r>
          </a:p>
          <a:p>
            <a:r>
              <a:rPr sz="1400" b="0">
                <a:solidFill>
                  <a:srgbClr val="44546A"/>
                </a:solidFill>
                <a:latin typeface="DM Sans"/>
              </a:rPr>
              <a:t>– 55+:     XX%</a:t>
            </a:r>
          </a:p>
          <a:p>
            <a:r>
              <a:rPr sz="1400" b="0">
                <a:solidFill>
                  <a:srgbClr val="44546A"/>
                </a:solidFill>
                <a:latin typeface="DM Sans"/>
              </a:rPr>
              <a:t/>
            </a:r>
          </a:p>
          <a:p>
            <a:r>
              <a:rPr sz="1400" b="0">
                <a:solidFill>
                  <a:srgbClr val="44546A"/>
                </a:solidFill>
                <a:latin typeface="DM Sans"/>
              </a:rPr>
              <a:t>Concern by region:</a:t>
            </a:r>
          </a:p>
          <a:p>
            <a:r>
              <a:rPr sz="1400" b="0">
                <a:solidFill>
                  <a:srgbClr val="44546A"/>
                </a:solidFill>
                <a:latin typeface="DM Sans"/>
              </a:rPr>
              <a:t>– Metro:      XX%</a:t>
            </a:r>
          </a:p>
          <a:p>
            <a:r>
              <a:rPr sz="1400" b="0">
                <a:solidFill>
                  <a:srgbClr val="44546A"/>
                </a:solidFill>
                <a:latin typeface="DM Sans"/>
              </a:rPr>
              <a:t>– Regional:   XX%</a:t>
            </a:r>
          </a:p>
          <a:p>
            <a:r>
              <a:rPr sz="1400" b="0">
                <a:solidFill>
                  <a:srgbClr val="44546A"/>
                </a:solidFill>
                <a:latin typeface="DM Sans"/>
              </a:rPr>
              <a:t>– Rural: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Rating — government handling of this issue</a:t>
            </a:r>
          </a:p>
        </p:txBody>
      </p:sp>
      <p:sp>
        <p:nvSpPr>
          <p:cNvPr id="4" name="Text Placeholder 3"/>
          <p:cNvSpPr>
            <a:spLocks noGrp="1"/>
          </p:cNvSpPr>
          <p:nvPr>
            <p:ph type="body" idx="21" sz="quarter"/>
          </p:nvPr>
        </p:nvSpPr>
        <p:spPr/>
        <p:txBody>
          <a:bodyPr/>
          <a:lstStyle/>
          <a:p>
            <a: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3014483" y="2399765"/>
            <a:ext cx="610241" cy="610241"/>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4483" y="2436380"/>
            <a:ext cx="610241" cy="317325"/>
          </a:xfrm>
          <a:prstGeom prst="rect">
            <a:avLst/>
          </a:prstGeom>
          <a:noFill/>
        </p:spPr>
        <p:txBody>
          <a:bodyPr wrap="none">
            <a:spAutoFit/>
          </a:bodyPr>
          <a:lstStyle/>
          <a:p>
            <a:pPr algn="ctr"/>
            <a:r>
              <a:rPr sz="2000" b="1">
                <a:solidFill>
                  <a:srgbClr val="FFFFFF"/>
                </a:solidFill>
                <a:latin typeface="DM Sans"/>
              </a:rPr>
              <a:t>23</a:t>
            </a:r>
            <a:r>
              <a:rPr sz="1300" b="1">
                <a:solidFill>
                  <a:srgbClr val="FFFFFF"/>
                </a:solidFill>
                <a:latin typeface="DM Sans"/>
              </a:rPr>
              <a:t>%</a:t>
            </a:r>
          </a:p>
        </p:txBody>
      </p:sp>
      <p:sp>
        <p:nvSpPr>
          <p:cNvPr id="8" name="TextBox 7"/>
          <p:cNvSpPr txBox="1"/>
          <p:nvPr/>
        </p:nvSpPr>
        <p:spPr>
          <a:xfrm>
            <a:off x="3014483" y="2741501"/>
            <a:ext cx="610241" cy="231891"/>
          </a:xfrm>
          <a:prstGeom prst="rect">
            <a:avLst/>
          </a:prstGeom>
          <a:noFill/>
        </p:spPr>
        <p:txBody>
          <a:bodyPr wrap="square">
            <a:spAutoFit/>
          </a:bodyPr>
          <a:lstStyle/>
          <a:p>
            <a:pPr algn="ctr"/>
            <a:r>
              <a:rPr sz="1000" b="0" i="0">
                <a:solidFill>
                  <a:srgbClr val="FFFFFF"/>
                </a:solidFill>
                <a:latin typeface="DM Sans"/>
              </a:rPr>
              <a:t>Agree</a:t>
            </a:r>
          </a:p>
        </p:txBody>
      </p:sp>
      <p:sp>
        <p:nvSpPr>
          <p:cNvPr id="9" name="Oval 8"/>
          <p:cNvSpPr/>
          <p:nvPr/>
        </p:nvSpPr>
        <p:spPr>
          <a:xfrm>
            <a:off x="4345175" y="4777359"/>
            <a:ext cx="549217" cy="54921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45175" y="4810313"/>
            <a:ext cx="549217" cy="285592"/>
          </a:xfrm>
          <a:prstGeom prst="rect">
            <a:avLst/>
          </a:prstGeom>
          <a:noFill/>
        </p:spPr>
        <p:txBody>
          <a:bodyPr wrap="none">
            <a:spAutoFit/>
          </a:bodyPr>
          <a:lstStyle/>
          <a:p>
            <a:pPr algn="ctr"/>
            <a:r>
              <a:rPr sz="1800" b="1">
                <a:solidFill>
                  <a:srgbClr val="FFFFFF"/>
                </a:solidFill>
                <a:latin typeface="DM Sans"/>
              </a:rPr>
              <a:t>60</a:t>
            </a:r>
            <a:r>
              <a:rPr sz="1200" b="1">
                <a:solidFill>
                  <a:srgbClr val="FFFFFF"/>
                </a:solidFill>
                <a:latin typeface="DM Sans"/>
              </a:rPr>
              <a:t>%</a:t>
            </a:r>
          </a:p>
        </p:txBody>
      </p:sp>
      <p:sp>
        <p:nvSpPr>
          <p:cNvPr id="11" name="TextBox 10"/>
          <p:cNvSpPr txBox="1"/>
          <p:nvPr/>
        </p:nvSpPr>
        <p:spPr>
          <a:xfrm>
            <a:off x="4345175" y="5084921"/>
            <a:ext cx="549217" cy="208702"/>
          </a:xfrm>
          <a:prstGeom prst="rect">
            <a:avLst/>
          </a:prstGeom>
          <a:noFill/>
        </p:spPr>
        <p:txBody>
          <a:bodyPr wrap="square">
            <a:spAutoFit/>
          </a:bodyPr>
          <a:lstStyle/>
          <a:p>
            <a:pPr algn="ctr"/>
            <a:r>
              <a:rPr sz="700" b="0" i="0">
                <a:solidFill>
                  <a:srgbClr val="FFFFFF"/>
                </a:solidFill>
                <a:latin typeface="DM Sans"/>
              </a:rPr>
              <a:t>Disagree</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Scepticism about government performance</a:t>
            </a:r>
          </a:p>
          <a:p>
            <a:r>
              <a:rPr sz="1400" b="0">
                <a:solidFill>
                  <a:srgbClr val="44546A"/>
                </a:solidFill>
                <a:latin typeface="DM Sans"/>
              </a:rPr>
              <a:t>is consistent across all demographics.</a:t>
            </a:r>
          </a:p>
          <a:p>
            <a:r>
              <a:rPr sz="1400" b="0">
                <a:solidFill>
                  <a:srgbClr val="44546A"/>
                </a:solidFill>
                <a:latin typeface="DM Sans"/>
              </a:rPr>
              <a:t/>
            </a:r>
          </a:p>
          <a:p>
            <a:r>
              <a:rPr sz="1400" b="0">
                <a:solidFill>
                  <a:srgbClr val="44546A"/>
                </a:solidFill>
                <a:latin typeface="DM Sans"/>
              </a:rPr>
              <a:t>Disagreement is highest among:</a:t>
            </a:r>
          </a:p>
          <a:p>
            <a:r>
              <a:rPr sz="1400" b="0">
                <a:solidFill>
                  <a:srgbClr val="44546A"/>
                </a:solidFill>
                <a:latin typeface="DM Sans"/>
              </a:rPr>
              <a:t>– 35–54 year olds (XX%)</a:t>
            </a:r>
          </a:p>
          <a:p>
            <a:r>
              <a:rPr sz="1400" b="0">
                <a:solidFill>
                  <a:srgbClr val="44546A"/>
                </a:solidFill>
                <a:latin typeface="DM Sans"/>
              </a:rPr>
              <a:t>– Regional residents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 statements about the issue</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587752"/>
            <a:ext cx="8229600" cy="2880360"/>
          </a:xfrm>
          <a:prstGeom prst="rect">
            <a:avLst/>
          </a:prstGeom>
        </p:spPr>
      </p:pic>
      <p:sp>
        <p:nvSpPr>
          <p:cNvPr id="6" name="TextBox 5"/>
          <p:cNvSpPr txBox="1"/>
          <p:nvPr/>
        </p:nvSpPr>
        <p:spPr>
          <a:xfrm>
            <a:off x="8686800" y="2587752"/>
            <a:ext cx="3136391" cy="2880360"/>
          </a:xfrm>
          <a:prstGeom prst="rect">
            <a:avLst/>
          </a:prstGeom>
          <a:noFill/>
        </p:spPr>
        <p:txBody>
          <a:bodyPr wrap="square">
            <a:spAutoFit/>
          </a:bodyPr>
          <a:lstStyle/>
          <a:p>
            <a:r>
              <a:rPr sz="1400" b="0">
                <a:solidFill>
                  <a:srgbClr val="44546A"/>
                </a:solidFill>
                <a:latin typeface="DM Sans"/>
              </a:rPr>
              <a:t>Total agree by statement:</a:t>
            </a:r>
          </a:p>
          <a:p>
            <a:r>
              <a:rPr sz="1400" b="0">
                <a:solidFill>
                  <a:srgbClr val="44546A"/>
                </a:solidFill>
                <a:latin typeface="DM Sans"/>
              </a:rPr>
              <a:t>– Community impact:   XX%</a:t>
            </a:r>
          </a:p>
          <a:p>
            <a:r>
              <a:rPr sz="1400" b="0">
                <a:solidFill>
                  <a:srgbClr val="44546A"/>
                </a:solidFill>
                <a:latin typeface="DM Sans"/>
              </a:rPr>
              <a:t>– Govt leadership:    XX%</a:t>
            </a:r>
          </a:p>
          <a:p>
            <a:r>
              <a:rPr sz="1400" b="0">
                <a:solidFill>
                  <a:srgbClr val="44546A"/>
                </a:solidFill>
                <a:latin typeface="DM Sans"/>
              </a:rPr>
              <a:t>– Local action:       XX%</a:t>
            </a:r>
          </a:p>
          <a:p>
            <a:r>
              <a:rPr sz="1400" b="0">
                <a:solidFill>
                  <a:srgbClr val="44546A"/>
                </a:solidFill>
                <a:latin typeface="DM Sans"/>
              </a:rPr>
              <a:t/>
            </a:r>
          </a:p>
          <a:p>
            <a:r>
              <a:rPr sz="1400" b="0">
                <a:solidFill>
                  <a:srgbClr val="44546A"/>
                </a:solidFill>
                <a:latin typeface="DM Sans"/>
              </a:rPr>
              <a:t>Agreement is broadly consistent</a:t>
            </a:r>
          </a:p>
          <a:p>
            <a:r>
              <a:rPr sz="1400" b="0">
                <a:solidFill>
                  <a:srgbClr val="44546A"/>
                </a:solidFill>
                <a:latin typeface="DM Sans"/>
              </a:rPr>
              <a:t>across age groups and regions.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Support for action</a:t>
            </a:r>
          </a:p>
        </p:txBody>
      </p:sp>
      <p:sp>
        <p:nvSpPr>
          <p:cNvPr id="4" name="Text Placeholder 3"/>
          <p:cNvSpPr>
            <a:spLocks noGrp="1"/>
          </p:cNvSpPr>
          <p:nvPr>
            <p:ph type="body" idx="21" sz="quarter"/>
          </p:nvPr>
        </p:nvSpPr>
        <p:spPr/>
        <p:txBody>
          <a:bodyPr/>
          <a:lstStyle/>
          <a:p>
            <a:r>
              <a:t>Do you support taking action on this issue?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400" b="0">
                <a:solidFill>
                  <a:srgbClr val="44546A"/>
                </a:solidFill>
                <a:latin typeface="DM Sans"/>
              </a:rPr>
              <a:t>Strong majority support for action.</a:t>
            </a:r>
          </a:p>
          <a:p>
            <a:r>
              <a:rPr sz="1400" b="0">
                <a:solidFill>
                  <a:srgbClr val="44546A"/>
                </a:solidFill>
                <a:latin typeface="DM Sans"/>
              </a:rPr>
              <a:t/>
            </a:r>
          </a:p>
          <a:p>
            <a:r>
              <a:rPr sz="1400" b="0">
                <a:solidFill>
                  <a:srgbClr val="44546A"/>
                </a:solidFill>
                <a:latin typeface="DM Sans"/>
              </a:rPr>
              <a:t>Support is highest among:</a:t>
            </a:r>
          </a:p>
          <a:p>
            <a:r>
              <a:rPr sz="1400" b="0">
                <a:solidFill>
                  <a:srgbClr val="44546A"/>
                </a:solidFill>
                <a:latin typeface="DM Sans"/>
              </a:rPr>
              <a:t>– 35–54 year olds (XX%)</a:t>
            </a:r>
          </a:p>
          <a:p>
            <a:r>
              <a:rPr sz="1400" b="0">
                <a:solidFill>
                  <a:srgbClr val="44546A"/>
                </a:solidFill>
                <a:latin typeface="DM Sans"/>
              </a:rPr>
              <a:t>– Metro residents (XX%)</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region</a:t>
            </a:r>
          </a:p>
        </p:txBody>
      </p:sp>
      <p:sp>
        <p:nvSpPr>
          <p:cNvPr id="4" name="Text Placeholder 3"/>
          <p:cNvSpPr>
            <a:spLocks noGrp="1"/>
          </p:cNvSpPr>
          <p:nvPr>
            <p:ph type="body" idx="21" sz="quarter"/>
          </p:nvPr>
        </p:nvSpPr>
        <p:spPr/>
        <p:txBody>
          <a:bodyPr/>
          <a:lstStyle/>
          <a:p>
            <a:r>
              <a:t>Which region are you based in? (%)</a:t>
            </a:r>
          </a:p>
        </p:txBody>
      </p:sp>
      <p:pic>
        <p:nvPicPr>
          <p:cNvPr id="5" name="Picture 4" descr="image.png"/>
          <p:cNvPicPr>
            <a:picLocks noChangeAspect="1"/>
          </p:cNvPicPr>
          <p:nvPr/>
        </p:nvPicPr>
        <p:blipFill>
          <a:blip r:embed="rId2"/>
          <a:stretch>
            <a:fillRect/>
          </a:stretch>
        </p:blipFill>
        <p:spPr>
          <a:xfrm>
            <a:off x="310896" y="1709928"/>
            <a:ext cx="5303520" cy="3566160"/>
          </a:xfrm>
          <a:prstGeom prst="rect">
            <a:avLst/>
          </a:prstGeom>
        </p:spPr>
      </p:pic>
      <p:sp>
        <p:nvSpPr>
          <p:cNvPr id="6" name="TextBox 5"/>
          <p:cNvSpPr txBox="1"/>
          <p:nvPr/>
        </p:nvSpPr>
        <p:spPr>
          <a:xfrm>
            <a:off x="7379208" y="1709928"/>
            <a:ext cx="4453128" cy="3566160"/>
          </a:xfrm>
          <a:prstGeom prst="rect">
            <a:avLst/>
          </a:prstGeom>
          <a:noFill/>
        </p:spPr>
        <p:txBody>
          <a:bodyPr wrap="square">
            <a:spAutoFit/>
          </a:bodyPr>
          <a:lstStyle/>
          <a:p>
            <a:r>
              <a:rPr sz="1400" b="0">
                <a:solidFill>
                  <a:srgbClr val="44546A"/>
                </a:solidFill>
                <a:latin typeface="DM Sans"/>
              </a:rPr>
              <a:t>Sample is spread across metro, regional,</a:t>
            </a:r>
          </a:p>
          <a:p>
            <a:r>
              <a:rPr sz="1400" b="0">
                <a:solidFill>
                  <a:srgbClr val="44546A"/>
                </a:solidFill>
                <a:latin typeface="DM Sans"/>
              </a:rPr>
              <a:t>rural and remote areas.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age group</a:t>
            </a:r>
          </a:p>
        </p:txBody>
      </p:sp>
      <p:sp>
        <p:nvSpPr>
          <p:cNvPr id="4" name="Text Placeholder 3"/>
          <p:cNvSpPr>
            <a:spLocks noGrp="1"/>
          </p:cNvSpPr>
          <p:nvPr>
            <p:ph type="body" idx="21" sz="quarter"/>
          </p:nvPr>
        </p:nvSpPr>
        <p:spPr/>
        <p:txBody>
          <a:bodyPr/>
          <a:lstStyle/>
          <a:p>
            <a:r>
              <a:t>What is your age group?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TextBox 5"/>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Sample skews slightly toward working-age</a:t>
            </a:r>
          </a:p>
          <a:p>
            <a:r>
              <a:rPr sz="1400" b="0">
                <a:solidFill>
                  <a:srgbClr val="44546A"/>
                </a:solidFill>
                <a:latin typeface="DM Sans"/>
              </a:rPr>
              <a:t>adults (35–54).</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7</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