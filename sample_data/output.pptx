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 id="266" r:id="rId38"/>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38" Type="http://schemas.openxmlformats.org/officeDocument/2006/relationships/slide" Target="slides/slide1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Community Attitudes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March 2026</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n=200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Concern &amp; Salience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concern &amp; community attitudes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Strong concern about the issue is evident across the community, with scepticism about how government is currently handling it.
</a:t>
            </a:r>
          </a:p>
          <a:p>
            <a:r>
              <a:rPr sz="1000" b="0">
                <a:solidFill>
                  <a:srgbClr val="44546A"/>
                </a:solidFill>
                <a:latin typeface="DM Sans"/>
              </a:rPr>
              <a:t>• Over 60% are very or extremely concerned — concern is highest among 35–54 year olds.</a:t>
            </a:r>
          </a:p>
          <a:p>
            <a:r>
              <a:rPr sz="1000" b="0">
                <a:solidFill>
                  <a:srgbClr val="44546A"/>
                </a:solidFill>
                <a:latin typeface="DM Sans"/>
              </a:rPr>
              <a:t>• Agreement that this issue impacts everyday people is broad, cutting across regions.</a:t>
            </a:r>
          </a:p>
          <a:p>
            <a:r>
              <a:rPr sz="1000" b="0">
                <a:solidFill>
                  <a:srgbClr val="44546A"/>
                </a:solidFill>
                <a:latin typeface="DM Sans"/>
              </a:rPr>
              <a:t>• Government handling is rated poorly — fewer than 1 in 5 agree government is handling it well.</a:t>
            </a:r>
          </a:p>
          <a:p>
            <a:r>
              <a:rPr sz="1000" b="0">
                <a:solidFill>
                  <a:srgbClr val="44546A"/>
                </a:solidFill>
                <a:latin typeface="DM Sans"/>
              </a:rPr>
              <a:t>• There is strong appetite for local action alongside calls for stronger government leadership.</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6" name="Oval 5"/>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Concern about the issue</a:t>
            </a:r>
          </a:p>
        </p:txBody>
      </p:sp>
      <p:sp>
        <p:nvSpPr>
          <p:cNvPr id="4" name="Text Placeholder 3"/>
          <p:cNvSpPr>
            <a:spLocks noGrp="1"/>
          </p:cNvSpPr>
          <p:nvPr>
            <p:ph type="body" idx="21" sz="quarter"/>
          </p:nvPr>
        </p:nvSpPr>
        <p:spPr/>
        <p:txBody>
          <a:bodyPr/>
          <a:lstStyle/>
          <a:p>
            <a:r>
              <a:t>How concerned are you about this issue in your community?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4271643" y="2446707"/>
            <a:ext cx="516358" cy="516358"/>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1643" y="2498343"/>
            <a:ext cx="516358" cy="268506"/>
          </a:xfrm>
          <a:prstGeom prst="rect">
            <a:avLst/>
          </a:prstGeom>
          <a:noFill/>
        </p:spPr>
        <p:txBody>
          <a:bodyPr wrap="square">
            <a:spAutoFit/>
          </a:bodyPr>
          <a:lstStyle/>
          <a:p>
            <a:pPr algn="ctr"/>
            <a:r>
              <a:rPr sz="1400" b="1" i="0">
                <a:solidFill>
                  <a:srgbClr val="FFFFFF"/>
                </a:solidFill>
                <a:latin typeface="DM Sans"/>
              </a:rPr>
              <a:t>60%</a:t>
            </a:r>
          </a:p>
        </p:txBody>
      </p:sp>
      <p:sp>
        <p:nvSpPr>
          <p:cNvPr id="8" name="TextBox 7"/>
          <p:cNvSpPr txBox="1"/>
          <p:nvPr/>
        </p:nvSpPr>
        <p:spPr>
          <a:xfrm>
            <a:off x="4271643" y="2746195"/>
            <a:ext cx="516358" cy="185888"/>
          </a:xfrm>
          <a:prstGeom prst="rect">
            <a:avLst/>
          </a:prstGeom>
          <a:noFill/>
        </p:spPr>
        <p:txBody>
          <a:bodyPr wrap="square">
            <a:spAutoFit/>
          </a:bodyPr>
          <a:lstStyle/>
          <a:p>
            <a:pPr algn="ctr"/>
            <a:r>
              <a:rPr sz="700" b="0" i="0">
                <a:solidFill>
                  <a:srgbClr val="FFFFFF"/>
                </a:solidFill>
                <a:latin typeface="DM Sans"/>
              </a:rPr>
              <a:t>Concerned</a:t>
            </a:r>
          </a:p>
        </p:txBody>
      </p:sp>
      <p:sp>
        <p:nvSpPr>
          <p:cNvPr id="9" name="Oval 8"/>
          <p:cNvSpPr/>
          <p:nvPr/>
        </p:nvSpPr>
        <p:spPr>
          <a:xfrm>
            <a:off x="2478824" y="4832516"/>
            <a:ext cx="438904" cy="438904"/>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78824" y="4876406"/>
            <a:ext cx="438904" cy="228230"/>
          </a:xfrm>
          <a:prstGeom prst="rect">
            <a:avLst/>
          </a:prstGeom>
          <a:noFill/>
        </p:spPr>
        <p:txBody>
          <a:bodyPr wrap="square">
            <a:spAutoFit/>
          </a:bodyPr>
          <a:lstStyle/>
          <a:p>
            <a:pPr algn="ctr"/>
            <a:r>
              <a:rPr sz="1200" b="1" i="0">
                <a:solidFill>
                  <a:srgbClr val="FFFFFF"/>
                </a:solidFill>
                <a:latin typeface="DM Sans"/>
              </a:rPr>
              <a:t>15%</a:t>
            </a:r>
          </a:p>
        </p:txBody>
      </p:sp>
      <p:sp>
        <p:nvSpPr>
          <p:cNvPr id="11" name="TextBox 10"/>
          <p:cNvSpPr txBox="1"/>
          <p:nvPr/>
        </p:nvSpPr>
        <p:spPr>
          <a:xfrm>
            <a:off x="2478824" y="5087080"/>
            <a:ext cx="438904" cy="158005"/>
          </a:xfrm>
          <a:prstGeom prst="rect">
            <a:avLst/>
          </a:prstGeom>
          <a:noFill/>
        </p:spPr>
        <p:txBody>
          <a:bodyPr wrap="square">
            <a:spAutoFit/>
          </a:bodyPr>
          <a:lstStyle/>
          <a:p>
            <a:pPr algn="ctr"/>
            <a:r>
              <a:rPr sz="700" b="0" i="0">
                <a:solidFill>
                  <a:srgbClr val="FFFFFF"/>
                </a:solidFill>
                <a:latin typeface="DM Sans"/>
              </a:rPr>
              <a:t>Not concerned</a:t>
            </a:r>
          </a:p>
        </p:txBody>
      </p:sp>
      <p:sp>
        <p:nvSpPr>
          <p:cNvPr id="12" name="TextBox 11"/>
          <p:cNvSpPr txBox="1"/>
          <p:nvPr/>
        </p:nvSpPr>
        <p:spPr>
          <a:xfrm>
            <a:off x="7379208" y="1709928"/>
            <a:ext cx="4453128" cy="4251960"/>
          </a:xfrm>
          <a:prstGeom prst="rect">
            <a:avLst/>
          </a:prstGeom>
          <a:noFill/>
        </p:spPr>
        <p:txBody>
          <a:bodyPr wrap="square">
            <a:spAutoFit/>
          </a:bodyPr>
          <a:lstStyle/>
          <a:p>
            <a:r>
              <a:rPr sz="1400" b="0">
                <a:solidFill>
                  <a:srgbClr val="44546A"/>
                </a:solidFill>
                <a:latin typeface="DM Sans"/>
              </a:rPr>
              <a:t>Concern by age group:</a:t>
            </a:r>
          </a:p>
          <a:p>
            <a:r>
              <a:rPr sz="1400" b="0">
                <a:solidFill>
                  <a:srgbClr val="44546A"/>
                </a:solidFill>
                <a:latin typeface="DM Sans"/>
              </a:rPr>
              <a:t>– 18–24:   XX% very/extremely concerned</a:t>
            </a:r>
          </a:p>
          <a:p>
            <a:r>
              <a:rPr sz="1400" b="0">
                <a:solidFill>
                  <a:srgbClr val="44546A"/>
                </a:solidFill>
                <a:latin typeface="DM Sans"/>
              </a:rPr>
              <a:t>– 25–34:   XX%</a:t>
            </a:r>
          </a:p>
          <a:p>
            <a:r>
              <a:rPr sz="1400" b="0">
                <a:solidFill>
                  <a:srgbClr val="44546A"/>
                </a:solidFill>
                <a:latin typeface="DM Sans"/>
              </a:rPr>
              <a:t>– 35–44:   XX%</a:t>
            </a:r>
          </a:p>
          <a:p>
            <a:r>
              <a:rPr sz="1400" b="0">
                <a:solidFill>
                  <a:srgbClr val="44546A"/>
                </a:solidFill>
                <a:latin typeface="DM Sans"/>
              </a:rPr>
              <a:t>– 45–54:   XX%</a:t>
            </a:r>
          </a:p>
          <a:p>
            <a:r>
              <a:rPr sz="1400" b="0">
                <a:solidFill>
                  <a:srgbClr val="44546A"/>
                </a:solidFill>
                <a:latin typeface="DM Sans"/>
              </a:rPr>
              <a:t>– 55+:     XX%</a:t>
            </a:r>
          </a:p>
          <a:p>
            <a:r>
              <a:rPr sz="1400" b="0">
                <a:solidFill>
                  <a:srgbClr val="44546A"/>
                </a:solidFill>
                <a:latin typeface="DM Sans"/>
              </a:rPr>
              <a:t/>
            </a:r>
          </a:p>
          <a:p>
            <a:r>
              <a:rPr sz="1400" b="0">
                <a:solidFill>
                  <a:srgbClr val="44546A"/>
                </a:solidFill>
                <a:latin typeface="DM Sans"/>
              </a:rPr>
              <a:t>Concern by region:</a:t>
            </a:r>
          </a:p>
          <a:p>
            <a:r>
              <a:rPr sz="1400" b="0">
                <a:solidFill>
                  <a:srgbClr val="44546A"/>
                </a:solidFill>
                <a:latin typeface="DM Sans"/>
              </a:rPr>
              <a:t>– Metro:      XX%</a:t>
            </a:r>
          </a:p>
          <a:p>
            <a:r>
              <a:rPr sz="1400" b="0">
                <a:solidFill>
                  <a:srgbClr val="44546A"/>
                </a:solidFill>
                <a:latin typeface="DM Sans"/>
              </a:rPr>
              <a:t>– Regional:   XX%</a:t>
            </a:r>
          </a:p>
          <a:p>
            <a:r>
              <a:rPr sz="1400" b="0">
                <a:solidFill>
                  <a:srgbClr val="44546A"/>
                </a:solidFill>
                <a:latin typeface="DM Sans"/>
              </a:rPr>
              <a:t>– Rural:      XX%</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Rating — government handling of this issue</a:t>
            </a:r>
          </a:p>
        </p:txBody>
      </p:sp>
      <p:sp>
        <p:nvSpPr>
          <p:cNvPr id="4" name="Text Placeholder 3"/>
          <p:cNvSpPr>
            <a:spLocks noGrp="1"/>
          </p:cNvSpPr>
          <p:nvPr>
            <p:ph type="body" idx="21" sz="quarter"/>
          </p:nvPr>
        </p:nvSpPr>
        <p:spPr/>
        <p:txBody>
          <a:bodyPr/>
          <a:lstStyle/>
          <a:p>
            <a:r>
              <a:t>The government is handling this issue effectively.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2954632" y="2446707"/>
            <a:ext cx="516358" cy="516358"/>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54632" y="2498343"/>
            <a:ext cx="516358" cy="268506"/>
          </a:xfrm>
          <a:prstGeom prst="rect">
            <a:avLst/>
          </a:prstGeom>
          <a:noFill/>
        </p:spPr>
        <p:txBody>
          <a:bodyPr wrap="square">
            <a:spAutoFit/>
          </a:bodyPr>
          <a:lstStyle/>
          <a:p>
            <a:pPr algn="ctr"/>
            <a:r>
              <a:rPr sz="1400" b="1" i="0">
                <a:solidFill>
                  <a:srgbClr val="FFFFFF"/>
                </a:solidFill>
                <a:latin typeface="DM Sans"/>
              </a:rPr>
              <a:t>23%</a:t>
            </a:r>
          </a:p>
        </p:txBody>
      </p:sp>
      <p:sp>
        <p:nvSpPr>
          <p:cNvPr id="8" name="TextBox 7"/>
          <p:cNvSpPr txBox="1"/>
          <p:nvPr/>
        </p:nvSpPr>
        <p:spPr>
          <a:xfrm>
            <a:off x="2954632" y="2746195"/>
            <a:ext cx="516358" cy="185888"/>
          </a:xfrm>
          <a:prstGeom prst="rect">
            <a:avLst/>
          </a:prstGeom>
          <a:noFill/>
        </p:spPr>
        <p:txBody>
          <a:bodyPr wrap="square">
            <a:spAutoFit/>
          </a:bodyPr>
          <a:lstStyle/>
          <a:p>
            <a:pPr algn="ctr"/>
            <a:r>
              <a:rPr sz="700" b="0" i="0">
                <a:solidFill>
                  <a:srgbClr val="FFFFFF"/>
                </a:solidFill>
                <a:latin typeface="DM Sans"/>
              </a:rPr>
              <a:t>Agree</a:t>
            </a:r>
          </a:p>
        </p:txBody>
      </p:sp>
      <p:sp>
        <p:nvSpPr>
          <p:cNvPr id="9" name="Oval 8"/>
          <p:cNvSpPr/>
          <p:nvPr/>
        </p:nvSpPr>
        <p:spPr>
          <a:xfrm>
            <a:off x="4304219" y="4832516"/>
            <a:ext cx="438904" cy="438904"/>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04219" y="4876406"/>
            <a:ext cx="438904" cy="228230"/>
          </a:xfrm>
          <a:prstGeom prst="rect">
            <a:avLst/>
          </a:prstGeom>
          <a:noFill/>
        </p:spPr>
        <p:txBody>
          <a:bodyPr wrap="square">
            <a:spAutoFit/>
          </a:bodyPr>
          <a:lstStyle/>
          <a:p>
            <a:pPr algn="ctr"/>
            <a:r>
              <a:rPr sz="1200" b="1" i="0">
                <a:solidFill>
                  <a:srgbClr val="FFFFFF"/>
                </a:solidFill>
                <a:latin typeface="DM Sans"/>
              </a:rPr>
              <a:t>60%</a:t>
            </a:r>
          </a:p>
        </p:txBody>
      </p:sp>
      <p:sp>
        <p:nvSpPr>
          <p:cNvPr id="11" name="TextBox 10"/>
          <p:cNvSpPr txBox="1"/>
          <p:nvPr/>
        </p:nvSpPr>
        <p:spPr>
          <a:xfrm>
            <a:off x="4304219" y="5087080"/>
            <a:ext cx="438904" cy="158005"/>
          </a:xfrm>
          <a:prstGeom prst="rect">
            <a:avLst/>
          </a:prstGeom>
          <a:noFill/>
        </p:spPr>
        <p:txBody>
          <a:bodyPr wrap="square">
            <a:spAutoFit/>
          </a:bodyPr>
          <a:lstStyle/>
          <a:p>
            <a:pPr algn="ctr"/>
            <a:r>
              <a:rPr sz="700" b="0" i="0">
                <a:solidFill>
                  <a:srgbClr val="FFFFFF"/>
                </a:solidFill>
                <a:latin typeface="DM Sans"/>
              </a:rPr>
              <a:t>Disagree</a:t>
            </a:r>
          </a:p>
        </p:txBody>
      </p:sp>
      <p:sp>
        <p:nvSpPr>
          <p:cNvPr id="12" name="TextBox 11"/>
          <p:cNvSpPr txBox="1"/>
          <p:nvPr/>
        </p:nvSpPr>
        <p:spPr>
          <a:xfrm>
            <a:off x="7379208" y="1709928"/>
            <a:ext cx="4453128" cy="4251960"/>
          </a:xfrm>
          <a:prstGeom prst="rect">
            <a:avLst/>
          </a:prstGeom>
          <a:noFill/>
        </p:spPr>
        <p:txBody>
          <a:bodyPr wrap="square">
            <a:spAutoFit/>
          </a:bodyPr>
          <a:lstStyle/>
          <a:p>
            <a:r>
              <a:rPr sz="1400" b="0">
                <a:solidFill>
                  <a:srgbClr val="44546A"/>
                </a:solidFill>
                <a:latin typeface="DM Sans"/>
              </a:rPr>
              <a:t>Scepticism about government performance</a:t>
            </a:r>
          </a:p>
          <a:p>
            <a:r>
              <a:rPr sz="1400" b="0">
                <a:solidFill>
                  <a:srgbClr val="44546A"/>
                </a:solidFill>
                <a:latin typeface="DM Sans"/>
              </a:rPr>
              <a:t>is consistent across all demographics.</a:t>
            </a:r>
          </a:p>
          <a:p>
            <a:r>
              <a:rPr sz="1400" b="0">
                <a:solidFill>
                  <a:srgbClr val="44546A"/>
                </a:solidFill>
                <a:latin typeface="DM Sans"/>
              </a:rPr>
              <a:t/>
            </a:r>
          </a:p>
          <a:p>
            <a:r>
              <a:rPr sz="1400" b="0">
                <a:solidFill>
                  <a:srgbClr val="44546A"/>
                </a:solidFill>
                <a:latin typeface="DM Sans"/>
              </a:rPr>
              <a:t>Disagreement is highest among:</a:t>
            </a:r>
          </a:p>
          <a:p>
            <a:r>
              <a:rPr sz="1400" b="0">
                <a:solidFill>
                  <a:srgbClr val="44546A"/>
                </a:solidFill>
                <a:latin typeface="DM Sans"/>
              </a:rPr>
              <a:t>– 35–54 year olds (XX%)</a:t>
            </a:r>
          </a:p>
          <a:p>
            <a:r>
              <a:rPr sz="1400" b="0">
                <a:solidFill>
                  <a:srgbClr val="44546A"/>
                </a:solidFill>
                <a:latin typeface="DM Sans"/>
              </a:rPr>
              <a:t>– Regional residents (XX%)</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Attitudes &amp; Beliefs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Agreement — statements about the issue</a:t>
            </a:r>
          </a:p>
        </p:txBody>
      </p:sp>
      <p:sp>
        <p:nvSpPr>
          <p:cNvPr id="3" name="Text Placeholder 2"/>
          <p:cNvSpPr>
            <a:spLocks noGrp="1"/>
          </p:cNvSpPr>
          <p:nvPr>
            <p:ph type="body" idx="21" sz="quarter"/>
          </p:nvPr>
        </p:nvSpPr>
        <p:spPr/>
        <p:txBody>
          <a:bodyPr/>
          <a:lstStyle/>
          <a:p>
            <a:r>
              <a:t>How strongly do you agree or disagree with each of the following statements? (%)</a:t>
            </a:r>
          </a:p>
        </p:txBody>
      </p:sp>
      <p:sp>
        <p:nvSpPr>
          <p:cNvPr id="4" name="Text Placeholder 3"/>
          <p:cNvSpPr>
            <a:spLocks noGrp="1"/>
          </p:cNvSpPr>
          <p:nvPr>
            <p:ph type="body" idx="22" sz="quarter"/>
          </p:nvPr>
        </p:nvSpPr>
        <p:spPr/>
        <p:txBody>
          <a:bodyPr/>
          <a:lstStyle/>
          <a:p>
            <a:r>
              <a:t>Base: all respondents (n=200)</a:t>
            </a:r>
          </a:p>
        </p:txBody>
      </p:sp>
      <p:pic>
        <p:nvPicPr>
          <p:cNvPr id="5" name="Picture 4" descr="image.png"/>
          <p:cNvPicPr>
            <a:picLocks noChangeAspect="1"/>
          </p:cNvPicPr>
          <p:nvPr/>
        </p:nvPicPr>
        <p:blipFill>
          <a:blip r:embed="rId2"/>
          <a:stretch>
            <a:fillRect/>
          </a:stretch>
        </p:blipFill>
        <p:spPr>
          <a:xfrm>
            <a:off x="310896" y="2148840"/>
            <a:ext cx="8229600" cy="2880360"/>
          </a:xfrm>
          <a:prstGeom prst="rect">
            <a:avLst/>
          </a:prstGeom>
        </p:spPr>
      </p:pic>
      <p:sp>
        <p:nvSpPr>
          <p:cNvPr id="6" name="TextBox 5"/>
          <p:cNvSpPr txBox="1"/>
          <p:nvPr/>
        </p:nvSpPr>
        <p:spPr>
          <a:xfrm>
            <a:off x="8686800" y="2148840"/>
            <a:ext cx="3136391" cy="2880360"/>
          </a:xfrm>
          <a:prstGeom prst="rect">
            <a:avLst/>
          </a:prstGeom>
          <a:noFill/>
        </p:spPr>
        <p:txBody>
          <a:bodyPr wrap="square">
            <a:spAutoFit/>
          </a:bodyPr>
          <a:lstStyle/>
          <a:p>
            <a:r>
              <a:rPr sz="1400" b="0">
                <a:solidFill>
                  <a:srgbClr val="44546A"/>
                </a:solidFill>
                <a:latin typeface="DM Sans"/>
              </a:rPr>
              <a:t>Total agree by statement:</a:t>
            </a:r>
          </a:p>
          <a:p>
            <a:r>
              <a:rPr sz="1400" b="0">
                <a:solidFill>
                  <a:srgbClr val="44546A"/>
                </a:solidFill>
                <a:latin typeface="DM Sans"/>
              </a:rPr>
              <a:t>– Community impact:   XX%</a:t>
            </a:r>
          </a:p>
          <a:p>
            <a:r>
              <a:rPr sz="1400" b="0">
                <a:solidFill>
                  <a:srgbClr val="44546A"/>
                </a:solidFill>
                <a:latin typeface="DM Sans"/>
              </a:rPr>
              <a:t>– Govt leadership:    XX%</a:t>
            </a:r>
          </a:p>
          <a:p>
            <a:r>
              <a:rPr sz="1400" b="0">
                <a:solidFill>
                  <a:srgbClr val="44546A"/>
                </a:solidFill>
                <a:latin typeface="DM Sans"/>
              </a:rPr>
              <a:t>– Local action:       XX%</a:t>
            </a:r>
          </a:p>
          <a:p>
            <a:r>
              <a:rPr sz="1400" b="0">
                <a:solidFill>
                  <a:srgbClr val="44546A"/>
                </a:solidFill>
                <a:latin typeface="DM Sans"/>
              </a:rPr>
              <a:t/>
            </a:r>
          </a:p>
          <a:p>
            <a:r>
              <a:rPr sz="1400" b="0">
                <a:solidFill>
                  <a:srgbClr val="44546A"/>
                </a:solidFill>
                <a:latin typeface="DM Sans"/>
              </a:rPr>
              <a:t>Agreement is broadly consistent</a:t>
            </a:r>
          </a:p>
          <a:p>
            <a:r>
              <a:rPr sz="1400" b="0">
                <a:solidFill>
                  <a:srgbClr val="44546A"/>
                </a:solidFill>
                <a:latin typeface="DM Sans"/>
              </a:rPr>
              <a:t>across age groups and regions.</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Support for action</a:t>
            </a:r>
          </a:p>
        </p:txBody>
      </p:sp>
      <p:sp>
        <p:nvSpPr>
          <p:cNvPr id="4" name="Text Placeholder 3"/>
          <p:cNvSpPr>
            <a:spLocks noGrp="1"/>
          </p:cNvSpPr>
          <p:nvPr>
            <p:ph type="body" idx="21" sz="quarter"/>
          </p:nvPr>
        </p:nvSpPr>
        <p:spPr/>
        <p:txBody>
          <a:bodyPr/>
          <a:lstStyle/>
          <a:p>
            <a:r>
              <a:t>Do you support taking action on this issue? (%)</a:t>
            </a:r>
          </a:p>
        </p:txBody>
      </p:sp>
      <p:pic>
        <p:nvPicPr>
          <p:cNvPr id="5" name="Picture 4" descr="image.png"/>
          <p:cNvPicPr>
            <a:picLocks noChangeAspect="1"/>
          </p:cNvPicPr>
          <p:nvPr/>
        </p:nvPicPr>
        <p:blipFill>
          <a:blip r:embed="rId2"/>
          <a:stretch>
            <a:fillRect/>
          </a:stretch>
        </p:blipFill>
        <p:spPr>
          <a:xfrm>
            <a:off x="310896" y="1709928"/>
            <a:ext cx="5303520" cy="4114800"/>
          </a:xfrm>
          <a:prstGeom prst="rect">
            <a:avLst/>
          </a:prstGeom>
        </p:spPr>
      </p:pic>
      <p:sp>
        <p:nvSpPr>
          <p:cNvPr id="6" name="TextBox 5"/>
          <p:cNvSpPr txBox="1"/>
          <p:nvPr/>
        </p:nvSpPr>
        <p:spPr>
          <a:xfrm>
            <a:off x="7379208" y="1709928"/>
            <a:ext cx="4453128" cy="4114800"/>
          </a:xfrm>
          <a:prstGeom prst="rect">
            <a:avLst/>
          </a:prstGeom>
          <a:noFill/>
        </p:spPr>
        <p:txBody>
          <a:bodyPr wrap="square">
            <a:spAutoFit/>
          </a:bodyPr>
          <a:lstStyle/>
          <a:p>
            <a:r>
              <a:rPr sz="1400" b="0">
                <a:solidFill>
                  <a:srgbClr val="44546A"/>
                </a:solidFill>
                <a:latin typeface="DM Sans"/>
              </a:rPr>
              <a:t>Strong majority support for action.</a:t>
            </a:r>
          </a:p>
          <a:p>
            <a:r>
              <a:rPr sz="1400" b="0">
                <a:solidFill>
                  <a:srgbClr val="44546A"/>
                </a:solidFill>
                <a:latin typeface="DM Sans"/>
              </a:rPr>
              <a:t/>
            </a:r>
          </a:p>
          <a:p>
            <a:r>
              <a:rPr sz="1400" b="0">
                <a:solidFill>
                  <a:srgbClr val="44546A"/>
                </a:solidFill>
                <a:latin typeface="DM Sans"/>
              </a:rPr>
              <a:t>Support is highest among:</a:t>
            </a:r>
          </a:p>
          <a:p>
            <a:r>
              <a:rPr sz="1400" b="0">
                <a:solidFill>
                  <a:srgbClr val="44546A"/>
                </a:solidFill>
                <a:latin typeface="DM Sans"/>
              </a:rPr>
              <a:t>– 35–54 year olds (XX%)</a:t>
            </a:r>
          </a:p>
          <a:p>
            <a:r>
              <a:rPr sz="1400" b="0">
                <a:solidFill>
                  <a:srgbClr val="44546A"/>
                </a:solidFill>
                <a:latin typeface="DM Sans"/>
              </a:rPr>
              <a:t>– Metro residents (XX%)</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Demographics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Respondent region</a:t>
            </a:r>
          </a:p>
        </p:txBody>
      </p:sp>
      <p:sp>
        <p:nvSpPr>
          <p:cNvPr id="4" name="Text Placeholder 3"/>
          <p:cNvSpPr>
            <a:spLocks noGrp="1"/>
          </p:cNvSpPr>
          <p:nvPr>
            <p:ph type="body" idx="21" sz="quarter"/>
          </p:nvPr>
        </p:nvSpPr>
        <p:spPr/>
        <p:txBody>
          <a:bodyPr/>
          <a:lstStyle/>
          <a:p>
            <a:r>
              <a:t>Which region are you based in? (%)</a:t>
            </a:r>
          </a:p>
        </p:txBody>
      </p:sp>
      <p:pic>
        <p:nvPicPr>
          <p:cNvPr id="5" name="Picture 4" descr="image.png"/>
          <p:cNvPicPr>
            <a:picLocks noChangeAspect="1"/>
          </p:cNvPicPr>
          <p:nvPr/>
        </p:nvPicPr>
        <p:blipFill>
          <a:blip r:embed="rId2"/>
          <a:stretch>
            <a:fillRect/>
          </a:stretch>
        </p:blipFill>
        <p:spPr>
          <a:xfrm>
            <a:off x="310896" y="1709928"/>
            <a:ext cx="5303520" cy="3566160"/>
          </a:xfrm>
          <a:prstGeom prst="rect">
            <a:avLst/>
          </a:prstGeom>
        </p:spPr>
      </p:pic>
      <p:sp>
        <p:nvSpPr>
          <p:cNvPr id="6" name="TextBox 5"/>
          <p:cNvSpPr txBox="1"/>
          <p:nvPr/>
        </p:nvSpPr>
        <p:spPr>
          <a:xfrm>
            <a:off x="7379208" y="1709928"/>
            <a:ext cx="4453128" cy="3566160"/>
          </a:xfrm>
          <a:prstGeom prst="rect">
            <a:avLst/>
          </a:prstGeom>
          <a:noFill/>
        </p:spPr>
        <p:txBody>
          <a:bodyPr wrap="square">
            <a:spAutoFit/>
          </a:bodyPr>
          <a:lstStyle/>
          <a:p>
            <a:r>
              <a:rPr sz="1400" b="0">
                <a:solidFill>
                  <a:srgbClr val="44546A"/>
                </a:solidFill>
                <a:latin typeface="DM Sans"/>
              </a:rPr>
              <a:t>Sample is spread across metro, regional,</a:t>
            </a:r>
          </a:p>
          <a:p>
            <a:r>
              <a:rPr sz="1400" b="0">
                <a:solidFill>
                  <a:srgbClr val="44546A"/>
                </a:solidFill>
                <a:latin typeface="DM Sans"/>
              </a:rPr>
              <a:t>rural and remote areas.</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Respondent age group</a:t>
            </a:r>
          </a:p>
        </p:txBody>
      </p:sp>
      <p:sp>
        <p:nvSpPr>
          <p:cNvPr id="4" name="Text Placeholder 3"/>
          <p:cNvSpPr>
            <a:spLocks noGrp="1"/>
          </p:cNvSpPr>
          <p:nvPr>
            <p:ph type="body" idx="21" sz="quarter"/>
          </p:nvPr>
        </p:nvSpPr>
        <p:spPr/>
        <p:txBody>
          <a:bodyPr/>
          <a:lstStyle/>
          <a:p>
            <a:r>
              <a:t>What is your age group?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TextBox 5"/>
          <p:cNvSpPr txBox="1"/>
          <p:nvPr/>
        </p:nvSpPr>
        <p:spPr>
          <a:xfrm>
            <a:off x="7379208" y="1709928"/>
            <a:ext cx="4453128" cy="4251960"/>
          </a:xfrm>
          <a:prstGeom prst="rect">
            <a:avLst/>
          </a:prstGeom>
          <a:noFill/>
        </p:spPr>
        <p:txBody>
          <a:bodyPr wrap="square">
            <a:spAutoFit/>
          </a:bodyPr>
          <a:lstStyle/>
          <a:p>
            <a:r>
              <a:rPr sz="1400" b="0">
                <a:solidFill>
                  <a:srgbClr val="44546A"/>
                </a:solidFill>
                <a:latin typeface="DM Sans"/>
              </a:rPr>
              <a:t>Sample skews slightly toward working-age</a:t>
            </a:r>
          </a:p>
          <a:p>
            <a:r>
              <a:rPr sz="1400" b="0">
                <a:solidFill>
                  <a:srgbClr val="44546A"/>
                </a:solidFill>
                <a:latin typeface="DM Sans"/>
              </a:rPr>
              <a:t>adults (35–54).</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7</a:t>
            </a:r>
          </a:p>
        </p:txBody>
      </p:sp>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