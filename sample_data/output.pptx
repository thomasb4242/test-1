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2.png"/><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Sample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respondents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Respondent ID</a:t>
            </a: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[respondent_id] — numeric summary</a:t>
            </a:r>
          </a:p>
        </p:txBody>
      </p:sp>
      <p:sp>
        <p:nvSpPr>
          <p:cNvPr id="5" name="TextBox 4"/>
          <p:cNvSpPr txBox="1"/>
          <p:nvPr/>
        </p:nvSpPr>
        <p:spPr>
          <a:xfrm>
            <a:off x="7434072" y="1463040"/>
            <a:ext cx="4389119" cy="4251960"/>
          </a:xfrm>
          <a:prstGeom prst="rect">
            <a:avLst/>
          </a:prstGeom>
          <a:noFill/>
        </p:spPr>
        <p:txBody>
          <a:bodyPr wrap="square">
            <a:spAutoFit/>
          </a:bodyPr>
          <a:lstStyle/>
          <a:p>
            <a:r>
              <a:rPr sz="1000" b="0">
                <a:solidFill>
                  <a:srgbClr val="44546A"/>
                </a:solidFill>
                <a:latin typeface="DM Sans"/>
              </a:rPr>
              <a:t>Add commentary here.</a:t>
            </a:r>
          </a:p>
        </p:txBody>
      </p:sp>
      <p:sp>
        <p:nvSpPr>
          <p:cNvPr id="6" name="TextBox 5"/>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7" name="TextBox 6"/>
          <p:cNvSpPr txBox="1"/>
          <p:nvPr/>
        </p:nvSpPr>
        <p:spPr>
          <a:xfrm>
            <a:off x="11338560" y="6217920"/>
            <a:ext cx="612648" cy="274320"/>
          </a:xfrm>
          <a:prstGeom prst="rect">
            <a:avLst/>
          </a:prstGeom>
          <a:noFill/>
        </p:spPr>
        <p:txBody>
          <a:bodyPr wrap="square">
            <a:spAutoFit/>
          </a:bodyPr>
          <a:lstStyle/>
          <a:p>
            <a:pPr algn="r"/>
            <a:r>
              <a:rPr sz="800" b="0" i="0">
                <a:solidFill>
                  <a:srgbClr val="44546A"/>
                </a:solidFill>
                <a:latin typeface="DM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How concerned are you about this issue in your community?</a:t>
            </a: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[issue_concern] (%)</a:t>
            </a:r>
          </a:p>
        </p:txBody>
      </p:sp>
      <p:pic>
        <p:nvPicPr>
          <p:cNvPr id="5" name="Picture 4" descr="image.png"/>
          <p:cNvPicPr>
            <a:picLocks noChangeAspect="1"/>
          </p:cNvPicPr>
          <p:nvPr/>
        </p:nvPicPr>
        <p:blipFill>
          <a:blip r:embed="rId2"/>
          <a:stretch>
            <a:fillRect/>
          </a:stretch>
        </p:blipFill>
        <p:spPr>
          <a:xfrm>
            <a:off x="310896" y="1463040"/>
            <a:ext cx="6702552" cy="1645920"/>
          </a:xfrm>
          <a:prstGeom prst="rect">
            <a:avLst/>
          </a:prstGeom>
        </p:spPr>
      </p:pic>
      <p:sp>
        <p:nvSpPr>
          <p:cNvPr id="6" name="TextBox 5"/>
          <p:cNvSpPr txBox="1"/>
          <p:nvPr/>
        </p:nvSpPr>
        <p:spPr>
          <a:xfrm>
            <a:off x="7434072" y="1463040"/>
            <a:ext cx="4389119" cy="1645920"/>
          </a:xfrm>
          <a:prstGeom prst="rect">
            <a:avLst/>
          </a:prstGeom>
          <a:noFill/>
        </p:spPr>
        <p:txBody>
          <a:bodyPr wrap="square">
            <a:spAutoFit/>
          </a:bodyPr>
          <a:lstStyle/>
          <a:p>
            <a:r>
              <a:rPr sz="1000" b="0">
                <a:solidFill>
                  <a:srgbClr val="44546A"/>
                </a:solidFill>
                <a:latin typeface="DM Sans"/>
              </a:rPr>
              <a:t>Add subgroup breakdowns here, e.g.:</a:t>
            </a:r>
          </a:p>
          <a:p>
            <a:r>
              <a:rPr sz="1000" b="0">
                <a:solidFill>
                  <a:srgbClr val="44546A"/>
                </a:solidFill>
                <a:latin typeface="DM Sans"/>
              </a:rPr>
              <a:t>– Under 30:  XX%</a:t>
            </a:r>
          </a:p>
          <a:p>
            <a:r>
              <a:rPr sz="1000" b="0">
                <a:solidFill>
                  <a:srgbClr val="44546A"/>
                </a:solidFill>
                <a:latin typeface="DM Sans"/>
              </a:rPr>
              <a:t>– 30–44:     XX%</a:t>
            </a:r>
          </a:p>
        </p:txBody>
      </p:sp>
      <p:sp>
        <p:nvSpPr>
          <p:cNvPr id="7" name="TextBox 6"/>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8" name="TextBox 7"/>
          <p:cNvSpPr txBox="1"/>
          <p:nvPr/>
        </p:nvSpPr>
        <p:spPr>
          <a:xfrm>
            <a:off x="11338560" y="6217920"/>
            <a:ext cx="612648" cy="274320"/>
          </a:xfrm>
          <a:prstGeom prst="rect">
            <a:avLst/>
          </a:prstGeom>
          <a:noFill/>
        </p:spPr>
        <p:txBody>
          <a:bodyPr wrap="square">
            <a:spAutoFit/>
          </a:bodyPr>
          <a:lstStyle/>
          <a:p>
            <a:pPr algn="r"/>
            <a:r>
              <a:rPr sz="800" b="0" i="0">
                <a:solidFill>
                  <a:srgbClr val="44546A"/>
                </a:solidFill>
                <a:latin typeface="DM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The government is handling this issue effectively.</a:t>
            </a: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[govt_handling] (%)</a:t>
            </a:r>
          </a:p>
        </p:txBody>
      </p:sp>
      <p:pic>
        <p:nvPicPr>
          <p:cNvPr id="5" name="Picture 4" descr="image.png"/>
          <p:cNvPicPr>
            <a:picLocks noChangeAspect="1"/>
          </p:cNvPicPr>
          <p:nvPr/>
        </p:nvPicPr>
        <p:blipFill>
          <a:blip r:embed="rId2"/>
          <a:stretch>
            <a:fillRect/>
          </a:stretch>
        </p:blipFill>
        <p:spPr>
          <a:xfrm>
            <a:off x="310896" y="1463040"/>
            <a:ext cx="6702552" cy="1645920"/>
          </a:xfrm>
          <a:prstGeom prst="rect">
            <a:avLst/>
          </a:prstGeom>
        </p:spPr>
      </p:pic>
      <p:sp>
        <p:nvSpPr>
          <p:cNvPr id="6" name="TextBox 5"/>
          <p:cNvSpPr txBox="1"/>
          <p:nvPr/>
        </p:nvSpPr>
        <p:spPr>
          <a:xfrm>
            <a:off x="7434072" y="1463040"/>
            <a:ext cx="4389119" cy="1645920"/>
          </a:xfrm>
          <a:prstGeom prst="rect">
            <a:avLst/>
          </a:prstGeom>
          <a:noFill/>
        </p:spPr>
        <p:txBody>
          <a:bodyPr wrap="square">
            <a:spAutoFit/>
          </a:bodyPr>
          <a:lstStyle/>
          <a:p>
            <a:r>
              <a:rPr sz="1000" b="0">
                <a:solidFill>
                  <a:srgbClr val="44546A"/>
                </a:solidFill>
                <a:latin typeface="DM Sans"/>
              </a:rPr>
              <a:t>Add subgroup breakdowns here, e.g.:</a:t>
            </a:r>
          </a:p>
          <a:p>
            <a:r>
              <a:rPr sz="1000" b="0">
                <a:solidFill>
                  <a:srgbClr val="44546A"/>
                </a:solidFill>
                <a:latin typeface="DM Sans"/>
              </a:rPr>
              <a:t>– Under 30:  XX%</a:t>
            </a:r>
          </a:p>
          <a:p>
            <a:r>
              <a:rPr sz="1000" b="0">
                <a:solidFill>
                  <a:srgbClr val="44546A"/>
                </a:solidFill>
                <a:latin typeface="DM Sans"/>
              </a:rPr>
              <a:t>– 30–44:     XX%</a:t>
            </a:r>
          </a:p>
        </p:txBody>
      </p:sp>
      <p:sp>
        <p:nvSpPr>
          <p:cNvPr id="7" name="TextBox 6"/>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8" name="TextBox 7"/>
          <p:cNvSpPr txBox="1"/>
          <p:nvPr/>
        </p:nvSpPr>
        <p:spPr>
          <a:xfrm>
            <a:off x="11338560" y="6217920"/>
            <a:ext cx="612648" cy="274320"/>
          </a:xfrm>
          <a:prstGeom prst="rect">
            <a:avLst/>
          </a:prstGeom>
          <a:noFill/>
        </p:spPr>
        <p:txBody>
          <a:bodyPr wrap="square">
            <a:spAutoFit/>
          </a:bodyPr>
          <a:lstStyle/>
          <a:p>
            <a:pPr algn="r"/>
            <a:r>
              <a:rPr sz="800" b="0" i="0">
                <a:solidFill>
                  <a:srgbClr val="44546A"/>
                </a:solidFill>
                <a:latin typeface="DM Sans"/>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Stmt</a:t>
            </a: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a:t>
            </a:r>
          </a:p>
        </p:txBody>
      </p:sp>
      <p:pic>
        <p:nvPicPr>
          <p:cNvPr id="5" name="Picture 4" descr="image.png"/>
          <p:cNvPicPr>
            <a:picLocks noChangeAspect="1"/>
          </p:cNvPicPr>
          <p:nvPr/>
        </p:nvPicPr>
        <p:blipFill>
          <a:blip r:embed="rId2"/>
          <a:stretch>
            <a:fillRect/>
          </a:stretch>
        </p:blipFill>
        <p:spPr>
          <a:xfrm>
            <a:off x="310896" y="1463040"/>
            <a:ext cx="6099048" cy="2880360"/>
          </a:xfrm>
          <a:prstGeom prst="rect">
            <a:avLst/>
          </a:prstGeom>
        </p:spPr>
      </p:pic>
      <p:sp>
        <p:nvSpPr>
          <p:cNvPr id="6" name="Oval 5"/>
          <p:cNvSpPr/>
          <p:nvPr/>
        </p:nvSpPr>
        <p:spPr>
          <a:xfrm>
            <a:off x="5023850" y="1686747"/>
            <a:ext cx="637519" cy="637519"/>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3850" y="1827002"/>
            <a:ext cx="637519" cy="357011"/>
          </a:xfrm>
          <a:prstGeom prst="rect">
            <a:avLst/>
          </a:prstGeom>
          <a:noFill/>
        </p:spPr>
        <p:txBody>
          <a:bodyPr wrap="square">
            <a:spAutoFit/>
          </a:bodyPr>
          <a:lstStyle/>
          <a:p>
            <a:pPr algn="ctr"/>
            <a:r>
              <a:rPr sz="1800" b="1" i="0">
                <a:solidFill>
                  <a:srgbClr val="FFFFFF"/>
                </a:solidFill>
                <a:latin typeface="DM Sans"/>
              </a:rPr>
              <a:t>85%</a:t>
            </a:r>
          </a:p>
        </p:txBody>
      </p:sp>
      <p:sp>
        <p:nvSpPr>
          <p:cNvPr id="8" name="Oval 7"/>
          <p:cNvSpPr/>
          <p:nvPr/>
        </p:nvSpPr>
        <p:spPr>
          <a:xfrm>
            <a:off x="4840879" y="2483647"/>
            <a:ext cx="637519" cy="637519"/>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0879" y="2623901"/>
            <a:ext cx="637519" cy="357011"/>
          </a:xfrm>
          <a:prstGeom prst="rect">
            <a:avLst/>
          </a:prstGeom>
          <a:noFill/>
        </p:spPr>
        <p:txBody>
          <a:bodyPr wrap="square">
            <a:spAutoFit/>
          </a:bodyPr>
          <a:lstStyle/>
          <a:p>
            <a:pPr algn="ctr"/>
            <a:r>
              <a:rPr sz="1800" b="1" i="0">
                <a:solidFill>
                  <a:srgbClr val="FFFFFF"/>
                </a:solidFill>
                <a:latin typeface="DM Sans"/>
              </a:rPr>
              <a:t>79%</a:t>
            </a:r>
          </a:p>
        </p:txBody>
      </p:sp>
      <p:sp>
        <p:nvSpPr>
          <p:cNvPr id="10" name="Oval 9"/>
          <p:cNvSpPr/>
          <p:nvPr/>
        </p:nvSpPr>
        <p:spPr>
          <a:xfrm>
            <a:off x="5023850" y="3280547"/>
            <a:ext cx="637519" cy="637519"/>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3850" y="3420801"/>
            <a:ext cx="637519" cy="357011"/>
          </a:xfrm>
          <a:prstGeom prst="rect">
            <a:avLst/>
          </a:prstGeom>
          <a:noFill/>
        </p:spPr>
        <p:txBody>
          <a:bodyPr wrap="square">
            <a:spAutoFit/>
          </a:bodyPr>
          <a:lstStyle/>
          <a:p>
            <a:pPr algn="ctr"/>
            <a:r>
              <a:rPr sz="1800" b="1" i="0">
                <a:solidFill>
                  <a:srgbClr val="FFFFFF"/>
                </a:solidFill>
                <a:latin typeface="DM Sans"/>
              </a:rPr>
              <a:t>85%</a:t>
            </a:r>
          </a:p>
        </p:txBody>
      </p:sp>
      <p:pic>
        <p:nvPicPr>
          <p:cNvPr id="12" name="Picture 11" descr="image.png"/>
          <p:cNvPicPr>
            <a:picLocks noChangeAspect="1"/>
          </p:cNvPicPr>
          <p:nvPr/>
        </p:nvPicPr>
        <p:blipFill>
          <a:blip r:embed="rId3"/>
          <a:stretch>
            <a:fillRect/>
          </a:stretch>
        </p:blipFill>
        <p:spPr>
          <a:xfrm>
            <a:off x="310896" y="4416552"/>
            <a:ext cx="6099048" cy="274320"/>
          </a:xfrm>
          <a:prstGeom prst="rect">
            <a:avLst/>
          </a:prstGeom>
        </p:spPr>
      </p:pic>
      <p:sp>
        <p:nvSpPr>
          <p:cNvPr id="13" name="TextBox 12"/>
          <p:cNvSpPr txBox="1"/>
          <p:nvPr/>
        </p:nvSpPr>
        <p:spPr>
          <a:xfrm>
            <a:off x="7068312" y="1463040"/>
            <a:ext cx="4754879" cy="2880360"/>
          </a:xfrm>
          <a:prstGeom prst="rect">
            <a:avLst/>
          </a:prstGeom>
          <a:noFill/>
        </p:spPr>
        <p:txBody>
          <a:bodyPr wrap="square">
            <a:spAutoFit/>
          </a:bodyPr>
          <a:lstStyle/>
          <a:p>
            <a:r>
              <a:rPr sz="1000" b="0">
                <a:solidFill>
                  <a:srgbClr val="44546A"/>
                </a:solidFill>
                <a:latin typeface="DM Sans"/>
              </a:rPr>
              <a:t>Add commentary here.</a:t>
            </a:r>
          </a:p>
        </p:txBody>
      </p:sp>
      <p:sp>
        <p:nvSpPr>
          <p:cNvPr id="14" name="TextBox 13"/>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15" name="TextBox 14"/>
          <p:cNvSpPr txBox="1"/>
          <p:nvPr/>
        </p:nvSpPr>
        <p:spPr>
          <a:xfrm>
            <a:off x="11338560" y="6217920"/>
            <a:ext cx="612648" cy="274320"/>
          </a:xfrm>
          <a:prstGeom prst="rect">
            <a:avLst/>
          </a:prstGeom>
          <a:noFill/>
        </p:spPr>
        <p:txBody>
          <a:bodyPr wrap="square">
            <a:spAutoFit/>
          </a:bodyPr>
          <a:lstStyle/>
          <a:p>
            <a:pPr algn="r"/>
            <a:r>
              <a:rPr sz="800" b="0" i="0">
                <a:solidFill>
                  <a:srgbClr val="44546A"/>
                </a:solidFill>
                <a:latin typeface="DM Sans"/>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Which region are you based in?</a:t>
            </a: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[region] (%)</a:t>
            </a:r>
          </a:p>
        </p:txBody>
      </p:sp>
      <p:pic>
        <p:nvPicPr>
          <p:cNvPr id="5" name="Picture 4" descr="image.png"/>
          <p:cNvPicPr>
            <a:picLocks noChangeAspect="1"/>
          </p:cNvPicPr>
          <p:nvPr/>
        </p:nvPicPr>
        <p:blipFill>
          <a:blip r:embed="rId2"/>
          <a:stretch>
            <a:fillRect/>
          </a:stretch>
        </p:blipFill>
        <p:spPr>
          <a:xfrm>
            <a:off x="310896" y="1463040"/>
            <a:ext cx="6702552" cy="1645920"/>
          </a:xfrm>
          <a:prstGeom prst="rect">
            <a:avLst/>
          </a:prstGeom>
        </p:spPr>
      </p:pic>
      <p:sp>
        <p:nvSpPr>
          <p:cNvPr id="6" name="TextBox 5"/>
          <p:cNvSpPr txBox="1"/>
          <p:nvPr/>
        </p:nvSpPr>
        <p:spPr>
          <a:xfrm>
            <a:off x="7434072" y="1463040"/>
            <a:ext cx="4389119" cy="1645920"/>
          </a:xfrm>
          <a:prstGeom prst="rect">
            <a:avLst/>
          </a:prstGeom>
          <a:noFill/>
        </p:spPr>
        <p:txBody>
          <a:bodyPr wrap="square">
            <a:spAutoFit/>
          </a:bodyPr>
          <a:lstStyle/>
          <a:p>
            <a:r>
              <a:rPr sz="1000" b="0">
                <a:solidFill>
                  <a:srgbClr val="44546A"/>
                </a:solidFill>
                <a:latin typeface="DM Sans"/>
              </a:rPr>
              <a:t>Add subgroup breakdowns here, e.g.:</a:t>
            </a:r>
          </a:p>
          <a:p>
            <a:r>
              <a:rPr sz="1000" b="0">
                <a:solidFill>
                  <a:srgbClr val="44546A"/>
                </a:solidFill>
                <a:latin typeface="DM Sans"/>
              </a:rPr>
              <a:t>– Under 30:  XX%</a:t>
            </a:r>
          </a:p>
          <a:p>
            <a:r>
              <a:rPr sz="1000" b="0">
                <a:solidFill>
                  <a:srgbClr val="44546A"/>
                </a:solidFill>
                <a:latin typeface="DM Sans"/>
              </a:rPr>
              <a:t>– 30–44:     XX%</a:t>
            </a:r>
          </a:p>
        </p:txBody>
      </p:sp>
      <p:sp>
        <p:nvSpPr>
          <p:cNvPr id="7" name="TextBox 6"/>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8" name="TextBox 7"/>
          <p:cNvSpPr txBox="1"/>
          <p:nvPr/>
        </p:nvSpPr>
        <p:spPr>
          <a:xfrm>
            <a:off x="11338560" y="6217920"/>
            <a:ext cx="612648" cy="274320"/>
          </a:xfrm>
          <a:prstGeom prst="rect">
            <a:avLst/>
          </a:prstGeom>
          <a:noFill/>
        </p:spPr>
        <p:txBody>
          <a:bodyPr wrap="square">
            <a:spAutoFit/>
          </a:bodyPr>
          <a:lstStyle/>
          <a:p>
            <a:pPr algn="r"/>
            <a:r>
              <a:rPr sz="800" b="0" i="0">
                <a:solidFill>
                  <a:srgbClr val="44546A"/>
                </a:solidFill>
                <a:latin typeface="DM Sans"/>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What is your age group?</a:t>
            </a:r>
          </a:p>
        </p:txBody>
      </p:sp>
      <p:sp>
        <p:nvSpPr>
          <p:cNvPr id="4" name="TextBox 3"/>
          <p:cNvSpPr txBox="1"/>
          <p:nvPr/>
        </p:nvSpPr>
        <p:spPr>
          <a:xfrm>
            <a:off x="310896" y="1042415"/>
            <a:ext cx="8229600" cy="347472"/>
          </a:xfrm>
          <a:prstGeom prst="rect">
            <a:avLst/>
          </a:prstGeom>
          <a:noFill/>
        </p:spPr>
        <p:txBody>
          <a:bodyPr wrap="square">
            <a:spAutoFit/>
          </a:bodyPr>
          <a:lstStyle/>
          <a:p>
            <a:pPr algn="l"/>
            <a:r>
              <a:rPr sz="1100" b="0" i="1">
                <a:solidFill>
                  <a:srgbClr val="44546A"/>
                </a:solidFill>
                <a:latin typeface="DM Sans"/>
              </a:rPr>
              <a:t>[age_group] (%)</a:t>
            </a:r>
          </a:p>
        </p:txBody>
      </p:sp>
      <p:pic>
        <p:nvPicPr>
          <p:cNvPr id="5" name="Picture 4" descr="image.png"/>
          <p:cNvPicPr>
            <a:picLocks noChangeAspect="1"/>
          </p:cNvPicPr>
          <p:nvPr/>
        </p:nvPicPr>
        <p:blipFill>
          <a:blip r:embed="rId2"/>
          <a:stretch>
            <a:fillRect/>
          </a:stretch>
        </p:blipFill>
        <p:spPr>
          <a:xfrm>
            <a:off x="310896" y="1463040"/>
            <a:ext cx="6702552" cy="1645920"/>
          </a:xfrm>
          <a:prstGeom prst="rect">
            <a:avLst/>
          </a:prstGeom>
        </p:spPr>
      </p:pic>
      <p:sp>
        <p:nvSpPr>
          <p:cNvPr id="6" name="TextBox 5"/>
          <p:cNvSpPr txBox="1"/>
          <p:nvPr/>
        </p:nvSpPr>
        <p:spPr>
          <a:xfrm>
            <a:off x="7434072" y="1463040"/>
            <a:ext cx="4389119" cy="1645920"/>
          </a:xfrm>
          <a:prstGeom prst="rect">
            <a:avLst/>
          </a:prstGeom>
          <a:noFill/>
        </p:spPr>
        <p:txBody>
          <a:bodyPr wrap="square">
            <a:spAutoFit/>
          </a:bodyPr>
          <a:lstStyle/>
          <a:p>
            <a:r>
              <a:rPr sz="1000" b="0">
                <a:solidFill>
                  <a:srgbClr val="44546A"/>
                </a:solidFill>
                <a:latin typeface="DM Sans"/>
              </a:rPr>
              <a:t>Add subgroup breakdowns here, e.g.:</a:t>
            </a:r>
          </a:p>
          <a:p>
            <a:r>
              <a:rPr sz="1000" b="0">
                <a:solidFill>
                  <a:srgbClr val="44546A"/>
                </a:solidFill>
                <a:latin typeface="DM Sans"/>
              </a:rPr>
              <a:t>– Under 30:  XX%</a:t>
            </a:r>
          </a:p>
          <a:p>
            <a:r>
              <a:rPr sz="1000" b="0">
                <a:solidFill>
                  <a:srgbClr val="44546A"/>
                </a:solidFill>
                <a:latin typeface="DM Sans"/>
              </a:rPr>
              <a:t>– 30–44:     XX%</a:t>
            </a:r>
          </a:p>
        </p:txBody>
      </p:sp>
      <p:sp>
        <p:nvSpPr>
          <p:cNvPr id="7" name="TextBox 6"/>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
        <p:nvSpPr>
          <p:cNvPr id="8" name="TextBox 7"/>
          <p:cNvSpPr txBox="1"/>
          <p:nvPr/>
        </p:nvSpPr>
        <p:spPr>
          <a:xfrm>
            <a:off x="11338560" y="6217920"/>
            <a:ext cx="612648" cy="274320"/>
          </a:xfrm>
          <a:prstGeom prst="rect">
            <a:avLst/>
          </a:prstGeom>
          <a:noFill/>
        </p:spPr>
        <p:txBody>
          <a:bodyPr wrap="square">
            <a:spAutoFit/>
          </a:bodyPr>
          <a:lstStyle/>
          <a:p>
            <a:pPr algn="r"/>
            <a:r>
              <a:rPr sz="800" b="0" i="0">
                <a:solidFill>
                  <a:srgbClr val="44546A"/>
                </a:solidFill>
                <a:latin typeface="DM Sans"/>
              </a:rPr>
              <a:t>6</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