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rPr>
              <a:t>Sample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7DD8D8"/>
                </a:solidFill>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7DD8D8"/>
                </a:solidFill>
              </a:rPr>
              <a:t>n=200 respondents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57200"/>
          </a:xfrm>
          <a:prstGeom prst="rect">
            <a:avLst/>
          </a:prstGeom>
          <a:solidFill>
            <a:srgbClr val="1B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457200"/>
            <a:ext cx="11457432" cy="594360"/>
          </a:xfrm>
          <a:prstGeom prst="rect">
            <a:avLst/>
          </a:prstGeom>
          <a:noFill/>
        </p:spPr>
        <p:txBody>
          <a:bodyPr wrap="square">
            <a:spAutoFit/>
          </a:bodyPr>
          <a:lstStyle/>
          <a:p>
            <a:pPr algn="l"/>
            <a:r>
              <a:rPr sz="1800" b="1" i="0">
                <a:solidFill>
                  <a:srgbClr val="D94438"/>
                </a:solidFill>
              </a:rPr>
              <a:t>Respondent ID</a:t>
            </a:r>
          </a:p>
        </p:txBody>
      </p:sp>
      <p:sp>
        <p:nvSpPr>
          <p:cNvPr id="4" name="TextBox 3"/>
          <p:cNvSpPr txBox="1"/>
          <p:nvPr/>
        </p:nvSpPr>
        <p:spPr>
          <a:xfrm>
            <a:off x="365760" y="1051560"/>
            <a:ext cx="11457432" cy="347472"/>
          </a:xfrm>
          <a:prstGeom prst="rect">
            <a:avLst/>
          </a:prstGeom>
          <a:noFill/>
        </p:spPr>
        <p:txBody>
          <a:bodyPr wrap="square">
            <a:spAutoFit/>
          </a:bodyPr>
          <a:lstStyle/>
          <a:p>
            <a:pPr algn="l"/>
            <a:r>
              <a:rPr sz="1100" b="0" i="1">
                <a:solidFill>
                  <a:srgbClr val="58595B"/>
                </a:solidFill>
              </a:rPr>
              <a:t>[respondent_id] — numeric summary</a:t>
            </a:r>
          </a:p>
        </p:txBody>
      </p:sp>
      <p:sp>
        <p:nvSpPr>
          <p:cNvPr id="5" name="TextBox 4"/>
          <p:cNvSpPr txBox="1"/>
          <p:nvPr/>
        </p:nvSpPr>
        <p:spPr>
          <a:xfrm>
            <a:off x="7434072" y="1417320"/>
            <a:ext cx="4389119" cy="4251960"/>
          </a:xfrm>
          <a:prstGeom prst="rect">
            <a:avLst/>
          </a:prstGeom>
          <a:noFill/>
        </p:spPr>
        <p:txBody>
          <a:bodyPr wrap="square">
            <a:spAutoFit/>
          </a:bodyPr>
          <a:lstStyle/>
          <a:p>
            <a:r>
              <a:rPr sz="1000" b="0">
                <a:solidFill>
                  <a:srgbClr val="58595B"/>
                </a:solidFill>
              </a:rPr>
              <a:t>Add commentary here.</a:t>
            </a:r>
          </a:p>
        </p:txBody>
      </p:sp>
      <p:sp>
        <p:nvSpPr>
          <p:cNvPr id="6" name="TextBox 5"/>
          <p:cNvSpPr txBox="1"/>
          <p:nvPr/>
        </p:nvSpPr>
        <p:spPr>
          <a:xfrm>
            <a:off x="365760" y="6492240"/>
            <a:ext cx="11457432" cy="256032"/>
          </a:xfrm>
          <a:prstGeom prst="rect">
            <a:avLst/>
          </a:prstGeom>
          <a:noFill/>
        </p:spPr>
        <p:txBody>
          <a:bodyPr wrap="square">
            <a:spAutoFit/>
          </a:bodyPr>
          <a:lstStyle/>
          <a:p>
            <a:pPr algn="l"/>
            <a:r>
              <a:rPr sz="800" b="0" i="1">
                <a:solidFill>
                  <a:srgbClr val="58595B"/>
                </a:solidFill>
              </a:rPr>
              <a:t>Base: all respondents (n=200)</a:t>
            </a:r>
          </a:p>
        </p:txBody>
      </p:sp>
      <p:sp>
        <p:nvSpPr>
          <p:cNvPr id="7" name="TextBox 6"/>
          <p:cNvSpPr txBox="1"/>
          <p:nvPr/>
        </p:nvSpPr>
        <p:spPr>
          <a:xfrm>
            <a:off x="11338560" y="91440"/>
            <a:ext cx="612648" cy="274320"/>
          </a:xfrm>
          <a:prstGeom prst="rect">
            <a:avLst/>
          </a:prstGeom>
          <a:noFill/>
        </p:spPr>
        <p:txBody>
          <a:bodyPr wrap="square">
            <a:spAutoFit/>
          </a:bodyPr>
          <a:lstStyle/>
          <a:p>
            <a:pPr algn="r"/>
            <a:r>
              <a:rPr sz="800" b="0" i="0">
                <a:solidFill>
                  <a:srgbClr val="FFFFFF"/>
                </a:solidFil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57200"/>
          </a:xfrm>
          <a:prstGeom prst="rect">
            <a:avLst/>
          </a:prstGeom>
          <a:solidFill>
            <a:srgbClr val="1B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457200"/>
            <a:ext cx="11457432" cy="594360"/>
          </a:xfrm>
          <a:prstGeom prst="rect">
            <a:avLst/>
          </a:prstGeom>
          <a:noFill/>
        </p:spPr>
        <p:txBody>
          <a:bodyPr wrap="square">
            <a:spAutoFit/>
          </a:bodyPr>
          <a:lstStyle/>
          <a:p>
            <a:pPr algn="l"/>
            <a:r>
              <a:rPr sz="1800" b="1" i="0">
                <a:solidFill>
                  <a:srgbClr val="D94438"/>
                </a:solidFill>
              </a:rPr>
              <a:t>How concerned are you about this issue in your community?</a:t>
            </a:r>
          </a:p>
        </p:txBody>
      </p:sp>
      <p:sp>
        <p:nvSpPr>
          <p:cNvPr id="4" name="TextBox 3"/>
          <p:cNvSpPr txBox="1"/>
          <p:nvPr/>
        </p:nvSpPr>
        <p:spPr>
          <a:xfrm>
            <a:off x="365760" y="1051560"/>
            <a:ext cx="11457432" cy="347472"/>
          </a:xfrm>
          <a:prstGeom prst="rect">
            <a:avLst/>
          </a:prstGeom>
          <a:noFill/>
        </p:spPr>
        <p:txBody>
          <a:bodyPr wrap="square">
            <a:spAutoFit/>
          </a:bodyPr>
          <a:lstStyle/>
          <a:p>
            <a:pPr algn="l"/>
            <a:r>
              <a:rPr sz="1100" b="0" i="1">
                <a:solidFill>
                  <a:srgbClr val="58595B"/>
                </a:solidFill>
              </a:rPr>
              <a:t>[issue_concern] (%)</a:t>
            </a:r>
          </a:p>
        </p:txBody>
      </p:sp>
      <p:pic>
        <p:nvPicPr>
          <p:cNvPr id="5" name="Picture 4" descr="image.png"/>
          <p:cNvPicPr>
            <a:picLocks noChangeAspect="1"/>
          </p:cNvPicPr>
          <p:nvPr/>
        </p:nvPicPr>
        <p:blipFill>
          <a:blip r:embed="rId2"/>
          <a:stretch>
            <a:fillRect/>
          </a:stretch>
        </p:blipFill>
        <p:spPr>
          <a:xfrm>
            <a:off x="365760" y="1417320"/>
            <a:ext cx="6702552" cy="1645920"/>
          </a:xfrm>
          <a:prstGeom prst="rect">
            <a:avLst/>
          </a:prstGeom>
        </p:spPr>
      </p:pic>
      <p:sp>
        <p:nvSpPr>
          <p:cNvPr id="6" name="TextBox 5"/>
          <p:cNvSpPr txBox="1"/>
          <p:nvPr/>
        </p:nvSpPr>
        <p:spPr>
          <a:xfrm>
            <a:off x="7434072" y="1417320"/>
            <a:ext cx="4389119" cy="1645920"/>
          </a:xfrm>
          <a:prstGeom prst="rect">
            <a:avLst/>
          </a:prstGeom>
          <a:noFill/>
        </p:spPr>
        <p:txBody>
          <a:bodyPr wrap="square">
            <a:spAutoFit/>
          </a:bodyPr>
          <a:lstStyle/>
          <a:p>
            <a:r>
              <a:rPr sz="1000" b="0">
                <a:solidFill>
                  <a:srgbClr val="58595B"/>
                </a:solidFill>
              </a:rPr>
              <a:t>Add subgroup breakdowns here, e.g.:</a:t>
            </a:r>
          </a:p>
          <a:p>
            <a:r>
              <a:rPr sz="1000" b="0">
                <a:solidFill>
                  <a:srgbClr val="58595B"/>
                </a:solidFill>
              </a:rPr>
              <a:t>– Under 30:  XX%</a:t>
            </a:r>
          </a:p>
          <a:p>
            <a:r>
              <a:rPr sz="1000" b="0">
                <a:solidFill>
                  <a:srgbClr val="58595B"/>
                </a:solidFill>
              </a:rPr>
              <a:t>– 30–44:     XX%</a:t>
            </a:r>
          </a:p>
        </p:txBody>
      </p:sp>
      <p:sp>
        <p:nvSpPr>
          <p:cNvPr id="7" name="TextBox 6"/>
          <p:cNvSpPr txBox="1"/>
          <p:nvPr/>
        </p:nvSpPr>
        <p:spPr>
          <a:xfrm>
            <a:off x="365760" y="6492240"/>
            <a:ext cx="11457432" cy="256032"/>
          </a:xfrm>
          <a:prstGeom prst="rect">
            <a:avLst/>
          </a:prstGeom>
          <a:noFill/>
        </p:spPr>
        <p:txBody>
          <a:bodyPr wrap="square">
            <a:spAutoFit/>
          </a:bodyPr>
          <a:lstStyle/>
          <a:p>
            <a:pPr algn="l"/>
            <a:r>
              <a:rPr sz="800" b="0" i="1">
                <a:solidFill>
                  <a:srgbClr val="58595B"/>
                </a:solidFill>
              </a:rPr>
              <a:t>Base: all respondents (n=200)</a:t>
            </a:r>
          </a:p>
        </p:txBody>
      </p:sp>
      <p:sp>
        <p:nvSpPr>
          <p:cNvPr id="8" name="TextBox 7"/>
          <p:cNvSpPr txBox="1"/>
          <p:nvPr/>
        </p:nvSpPr>
        <p:spPr>
          <a:xfrm>
            <a:off x="11338560" y="91440"/>
            <a:ext cx="612648" cy="274320"/>
          </a:xfrm>
          <a:prstGeom prst="rect">
            <a:avLst/>
          </a:prstGeom>
          <a:noFill/>
        </p:spPr>
        <p:txBody>
          <a:bodyPr wrap="square">
            <a:spAutoFit/>
          </a:bodyPr>
          <a:lstStyle/>
          <a:p>
            <a:pPr algn="r"/>
            <a:r>
              <a:rPr sz="800" b="0" i="0">
                <a:solidFill>
                  <a:srgbClr val="FFFFFF"/>
                </a:solidFil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57200"/>
          </a:xfrm>
          <a:prstGeom prst="rect">
            <a:avLst/>
          </a:prstGeom>
          <a:solidFill>
            <a:srgbClr val="1B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457200"/>
            <a:ext cx="11457432" cy="594360"/>
          </a:xfrm>
          <a:prstGeom prst="rect">
            <a:avLst/>
          </a:prstGeom>
          <a:noFill/>
        </p:spPr>
        <p:txBody>
          <a:bodyPr wrap="square">
            <a:spAutoFit/>
          </a:bodyPr>
          <a:lstStyle/>
          <a:p>
            <a:pPr algn="l"/>
            <a:r>
              <a:rPr sz="1800" b="1" i="0">
                <a:solidFill>
                  <a:srgbClr val="D94438"/>
                </a:solidFill>
              </a:rPr>
              <a:t>The government is handling this issue effectively.</a:t>
            </a:r>
          </a:p>
        </p:txBody>
      </p:sp>
      <p:sp>
        <p:nvSpPr>
          <p:cNvPr id="4" name="TextBox 3"/>
          <p:cNvSpPr txBox="1"/>
          <p:nvPr/>
        </p:nvSpPr>
        <p:spPr>
          <a:xfrm>
            <a:off x="365760" y="1051560"/>
            <a:ext cx="11457432" cy="347472"/>
          </a:xfrm>
          <a:prstGeom prst="rect">
            <a:avLst/>
          </a:prstGeom>
          <a:noFill/>
        </p:spPr>
        <p:txBody>
          <a:bodyPr wrap="square">
            <a:spAutoFit/>
          </a:bodyPr>
          <a:lstStyle/>
          <a:p>
            <a:pPr algn="l"/>
            <a:r>
              <a:rPr sz="1100" b="0" i="1">
                <a:solidFill>
                  <a:srgbClr val="58595B"/>
                </a:solidFill>
              </a:rPr>
              <a:t>[govt_handling] (%)</a:t>
            </a:r>
          </a:p>
        </p:txBody>
      </p:sp>
      <p:pic>
        <p:nvPicPr>
          <p:cNvPr id="5" name="Picture 4" descr="image.png"/>
          <p:cNvPicPr>
            <a:picLocks noChangeAspect="1"/>
          </p:cNvPicPr>
          <p:nvPr/>
        </p:nvPicPr>
        <p:blipFill>
          <a:blip r:embed="rId2"/>
          <a:stretch>
            <a:fillRect/>
          </a:stretch>
        </p:blipFill>
        <p:spPr>
          <a:xfrm>
            <a:off x="365760" y="1417320"/>
            <a:ext cx="6702552" cy="1645920"/>
          </a:xfrm>
          <a:prstGeom prst="rect">
            <a:avLst/>
          </a:prstGeom>
        </p:spPr>
      </p:pic>
      <p:sp>
        <p:nvSpPr>
          <p:cNvPr id="6" name="TextBox 5"/>
          <p:cNvSpPr txBox="1"/>
          <p:nvPr/>
        </p:nvSpPr>
        <p:spPr>
          <a:xfrm>
            <a:off x="7434072" y="1417320"/>
            <a:ext cx="4389119" cy="1645920"/>
          </a:xfrm>
          <a:prstGeom prst="rect">
            <a:avLst/>
          </a:prstGeom>
          <a:noFill/>
        </p:spPr>
        <p:txBody>
          <a:bodyPr wrap="square">
            <a:spAutoFit/>
          </a:bodyPr>
          <a:lstStyle/>
          <a:p>
            <a:r>
              <a:rPr sz="1000" b="0">
                <a:solidFill>
                  <a:srgbClr val="58595B"/>
                </a:solidFill>
              </a:rPr>
              <a:t>Add subgroup breakdowns here, e.g.:</a:t>
            </a:r>
          </a:p>
          <a:p>
            <a:r>
              <a:rPr sz="1000" b="0">
                <a:solidFill>
                  <a:srgbClr val="58595B"/>
                </a:solidFill>
              </a:rPr>
              <a:t>– Under 30:  XX%</a:t>
            </a:r>
          </a:p>
          <a:p>
            <a:r>
              <a:rPr sz="1000" b="0">
                <a:solidFill>
                  <a:srgbClr val="58595B"/>
                </a:solidFill>
              </a:rPr>
              <a:t>– 30–44:     XX%</a:t>
            </a:r>
          </a:p>
        </p:txBody>
      </p:sp>
      <p:sp>
        <p:nvSpPr>
          <p:cNvPr id="7" name="TextBox 6"/>
          <p:cNvSpPr txBox="1"/>
          <p:nvPr/>
        </p:nvSpPr>
        <p:spPr>
          <a:xfrm>
            <a:off x="365760" y="6492240"/>
            <a:ext cx="11457432" cy="256032"/>
          </a:xfrm>
          <a:prstGeom prst="rect">
            <a:avLst/>
          </a:prstGeom>
          <a:noFill/>
        </p:spPr>
        <p:txBody>
          <a:bodyPr wrap="square">
            <a:spAutoFit/>
          </a:bodyPr>
          <a:lstStyle/>
          <a:p>
            <a:pPr algn="l"/>
            <a:r>
              <a:rPr sz="800" b="0" i="1">
                <a:solidFill>
                  <a:srgbClr val="58595B"/>
                </a:solidFill>
              </a:rPr>
              <a:t>Base: all respondents (n=200)</a:t>
            </a:r>
          </a:p>
        </p:txBody>
      </p:sp>
      <p:sp>
        <p:nvSpPr>
          <p:cNvPr id="8" name="TextBox 7"/>
          <p:cNvSpPr txBox="1"/>
          <p:nvPr/>
        </p:nvSpPr>
        <p:spPr>
          <a:xfrm>
            <a:off x="11338560" y="91440"/>
            <a:ext cx="612648" cy="274320"/>
          </a:xfrm>
          <a:prstGeom prst="rect">
            <a:avLst/>
          </a:prstGeom>
          <a:noFill/>
        </p:spPr>
        <p:txBody>
          <a:bodyPr wrap="square">
            <a:spAutoFit/>
          </a:bodyPr>
          <a:lstStyle/>
          <a:p>
            <a:pPr algn="r"/>
            <a:r>
              <a:rPr sz="800" b="0" i="0">
                <a:solidFill>
                  <a:srgbClr val="FFFFFF"/>
                </a:solidFil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57200"/>
          </a:xfrm>
          <a:prstGeom prst="rect">
            <a:avLst/>
          </a:prstGeom>
          <a:solidFill>
            <a:srgbClr val="1B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457200"/>
            <a:ext cx="11457432" cy="594360"/>
          </a:xfrm>
          <a:prstGeom prst="rect">
            <a:avLst/>
          </a:prstGeom>
          <a:noFill/>
        </p:spPr>
        <p:txBody>
          <a:bodyPr wrap="square">
            <a:spAutoFit/>
          </a:bodyPr>
          <a:lstStyle/>
          <a:p>
            <a:pPr algn="l"/>
            <a:r>
              <a:rPr sz="1800" b="1" i="0">
                <a:solidFill>
                  <a:srgbClr val="D94438"/>
                </a:solidFill>
              </a:rPr>
              <a:t>This issue has a direct impact on everyday people in our community.</a:t>
            </a:r>
          </a:p>
        </p:txBody>
      </p:sp>
      <p:sp>
        <p:nvSpPr>
          <p:cNvPr id="4" name="TextBox 3"/>
          <p:cNvSpPr txBox="1"/>
          <p:nvPr/>
        </p:nvSpPr>
        <p:spPr>
          <a:xfrm>
            <a:off x="365760" y="1051560"/>
            <a:ext cx="11457432" cy="347472"/>
          </a:xfrm>
          <a:prstGeom prst="rect">
            <a:avLst/>
          </a:prstGeom>
          <a:noFill/>
        </p:spPr>
        <p:txBody>
          <a:bodyPr wrap="square">
            <a:spAutoFit/>
          </a:bodyPr>
          <a:lstStyle/>
          <a:p>
            <a:pPr algn="l"/>
            <a:r>
              <a:rPr sz="1100" b="0" i="1">
                <a:solidFill>
                  <a:srgbClr val="58595B"/>
                </a:solidFill>
              </a:rPr>
              <a:t>[stmt_community] (%)</a:t>
            </a:r>
          </a:p>
        </p:txBody>
      </p:sp>
      <p:pic>
        <p:nvPicPr>
          <p:cNvPr id="5" name="Picture 4" descr="image.png"/>
          <p:cNvPicPr>
            <a:picLocks noChangeAspect="1"/>
          </p:cNvPicPr>
          <p:nvPr/>
        </p:nvPicPr>
        <p:blipFill>
          <a:blip r:embed="rId2"/>
          <a:stretch>
            <a:fillRect/>
          </a:stretch>
        </p:blipFill>
        <p:spPr>
          <a:xfrm>
            <a:off x="365760" y="1417320"/>
            <a:ext cx="6702552" cy="1645920"/>
          </a:xfrm>
          <a:prstGeom prst="rect">
            <a:avLst/>
          </a:prstGeom>
        </p:spPr>
      </p:pic>
      <p:sp>
        <p:nvSpPr>
          <p:cNvPr id="6" name="TextBox 5"/>
          <p:cNvSpPr txBox="1"/>
          <p:nvPr/>
        </p:nvSpPr>
        <p:spPr>
          <a:xfrm>
            <a:off x="7434072" y="1417320"/>
            <a:ext cx="4389119" cy="1645920"/>
          </a:xfrm>
          <a:prstGeom prst="rect">
            <a:avLst/>
          </a:prstGeom>
          <a:noFill/>
        </p:spPr>
        <p:txBody>
          <a:bodyPr wrap="square">
            <a:spAutoFit/>
          </a:bodyPr>
          <a:lstStyle/>
          <a:p>
            <a:r>
              <a:rPr sz="1000" b="0">
                <a:solidFill>
                  <a:srgbClr val="58595B"/>
                </a:solidFill>
              </a:rPr>
              <a:t>Add subgroup breakdowns here, e.g.:</a:t>
            </a:r>
          </a:p>
          <a:p>
            <a:r>
              <a:rPr sz="1000" b="0">
                <a:solidFill>
                  <a:srgbClr val="58595B"/>
                </a:solidFill>
              </a:rPr>
              <a:t>– Under 30:  XX%</a:t>
            </a:r>
          </a:p>
          <a:p>
            <a:r>
              <a:rPr sz="1000" b="0">
                <a:solidFill>
                  <a:srgbClr val="58595B"/>
                </a:solidFill>
              </a:rPr>
              <a:t>– 30–44:     XX%</a:t>
            </a:r>
          </a:p>
        </p:txBody>
      </p:sp>
      <p:sp>
        <p:nvSpPr>
          <p:cNvPr id="7" name="TextBox 6"/>
          <p:cNvSpPr txBox="1"/>
          <p:nvPr/>
        </p:nvSpPr>
        <p:spPr>
          <a:xfrm>
            <a:off x="365760" y="6492240"/>
            <a:ext cx="11457432" cy="256032"/>
          </a:xfrm>
          <a:prstGeom prst="rect">
            <a:avLst/>
          </a:prstGeom>
          <a:noFill/>
        </p:spPr>
        <p:txBody>
          <a:bodyPr wrap="square">
            <a:spAutoFit/>
          </a:bodyPr>
          <a:lstStyle/>
          <a:p>
            <a:pPr algn="l"/>
            <a:r>
              <a:rPr sz="800" b="0" i="1">
                <a:solidFill>
                  <a:srgbClr val="58595B"/>
                </a:solidFill>
              </a:rPr>
              <a:t>Base: all respondents (n=200)</a:t>
            </a:r>
          </a:p>
        </p:txBody>
      </p:sp>
      <p:sp>
        <p:nvSpPr>
          <p:cNvPr id="8" name="TextBox 7"/>
          <p:cNvSpPr txBox="1"/>
          <p:nvPr/>
        </p:nvSpPr>
        <p:spPr>
          <a:xfrm>
            <a:off x="11338560" y="91440"/>
            <a:ext cx="612648" cy="274320"/>
          </a:xfrm>
          <a:prstGeom prst="rect">
            <a:avLst/>
          </a:prstGeom>
          <a:noFill/>
        </p:spPr>
        <p:txBody>
          <a:bodyPr wrap="square">
            <a:spAutoFit/>
          </a:bodyPr>
          <a:lstStyle/>
          <a:p>
            <a:pPr algn="r"/>
            <a:r>
              <a:rPr sz="800" b="0" i="0">
                <a:solidFill>
                  <a:srgbClr val="FFFFFF"/>
                </a:solidFil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57200"/>
          </a:xfrm>
          <a:prstGeom prst="rect">
            <a:avLst/>
          </a:prstGeom>
          <a:solidFill>
            <a:srgbClr val="1B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457200"/>
            <a:ext cx="11457432" cy="594360"/>
          </a:xfrm>
          <a:prstGeom prst="rect">
            <a:avLst/>
          </a:prstGeom>
          <a:noFill/>
        </p:spPr>
        <p:txBody>
          <a:bodyPr wrap="square">
            <a:spAutoFit/>
          </a:bodyPr>
          <a:lstStyle/>
          <a:p>
            <a:pPr algn="l"/>
            <a:r>
              <a:rPr sz="1800" b="1" i="0">
                <a:solidFill>
                  <a:srgbClr val="D94438"/>
                </a:solidFill>
              </a:rPr>
              <a:t>Government must take a stronger leadership role on this issue.</a:t>
            </a:r>
          </a:p>
        </p:txBody>
      </p:sp>
      <p:sp>
        <p:nvSpPr>
          <p:cNvPr id="4" name="TextBox 3"/>
          <p:cNvSpPr txBox="1"/>
          <p:nvPr/>
        </p:nvSpPr>
        <p:spPr>
          <a:xfrm>
            <a:off x="365760" y="1051560"/>
            <a:ext cx="11457432" cy="347472"/>
          </a:xfrm>
          <a:prstGeom prst="rect">
            <a:avLst/>
          </a:prstGeom>
          <a:noFill/>
        </p:spPr>
        <p:txBody>
          <a:bodyPr wrap="square">
            <a:spAutoFit/>
          </a:bodyPr>
          <a:lstStyle/>
          <a:p>
            <a:pPr algn="l"/>
            <a:r>
              <a:rPr sz="1100" b="0" i="1">
                <a:solidFill>
                  <a:srgbClr val="58595B"/>
                </a:solidFill>
              </a:rPr>
              <a:t>[stmt_govt_role] (%)</a:t>
            </a:r>
          </a:p>
        </p:txBody>
      </p:sp>
      <p:pic>
        <p:nvPicPr>
          <p:cNvPr id="5" name="Picture 4" descr="image.png"/>
          <p:cNvPicPr>
            <a:picLocks noChangeAspect="1"/>
          </p:cNvPicPr>
          <p:nvPr/>
        </p:nvPicPr>
        <p:blipFill>
          <a:blip r:embed="rId2"/>
          <a:stretch>
            <a:fillRect/>
          </a:stretch>
        </p:blipFill>
        <p:spPr>
          <a:xfrm>
            <a:off x="365760" y="1417320"/>
            <a:ext cx="6702552" cy="1645920"/>
          </a:xfrm>
          <a:prstGeom prst="rect">
            <a:avLst/>
          </a:prstGeom>
        </p:spPr>
      </p:pic>
      <p:sp>
        <p:nvSpPr>
          <p:cNvPr id="6" name="TextBox 5"/>
          <p:cNvSpPr txBox="1"/>
          <p:nvPr/>
        </p:nvSpPr>
        <p:spPr>
          <a:xfrm>
            <a:off x="7434072" y="1417320"/>
            <a:ext cx="4389119" cy="1645920"/>
          </a:xfrm>
          <a:prstGeom prst="rect">
            <a:avLst/>
          </a:prstGeom>
          <a:noFill/>
        </p:spPr>
        <p:txBody>
          <a:bodyPr wrap="square">
            <a:spAutoFit/>
          </a:bodyPr>
          <a:lstStyle/>
          <a:p>
            <a:r>
              <a:rPr sz="1000" b="0">
                <a:solidFill>
                  <a:srgbClr val="58595B"/>
                </a:solidFill>
              </a:rPr>
              <a:t>Add subgroup breakdowns here, e.g.:</a:t>
            </a:r>
          </a:p>
          <a:p>
            <a:r>
              <a:rPr sz="1000" b="0">
                <a:solidFill>
                  <a:srgbClr val="58595B"/>
                </a:solidFill>
              </a:rPr>
              <a:t>– Under 30:  XX%</a:t>
            </a:r>
          </a:p>
          <a:p>
            <a:r>
              <a:rPr sz="1000" b="0">
                <a:solidFill>
                  <a:srgbClr val="58595B"/>
                </a:solidFill>
              </a:rPr>
              <a:t>– 30–44:     XX%</a:t>
            </a:r>
          </a:p>
        </p:txBody>
      </p:sp>
      <p:sp>
        <p:nvSpPr>
          <p:cNvPr id="7" name="TextBox 6"/>
          <p:cNvSpPr txBox="1"/>
          <p:nvPr/>
        </p:nvSpPr>
        <p:spPr>
          <a:xfrm>
            <a:off x="365760" y="6492240"/>
            <a:ext cx="11457432" cy="256032"/>
          </a:xfrm>
          <a:prstGeom prst="rect">
            <a:avLst/>
          </a:prstGeom>
          <a:noFill/>
        </p:spPr>
        <p:txBody>
          <a:bodyPr wrap="square">
            <a:spAutoFit/>
          </a:bodyPr>
          <a:lstStyle/>
          <a:p>
            <a:pPr algn="l"/>
            <a:r>
              <a:rPr sz="800" b="0" i="1">
                <a:solidFill>
                  <a:srgbClr val="58595B"/>
                </a:solidFill>
              </a:rPr>
              <a:t>Base: all respondents (n=200)</a:t>
            </a:r>
          </a:p>
        </p:txBody>
      </p:sp>
      <p:sp>
        <p:nvSpPr>
          <p:cNvPr id="8" name="TextBox 7"/>
          <p:cNvSpPr txBox="1"/>
          <p:nvPr/>
        </p:nvSpPr>
        <p:spPr>
          <a:xfrm>
            <a:off x="11338560" y="91440"/>
            <a:ext cx="612648" cy="274320"/>
          </a:xfrm>
          <a:prstGeom prst="rect">
            <a:avLst/>
          </a:prstGeom>
          <a:noFill/>
        </p:spPr>
        <p:txBody>
          <a:bodyPr wrap="square">
            <a:spAutoFit/>
          </a:bodyPr>
          <a:lstStyle/>
          <a:p>
            <a:pPr algn="r"/>
            <a:r>
              <a:rPr sz="800" b="0" i="0">
                <a:solidFill>
                  <a:srgbClr val="FFFFFF"/>
                </a:solidFil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57200"/>
          </a:xfrm>
          <a:prstGeom prst="rect">
            <a:avLst/>
          </a:prstGeom>
          <a:solidFill>
            <a:srgbClr val="1B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457200"/>
            <a:ext cx="11457432" cy="594360"/>
          </a:xfrm>
          <a:prstGeom prst="rect">
            <a:avLst/>
          </a:prstGeom>
          <a:noFill/>
        </p:spPr>
        <p:txBody>
          <a:bodyPr wrap="square">
            <a:spAutoFit/>
          </a:bodyPr>
          <a:lstStyle/>
          <a:p>
            <a:pPr algn="l"/>
            <a:r>
              <a:rPr sz="1800" b="1" i="0">
                <a:solidFill>
                  <a:srgbClr val="D94438"/>
                </a:solidFill>
              </a:rPr>
              <a:t>Local action can make a meaningful difference on this issue.</a:t>
            </a:r>
          </a:p>
        </p:txBody>
      </p:sp>
      <p:sp>
        <p:nvSpPr>
          <p:cNvPr id="4" name="TextBox 3"/>
          <p:cNvSpPr txBox="1"/>
          <p:nvPr/>
        </p:nvSpPr>
        <p:spPr>
          <a:xfrm>
            <a:off x="365760" y="1051560"/>
            <a:ext cx="11457432" cy="347472"/>
          </a:xfrm>
          <a:prstGeom prst="rect">
            <a:avLst/>
          </a:prstGeom>
          <a:noFill/>
        </p:spPr>
        <p:txBody>
          <a:bodyPr wrap="square">
            <a:spAutoFit/>
          </a:bodyPr>
          <a:lstStyle/>
          <a:p>
            <a:pPr algn="l"/>
            <a:r>
              <a:rPr sz="1100" b="0" i="1">
                <a:solidFill>
                  <a:srgbClr val="58595B"/>
                </a:solidFill>
              </a:rPr>
              <a:t>[stmt_local_action] (%)</a:t>
            </a:r>
          </a:p>
        </p:txBody>
      </p:sp>
      <p:pic>
        <p:nvPicPr>
          <p:cNvPr id="5" name="Picture 4" descr="image.png"/>
          <p:cNvPicPr>
            <a:picLocks noChangeAspect="1"/>
          </p:cNvPicPr>
          <p:nvPr/>
        </p:nvPicPr>
        <p:blipFill>
          <a:blip r:embed="rId2"/>
          <a:stretch>
            <a:fillRect/>
          </a:stretch>
        </p:blipFill>
        <p:spPr>
          <a:xfrm>
            <a:off x="365760" y="1417320"/>
            <a:ext cx="6702552" cy="1645920"/>
          </a:xfrm>
          <a:prstGeom prst="rect">
            <a:avLst/>
          </a:prstGeom>
        </p:spPr>
      </p:pic>
      <p:sp>
        <p:nvSpPr>
          <p:cNvPr id="6" name="TextBox 5"/>
          <p:cNvSpPr txBox="1"/>
          <p:nvPr/>
        </p:nvSpPr>
        <p:spPr>
          <a:xfrm>
            <a:off x="7434072" y="1417320"/>
            <a:ext cx="4389119" cy="1645920"/>
          </a:xfrm>
          <a:prstGeom prst="rect">
            <a:avLst/>
          </a:prstGeom>
          <a:noFill/>
        </p:spPr>
        <p:txBody>
          <a:bodyPr wrap="square">
            <a:spAutoFit/>
          </a:bodyPr>
          <a:lstStyle/>
          <a:p>
            <a:r>
              <a:rPr sz="1000" b="0">
                <a:solidFill>
                  <a:srgbClr val="58595B"/>
                </a:solidFill>
              </a:rPr>
              <a:t>Add subgroup breakdowns here, e.g.:</a:t>
            </a:r>
          </a:p>
          <a:p>
            <a:r>
              <a:rPr sz="1000" b="0">
                <a:solidFill>
                  <a:srgbClr val="58595B"/>
                </a:solidFill>
              </a:rPr>
              <a:t>– Under 30:  XX%</a:t>
            </a:r>
          </a:p>
          <a:p>
            <a:r>
              <a:rPr sz="1000" b="0">
                <a:solidFill>
                  <a:srgbClr val="58595B"/>
                </a:solidFill>
              </a:rPr>
              <a:t>– 30–44:     XX%</a:t>
            </a:r>
          </a:p>
        </p:txBody>
      </p:sp>
      <p:sp>
        <p:nvSpPr>
          <p:cNvPr id="7" name="TextBox 6"/>
          <p:cNvSpPr txBox="1"/>
          <p:nvPr/>
        </p:nvSpPr>
        <p:spPr>
          <a:xfrm>
            <a:off x="365760" y="6492240"/>
            <a:ext cx="11457432" cy="256032"/>
          </a:xfrm>
          <a:prstGeom prst="rect">
            <a:avLst/>
          </a:prstGeom>
          <a:noFill/>
        </p:spPr>
        <p:txBody>
          <a:bodyPr wrap="square">
            <a:spAutoFit/>
          </a:bodyPr>
          <a:lstStyle/>
          <a:p>
            <a:pPr algn="l"/>
            <a:r>
              <a:rPr sz="800" b="0" i="1">
                <a:solidFill>
                  <a:srgbClr val="58595B"/>
                </a:solidFill>
              </a:rPr>
              <a:t>Base: all respondents (n=200)</a:t>
            </a:r>
          </a:p>
        </p:txBody>
      </p:sp>
      <p:sp>
        <p:nvSpPr>
          <p:cNvPr id="8" name="TextBox 7"/>
          <p:cNvSpPr txBox="1"/>
          <p:nvPr/>
        </p:nvSpPr>
        <p:spPr>
          <a:xfrm>
            <a:off x="11338560" y="91440"/>
            <a:ext cx="612648" cy="274320"/>
          </a:xfrm>
          <a:prstGeom prst="rect">
            <a:avLst/>
          </a:prstGeom>
          <a:noFill/>
        </p:spPr>
        <p:txBody>
          <a:bodyPr wrap="square">
            <a:spAutoFit/>
          </a:bodyPr>
          <a:lstStyle/>
          <a:p>
            <a:pPr algn="r"/>
            <a:r>
              <a:rPr sz="800" b="0" i="0">
                <a:solidFill>
                  <a:srgbClr val="FFFFFF"/>
                </a:solidFil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57200"/>
          </a:xfrm>
          <a:prstGeom prst="rect">
            <a:avLst/>
          </a:prstGeom>
          <a:solidFill>
            <a:srgbClr val="1B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457200"/>
            <a:ext cx="11457432" cy="594360"/>
          </a:xfrm>
          <a:prstGeom prst="rect">
            <a:avLst/>
          </a:prstGeom>
          <a:noFill/>
        </p:spPr>
        <p:txBody>
          <a:bodyPr wrap="square">
            <a:spAutoFit/>
          </a:bodyPr>
          <a:lstStyle/>
          <a:p>
            <a:pPr algn="l"/>
            <a:r>
              <a:rPr sz="1800" b="1" i="0">
                <a:solidFill>
                  <a:srgbClr val="D94438"/>
                </a:solidFill>
              </a:rPr>
              <a:t>Which region are you based in?</a:t>
            </a:r>
          </a:p>
        </p:txBody>
      </p:sp>
      <p:sp>
        <p:nvSpPr>
          <p:cNvPr id="4" name="TextBox 3"/>
          <p:cNvSpPr txBox="1"/>
          <p:nvPr/>
        </p:nvSpPr>
        <p:spPr>
          <a:xfrm>
            <a:off x="365760" y="1051560"/>
            <a:ext cx="11457432" cy="347472"/>
          </a:xfrm>
          <a:prstGeom prst="rect">
            <a:avLst/>
          </a:prstGeom>
          <a:noFill/>
        </p:spPr>
        <p:txBody>
          <a:bodyPr wrap="square">
            <a:spAutoFit/>
          </a:bodyPr>
          <a:lstStyle/>
          <a:p>
            <a:pPr algn="l"/>
            <a:r>
              <a:rPr sz="1100" b="0" i="1">
                <a:solidFill>
                  <a:srgbClr val="58595B"/>
                </a:solidFill>
              </a:rPr>
              <a:t>[region] (%)</a:t>
            </a:r>
          </a:p>
        </p:txBody>
      </p:sp>
      <p:pic>
        <p:nvPicPr>
          <p:cNvPr id="5" name="Picture 4" descr="image.png"/>
          <p:cNvPicPr>
            <a:picLocks noChangeAspect="1"/>
          </p:cNvPicPr>
          <p:nvPr/>
        </p:nvPicPr>
        <p:blipFill>
          <a:blip r:embed="rId2"/>
          <a:stretch>
            <a:fillRect/>
          </a:stretch>
        </p:blipFill>
        <p:spPr>
          <a:xfrm>
            <a:off x="365760" y="1417320"/>
            <a:ext cx="6702552" cy="1645920"/>
          </a:xfrm>
          <a:prstGeom prst="rect">
            <a:avLst/>
          </a:prstGeom>
        </p:spPr>
      </p:pic>
      <p:sp>
        <p:nvSpPr>
          <p:cNvPr id="6" name="TextBox 5"/>
          <p:cNvSpPr txBox="1"/>
          <p:nvPr/>
        </p:nvSpPr>
        <p:spPr>
          <a:xfrm>
            <a:off x="7434072" y="1417320"/>
            <a:ext cx="4389119" cy="1645920"/>
          </a:xfrm>
          <a:prstGeom prst="rect">
            <a:avLst/>
          </a:prstGeom>
          <a:noFill/>
        </p:spPr>
        <p:txBody>
          <a:bodyPr wrap="square">
            <a:spAutoFit/>
          </a:bodyPr>
          <a:lstStyle/>
          <a:p>
            <a:r>
              <a:rPr sz="1000" b="0">
                <a:solidFill>
                  <a:srgbClr val="58595B"/>
                </a:solidFill>
              </a:rPr>
              <a:t>Add subgroup breakdowns here, e.g.:</a:t>
            </a:r>
          </a:p>
          <a:p>
            <a:r>
              <a:rPr sz="1000" b="0">
                <a:solidFill>
                  <a:srgbClr val="58595B"/>
                </a:solidFill>
              </a:rPr>
              <a:t>– Under 30:  XX%</a:t>
            </a:r>
          </a:p>
          <a:p>
            <a:r>
              <a:rPr sz="1000" b="0">
                <a:solidFill>
                  <a:srgbClr val="58595B"/>
                </a:solidFill>
              </a:rPr>
              <a:t>– 30–44:     XX%</a:t>
            </a:r>
          </a:p>
        </p:txBody>
      </p:sp>
      <p:sp>
        <p:nvSpPr>
          <p:cNvPr id="7" name="TextBox 6"/>
          <p:cNvSpPr txBox="1"/>
          <p:nvPr/>
        </p:nvSpPr>
        <p:spPr>
          <a:xfrm>
            <a:off x="365760" y="6492240"/>
            <a:ext cx="11457432" cy="256032"/>
          </a:xfrm>
          <a:prstGeom prst="rect">
            <a:avLst/>
          </a:prstGeom>
          <a:noFill/>
        </p:spPr>
        <p:txBody>
          <a:bodyPr wrap="square">
            <a:spAutoFit/>
          </a:bodyPr>
          <a:lstStyle/>
          <a:p>
            <a:pPr algn="l"/>
            <a:r>
              <a:rPr sz="800" b="0" i="1">
                <a:solidFill>
                  <a:srgbClr val="58595B"/>
                </a:solidFill>
              </a:rPr>
              <a:t>Base: all respondents (n=200)</a:t>
            </a:r>
          </a:p>
        </p:txBody>
      </p:sp>
      <p:sp>
        <p:nvSpPr>
          <p:cNvPr id="8" name="TextBox 7"/>
          <p:cNvSpPr txBox="1"/>
          <p:nvPr/>
        </p:nvSpPr>
        <p:spPr>
          <a:xfrm>
            <a:off x="11338560" y="91440"/>
            <a:ext cx="612648" cy="274320"/>
          </a:xfrm>
          <a:prstGeom prst="rect">
            <a:avLst/>
          </a:prstGeom>
          <a:noFill/>
        </p:spPr>
        <p:txBody>
          <a:bodyPr wrap="square">
            <a:spAutoFit/>
          </a:bodyPr>
          <a:lstStyle/>
          <a:p>
            <a:pPr algn="r"/>
            <a:r>
              <a:rPr sz="800" b="0" i="0">
                <a:solidFill>
                  <a:srgbClr val="FFFFFF"/>
                </a:solidFil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57200"/>
          </a:xfrm>
          <a:prstGeom prst="rect">
            <a:avLst/>
          </a:prstGeom>
          <a:solidFill>
            <a:srgbClr val="1B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457200"/>
            <a:ext cx="11457432" cy="594360"/>
          </a:xfrm>
          <a:prstGeom prst="rect">
            <a:avLst/>
          </a:prstGeom>
          <a:noFill/>
        </p:spPr>
        <p:txBody>
          <a:bodyPr wrap="square">
            <a:spAutoFit/>
          </a:bodyPr>
          <a:lstStyle/>
          <a:p>
            <a:pPr algn="l"/>
            <a:r>
              <a:rPr sz="1800" b="1" i="0">
                <a:solidFill>
                  <a:srgbClr val="D94438"/>
                </a:solidFill>
              </a:rPr>
              <a:t>What is your age group?</a:t>
            </a:r>
          </a:p>
        </p:txBody>
      </p:sp>
      <p:sp>
        <p:nvSpPr>
          <p:cNvPr id="4" name="TextBox 3"/>
          <p:cNvSpPr txBox="1"/>
          <p:nvPr/>
        </p:nvSpPr>
        <p:spPr>
          <a:xfrm>
            <a:off x="365760" y="1051560"/>
            <a:ext cx="11457432" cy="347472"/>
          </a:xfrm>
          <a:prstGeom prst="rect">
            <a:avLst/>
          </a:prstGeom>
          <a:noFill/>
        </p:spPr>
        <p:txBody>
          <a:bodyPr wrap="square">
            <a:spAutoFit/>
          </a:bodyPr>
          <a:lstStyle/>
          <a:p>
            <a:pPr algn="l"/>
            <a:r>
              <a:rPr sz="1100" b="0" i="1">
                <a:solidFill>
                  <a:srgbClr val="58595B"/>
                </a:solidFill>
              </a:rPr>
              <a:t>[age_group] (%)</a:t>
            </a:r>
          </a:p>
        </p:txBody>
      </p:sp>
      <p:pic>
        <p:nvPicPr>
          <p:cNvPr id="5" name="Picture 4" descr="image.png"/>
          <p:cNvPicPr>
            <a:picLocks noChangeAspect="1"/>
          </p:cNvPicPr>
          <p:nvPr/>
        </p:nvPicPr>
        <p:blipFill>
          <a:blip r:embed="rId2"/>
          <a:stretch>
            <a:fillRect/>
          </a:stretch>
        </p:blipFill>
        <p:spPr>
          <a:xfrm>
            <a:off x="365760" y="1417320"/>
            <a:ext cx="6702552" cy="1645920"/>
          </a:xfrm>
          <a:prstGeom prst="rect">
            <a:avLst/>
          </a:prstGeom>
        </p:spPr>
      </p:pic>
      <p:sp>
        <p:nvSpPr>
          <p:cNvPr id="6" name="TextBox 5"/>
          <p:cNvSpPr txBox="1"/>
          <p:nvPr/>
        </p:nvSpPr>
        <p:spPr>
          <a:xfrm>
            <a:off x="7434072" y="1417320"/>
            <a:ext cx="4389119" cy="1645920"/>
          </a:xfrm>
          <a:prstGeom prst="rect">
            <a:avLst/>
          </a:prstGeom>
          <a:noFill/>
        </p:spPr>
        <p:txBody>
          <a:bodyPr wrap="square">
            <a:spAutoFit/>
          </a:bodyPr>
          <a:lstStyle/>
          <a:p>
            <a:r>
              <a:rPr sz="1000" b="0">
                <a:solidFill>
                  <a:srgbClr val="58595B"/>
                </a:solidFill>
              </a:rPr>
              <a:t>Add subgroup breakdowns here, e.g.:</a:t>
            </a:r>
          </a:p>
          <a:p>
            <a:r>
              <a:rPr sz="1000" b="0">
                <a:solidFill>
                  <a:srgbClr val="58595B"/>
                </a:solidFill>
              </a:rPr>
              <a:t>– Under 30:  XX%</a:t>
            </a:r>
          </a:p>
          <a:p>
            <a:r>
              <a:rPr sz="1000" b="0">
                <a:solidFill>
                  <a:srgbClr val="58595B"/>
                </a:solidFill>
              </a:rPr>
              <a:t>– 30–44:     XX%</a:t>
            </a:r>
          </a:p>
        </p:txBody>
      </p:sp>
      <p:sp>
        <p:nvSpPr>
          <p:cNvPr id="7" name="TextBox 6"/>
          <p:cNvSpPr txBox="1"/>
          <p:nvPr/>
        </p:nvSpPr>
        <p:spPr>
          <a:xfrm>
            <a:off x="365760" y="6492240"/>
            <a:ext cx="11457432" cy="256032"/>
          </a:xfrm>
          <a:prstGeom prst="rect">
            <a:avLst/>
          </a:prstGeom>
          <a:noFill/>
        </p:spPr>
        <p:txBody>
          <a:bodyPr wrap="square">
            <a:spAutoFit/>
          </a:bodyPr>
          <a:lstStyle/>
          <a:p>
            <a:pPr algn="l"/>
            <a:r>
              <a:rPr sz="800" b="0" i="1">
                <a:solidFill>
                  <a:srgbClr val="58595B"/>
                </a:solidFill>
              </a:rPr>
              <a:t>Base: all respondents (n=200)</a:t>
            </a:r>
          </a:p>
        </p:txBody>
      </p:sp>
      <p:sp>
        <p:nvSpPr>
          <p:cNvPr id="8" name="TextBox 7"/>
          <p:cNvSpPr txBox="1"/>
          <p:nvPr/>
        </p:nvSpPr>
        <p:spPr>
          <a:xfrm>
            <a:off x="11338560" y="91440"/>
            <a:ext cx="612648" cy="274320"/>
          </a:xfrm>
          <a:prstGeom prst="rect">
            <a:avLst/>
          </a:prstGeom>
          <a:noFill/>
        </p:spPr>
        <p:txBody>
          <a:bodyPr wrap="square">
            <a:spAutoFit/>
          </a:bodyPr>
          <a:lstStyle/>
          <a:p>
            <a:pPr algn="r"/>
            <a:r>
              <a:rPr sz="800" b="0" i="0">
                <a:solidFill>
                  <a:srgbClr val="FFFFFF"/>
                </a:solidFill>
              </a:rPr>
              <a:t>8</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