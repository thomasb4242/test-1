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4133"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4133" y="2291800"/>
            <a:ext cx="938832" cy="488193"/>
          </a:xfrm>
          <a:prstGeom prst="rect">
            <a:avLst/>
          </a:prstGeom>
          <a:noFill/>
        </p:spPr>
        <p:txBody>
          <a:bodyPr wrap="none">
            <a:spAutoFit/>
          </a:bodyPr>
          <a:lstStyle/>
          <a:p>
            <a:pPr algn="ctr"/>
            <a:r>
              <a:rPr sz="3100" b="1">
                <a:solidFill>
                  <a:srgbClr val="FFFFFF"/>
                </a:solidFill>
                <a:latin typeface="DM Sans"/>
              </a:rPr>
              <a:t>60</a:t>
            </a:r>
            <a:r>
              <a:rPr sz="2000" b="1">
                <a:solidFill>
                  <a:srgbClr val="FFFFFF"/>
                </a:solidFill>
                <a:latin typeface="DM Sans"/>
              </a:rPr>
              <a:t>%</a:t>
            </a:r>
          </a:p>
        </p:txBody>
      </p:sp>
      <p:sp>
        <p:nvSpPr>
          <p:cNvPr id="8" name="TextBox 7"/>
          <p:cNvSpPr txBox="1"/>
          <p:nvPr/>
        </p:nvSpPr>
        <p:spPr>
          <a:xfrm>
            <a:off x="4674133" y="2761216"/>
            <a:ext cx="938832" cy="356756"/>
          </a:xfrm>
          <a:prstGeom prst="rect">
            <a:avLst/>
          </a:prstGeom>
          <a:noFill/>
        </p:spPr>
        <p:txBody>
          <a:bodyPr wrap="square">
            <a:spAutoFit/>
          </a:bodyPr>
          <a:lstStyle/>
          <a:p>
            <a:pPr algn="ctr"/>
            <a:r>
              <a:rPr sz="1200" b="0" i="0">
                <a:solidFill>
                  <a:srgbClr val="FFFFFF"/>
                </a:solidFill>
                <a:latin typeface="DM Sans"/>
              </a:rPr>
              <a:t>Concerned</a:t>
            </a:r>
          </a:p>
        </p:txBody>
      </p:sp>
      <p:sp>
        <p:nvSpPr>
          <p:cNvPr id="9" name="Oval 8"/>
          <p:cNvSpPr/>
          <p:nvPr/>
        </p:nvSpPr>
        <p:spPr>
          <a:xfrm>
            <a:off x="3079752" y="462949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79752" y="468019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3079752" y="5102665"/>
            <a:ext cx="844949" cy="321080"/>
          </a:xfrm>
          <a:prstGeom prst="rect">
            <a:avLst/>
          </a:prstGeom>
          <a:noFill/>
        </p:spPr>
        <p:txBody>
          <a:bodyPr wrap="square">
            <a:spAutoFit/>
          </a:bodyPr>
          <a:lstStyle/>
          <a:p>
            <a:pPr algn="ctr"/>
            <a:r>
              <a:rPr sz="7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532724"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32724" y="2291800"/>
            <a:ext cx="938832" cy="488193"/>
          </a:xfrm>
          <a:prstGeom prst="rect">
            <a:avLst/>
          </a:prstGeom>
          <a:noFill/>
        </p:spPr>
        <p:txBody>
          <a:bodyPr wrap="none">
            <a:spAutoFit/>
          </a:bodyPr>
          <a:lstStyle/>
          <a:p>
            <a:pPr algn="ctr"/>
            <a:r>
              <a:rPr sz="3100" b="1">
                <a:solidFill>
                  <a:srgbClr val="FFFFFF"/>
                </a:solidFill>
                <a:latin typeface="DM Sans"/>
              </a:rPr>
              <a:t>23</a:t>
            </a:r>
            <a:r>
              <a:rPr sz="2000" b="1">
                <a:solidFill>
                  <a:srgbClr val="FFFFFF"/>
                </a:solidFill>
                <a:latin typeface="DM Sans"/>
              </a:rPr>
              <a:t>%</a:t>
            </a:r>
          </a:p>
        </p:txBody>
      </p:sp>
      <p:sp>
        <p:nvSpPr>
          <p:cNvPr id="8" name="TextBox 7"/>
          <p:cNvSpPr txBox="1"/>
          <p:nvPr/>
        </p:nvSpPr>
        <p:spPr>
          <a:xfrm>
            <a:off x="3532724" y="2761216"/>
            <a:ext cx="938832" cy="356756"/>
          </a:xfrm>
          <a:prstGeom prst="rect">
            <a:avLst/>
          </a:prstGeom>
          <a:noFill/>
        </p:spPr>
        <p:txBody>
          <a:bodyPr wrap="square">
            <a:spAutoFit/>
          </a:bodyPr>
          <a:lstStyle/>
          <a:p>
            <a:pPr algn="ctr"/>
            <a:r>
              <a:rPr sz="1600" b="0" i="0">
                <a:solidFill>
                  <a:srgbClr val="FFFFFF"/>
                </a:solidFill>
                <a:latin typeface="DM Sans"/>
              </a:rPr>
              <a:t>Agree</a:t>
            </a:r>
          </a:p>
        </p:txBody>
      </p:sp>
      <p:sp>
        <p:nvSpPr>
          <p:cNvPr id="9" name="Oval 8"/>
          <p:cNvSpPr/>
          <p:nvPr/>
        </p:nvSpPr>
        <p:spPr>
          <a:xfrm>
            <a:off x="4661761" y="462949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1761" y="4680190"/>
            <a:ext cx="844949" cy="439373"/>
          </a:xfrm>
          <a:prstGeom prst="rect">
            <a:avLst/>
          </a:prstGeom>
          <a:noFill/>
        </p:spPr>
        <p:txBody>
          <a:bodyPr wrap="none">
            <a:spAutoFit/>
          </a:bodyPr>
          <a:lstStyle/>
          <a:p>
            <a:pPr algn="ctr"/>
            <a:r>
              <a:rPr sz="2800" b="1">
                <a:solidFill>
                  <a:srgbClr val="FFFFFF"/>
                </a:solidFill>
                <a:latin typeface="DM Sans"/>
              </a:rPr>
              <a:t>60</a:t>
            </a:r>
            <a:r>
              <a:rPr sz="1800" b="1">
                <a:solidFill>
                  <a:srgbClr val="FFFFFF"/>
                </a:solidFill>
                <a:latin typeface="DM Sans"/>
              </a:rPr>
              <a:t>%</a:t>
            </a:r>
          </a:p>
        </p:txBody>
      </p:sp>
      <p:sp>
        <p:nvSpPr>
          <p:cNvPr id="11" name="TextBox 10"/>
          <p:cNvSpPr txBox="1"/>
          <p:nvPr/>
        </p:nvSpPr>
        <p:spPr>
          <a:xfrm>
            <a:off x="4661761" y="5102665"/>
            <a:ext cx="844949" cy="321080"/>
          </a:xfrm>
          <a:prstGeom prst="rect">
            <a:avLst/>
          </a:prstGeom>
          <a:noFill/>
        </p:spPr>
        <p:txBody>
          <a:bodyPr wrap="square">
            <a:spAutoFit/>
          </a:bodyPr>
          <a:lstStyle/>
          <a:p>
            <a:pPr algn="ctr"/>
            <a:r>
              <a:rPr sz="12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199132"/>
            <a:ext cx="8229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Attitudes — broader community views</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Urgency and scientific clarity are</a:t>
            </a:r>
          </a:p>
          <a:p>
            <a:r>
              <a:rPr sz="1400" b="0">
                <a:solidFill>
                  <a:srgbClr val="44546A"/>
                </a:solidFill>
                <a:latin typeface="DM Sans"/>
              </a:rPr>
              <a:t>most agreed-with statements.</a:t>
            </a:r>
          </a:p>
          <a:p>
            <a:r>
              <a:rPr sz="1400" b="0">
                <a:solidFill>
                  <a:srgbClr val="44546A"/>
                </a:solidFill>
                <a:latin typeface="DM Sans"/>
              </a:rPr>
              <a:t/>
            </a:r>
          </a:p>
          <a:p>
            <a:r>
              <a:rPr sz="1400" b="0">
                <a:solidFill>
                  <a:srgbClr val="44546A"/>
                </a:solidFill>
                <a:latin typeface="DM Sans"/>
              </a:rPr>
              <a:t>Trust and media coverage attract</a:t>
            </a:r>
          </a:p>
          <a:p>
            <a:r>
              <a:rPr sz="1400" b="0">
                <a:solidFill>
                  <a:srgbClr val="44546A"/>
                </a:solidFill>
                <a:latin typeface="DM Sans"/>
              </a:rPr>
              <a:t>more scepticism.</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8</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