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 id="267" r:id="rId39"/>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589672" y="2305882"/>
            <a:ext cx="798007" cy="79800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89672" y="2353763"/>
            <a:ext cx="798007" cy="414964"/>
          </a:xfrm>
          <a:prstGeom prst="rect">
            <a:avLst/>
          </a:prstGeom>
          <a:noFill/>
        </p:spPr>
        <p:txBody>
          <a:bodyPr wrap="none">
            <a:spAutoFit/>
          </a:bodyPr>
          <a:lstStyle/>
          <a:p>
            <a:pPr algn="ctr"/>
            <a:r>
              <a:rPr sz="2700" b="1">
                <a:solidFill>
                  <a:srgbClr val="FFFFFF"/>
                </a:solidFill>
                <a:latin typeface="DM Sans"/>
              </a:rPr>
              <a:t>60</a:t>
            </a:r>
            <a:r>
              <a:rPr sz="1700" b="1">
                <a:solidFill>
                  <a:srgbClr val="FFFFFF"/>
                </a:solidFill>
                <a:latin typeface="DM Sans"/>
              </a:rPr>
              <a:t>%</a:t>
            </a:r>
          </a:p>
        </p:txBody>
      </p:sp>
      <p:sp>
        <p:nvSpPr>
          <p:cNvPr id="8" name="TextBox 7"/>
          <p:cNvSpPr txBox="1"/>
          <p:nvPr/>
        </p:nvSpPr>
        <p:spPr>
          <a:xfrm>
            <a:off x="4589672" y="2752767"/>
            <a:ext cx="798007" cy="303242"/>
          </a:xfrm>
          <a:prstGeom prst="rect">
            <a:avLst/>
          </a:prstGeom>
          <a:noFill/>
        </p:spPr>
        <p:txBody>
          <a:bodyPr wrap="square">
            <a:spAutoFit/>
          </a:bodyPr>
          <a:lstStyle/>
          <a:p>
            <a:pPr algn="ctr"/>
            <a:r>
              <a:rPr sz="1000" b="0" i="0">
                <a:solidFill>
                  <a:srgbClr val="FFFFFF"/>
                </a:solidFill>
                <a:latin typeface="DM Sans"/>
              </a:rPr>
              <a:t>Concerned</a:t>
            </a:r>
          </a:p>
        </p:txBody>
      </p:sp>
      <p:sp>
        <p:nvSpPr>
          <p:cNvPr id="9" name="Oval 8"/>
          <p:cNvSpPr/>
          <p:nvPr/>
        </p:nvSpPr>
        <p:spPr>
          <a:xfrm>
            <a:off x="2752141" y="4692865"/>
            <a:ext cx="718207" cy="71820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52141" y="4735957"/>
            <a:ext cx="718207" cy="373467"/>
          </a:xfrm>
          <a:prstGeom prst="rect">
            <a:avLst/>
          </a:prstGeom>
          <a:noFill/>
        </p:spPr>
        <p:txBody>
          <a:bodyPr wrap="none">
            <a:spAutoFit/>
          </a:bodyPr>
          <a:lstStyle/>
          <a:p>
            <a:pPr algn="ctr"/>
            <a:r>
              <a:rPr sz="2400" b="1">
                <a:solidFill>
                  <a:srgbClr val="FFFFFF"/>
                </a:solidFill>
                <a:latin typeface="DM Sans"/>
              </a:rPr>
              <a:t>15</a:t>
            </a:r>
            <a:r>
              <a:rPr sz="1500" b="1">
                <a:solidFill>
                  <a:srgbClr val="FFFFFF"/>
                </a:solidFill>
                <a:latin typeface="DM Sans"/>
              </a:rPr>
              <a:t>%</a:t>
            </a:r>
          </a:p>
        </p:txBody>
      </p:sp>
      <p:sp>
        <p:nvSpPr>
          <p:cNvPr id="11" name="TextBox 10"/>
          <p:cNvSpPr txBox="1"/>
          <p:nvPr/>
        </p:nvSpPr>
        <p:spPr>
          <a:xfrm>
            <a:off x="2752141" y="5095060"/>
            <a:ext cx="718207" cy="272918"/>
          </a:xfrm>
          <a:prstGeom prst="rect">
            <a:avLst/>
          </a:prstGeom>
          <a:noFill/>
        </p:spPr>
        <p:txBody>
          <a:bodyPr wrap="square">
            <a:spAutoFit/>
          </a:bodyPr>
          <a:lstStyle/>
          <a:p>
            <a:pPr algn="ctr"/>
            <a:r>
              <a:rPr sz="600" b="0" i="0">
                <a:solidFill>
                  <a:srgbClr val="FFFFFF"/>
                </a:solidFill>
                <a:latin typeface="DM Sans"/>
              </a:rPr>
              <a:t>Not concerned</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Concern by age group:</a:t>
            </a:r>
          </a:p>
          <a:p>
            <a:r>
              <a:rPr sz="1400" b="0">
                <a:solidFill>
                  <a:srgbClr val="44546A"/>
                </a:solidFill>
                <a:latin typeface="DM Sans"/>
              </a:rPr>
              <a:t>– 18–24:   XX% very/extremely concerned</a:t>
            </a:r>
          </a:p>
          <a:p>
            <a:r>
              <a:rPr sz="1400" b="0">
                <a:solidFill>
                  <a:srgbClr val="44546A"/>
                </a:solidFill>
                <a:latin typeface="DM Sans"/>
              </a:rPr>
              <a:t>– 25–34:   XX%</a:t>
            </a:r>
          </a:p>
          <a:p>
            <a:r>
              <a:rPr sz="1400" b="0">
                <a:solidFill>
                  <a:srgbClr val="44546A"/>
                </a:solidFill>
                <a:latin typeface="DM Sans"/>
              </a:rPr>
              <a:t>– 35–44:   XX%</a:t>
            </a:r>
          </a:p>
          <a:p>
            <a:r>
              <a:rPr sz="1400" b="0">
                <a:solidFill>
                  <a:srgbClr val="44546A"/>
                </a:solidFill>
                <a:latin typeface="DM Sans"/>
              </a:rPr>
              <a:t>– 45–54:   XX%</a:t>
            </a:r>
          </a:p>
          <a:p>
            <a:r>
              <a:rPr sz="1400" b="0">
                <a:solidFill>
                  <a:srgbClr val="44546A"/>
                </a:solidFill>
                <a:latin typeface="DM Sans"/>
              </a:rPr>
              <a:t>– 55+:     XX%</a:t>
            </a:r>
          </a:p>
          <a:p>
            <a:r>
              <a:rPr sz="1400" b="0">
                <a:solidFill>
                  <a:srgbClr val="44546A"/>
                </a:solidFill>
                <a:latin typeface="DM Sans"/>
              </a:rPr>
              <a:t/>
            </a:r>
          </a:p>
          <a:p>
            <a:r>
              <a:rPr sz="1400" b="0">
                <a:solidFill>
                  <a:srgbClr val="44546A"/>
                </a:solidFill>
                <a:latin typeface="DM Sans"/>
              </a:rPr>
              <a:t>Concern by region:</a:t>
            </a:r>
          </a:p>
          <a:p>
            <a:r>
              <a:rPr sz="1400" b="0">
                <a:solidFill>
                  <a:srgbClr val="44546A"/>
                </a:solidFill>
                <a:latin typeface="DM Sans"/>
              </a:rPr>
              <a:t>– Metro:      XX%</a:t>
            </a:r>
          </a:p>
          <a:p>
            <a:r>
              <a:rPr sz="1400" b="0">
                <a:solidFill>
                  <a:srgbClr val="44546A"/>
                </a:solidFill>
                <a:latin typeface="DM Sans"/>
              </a:rPr>
              <a:t>– Regional:   XX%</a:t>
            </a:r>
          </a:p>
          <a:p>
            <a:r>
              <a:rPr sz="14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3272662" y="2305882"/>
            <a:ext cx="798007" cy="79800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2662" y="2353763"/>
            <a:ext cx="798007" cy="414964"/>
          </a:xfrm>
          <a:prstGeom prst="rect">
            <a:avLst/>
          </a:prstGeom>
          <a:noFill/>
        </p:spPr>
        <p:txBody>
          <a:bodyPr wrap="none">
            <a:spAutoFit/>
          </a:bodyPr>
          <a:lstStyle/>
          <a:p>
            <a:pPr algn="ctr"/>
            <a:r>
              <a:rPr sz="2700" b="1">
                <a:solidFill>
                  <a:srgbClr val="FFFFFF"/>
                </a:solidFill>
                <a:latin typeface="DM Sans"/>
              </a:rPr>
              <a:t>23</a:t>
            </a:r>
            <a:r>
              <a:rPr sz="1700" b="1">
                <a:solidFill>
                  <a:srgbClr val="FFFFFF"/>
                </a:solidFill>
                <a:latin typeface="DM Sans"/>
              </a:rPr>
              <a:t>%</a:t>
            </a:r>
          </a:p>
        </p:txBody>
      </p:sp>
      <p:sp>
        <p:nvSpPr>
          <p:cNvPr id="8" name="TextBox 7"/>
          <p:cNvSpPr txBox="1"/>
          <p:nvPr/>
        </p:nvSpPr>
        <p:spPr>
          <a:xfrm>
            <a:off x="3272662" y="2752767"/>
            <a:ext cx="798007" cy="303242"/>
          </a:xfrm>
          <a:prstGeom prst="rect">
            <a:avLst/>
          </a:prstGeom>
          <a:noFill/>
        </p:spPr>
        <p:txBody>
          <a:bodyPr wrap="square">
            <a:spAutoFit/>
          </a:bodyPr>
          <a:lstStyle/>
          <a:p>
            <a:pPr algn="ctr"/>
            <a:r>
              <a:rPr sz="1300" b="0" i="0">
                <a:solidFill>
                  <a:srgbClr val="FFFFFF"/>
                </a:solidFill>
                <a:latin typeface="DM Sans"/>
              </a:rPr>
              <a:t>Agree</a:t>
            </a:r>
          </a:p>
        </p:txBody>
      </p:sp>
      <p:sp>
        <p:nvSpPr>
          <p:cNvPr id="9" name="Oval 8"/>
          <p:cNvSpPr/>
          <p:nvPr/>
        </p:nvSpPr>
        <p:spPr>
          <a:xfrm>
            <a:off x="4577536" y="4692865"/>
            <a:ext cx="718207" cy="71820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7536" y="4735957"/>
            <a:ext cx="718207" cy="373467"/>
          </a:xfrm>
          <a:prstGeom prst="rect">
            <a:avLst/>
          </a:prstGeom>
          <a:noFill/>
        </p:spPr>
        <p:txBody>
          <a:bodyPr wrap="none">
            <a:spAutoFit/>
          </a:bodyPr>
          <a:lstStyle/>
          <a:p>
            <a:pPr algn="ctr"/>
            <a:r>
              <a:rPr sz="2400" b="1">
                <a:solidFill>
                  <a:srgbClr val="FFFFFF"/>
                </a:solidFill>
                <a:latin typeface="DM Sans"/>
              </a:rPr>
              <a:t>60</a:t>
            </a:r>
            <a:r>
              <a:rPr sz="1500" b="1">
                <a:solidFill>
                  <a:srgbClr val="FFFFFF"/>
                </a:solidFill>
                <a:latin typeface="DM Sans"/>
              </a:rPr>
              <a:t>%</a:t>
            </a:r>
          </a:p>
        </p:txBody>
      </p:sp>
      <p:sp>
        <p:nvSpPr>
          <p:cNvPr id="11" name="TextBox 10"/>
          <p:cNvSpPr txBox="1"/>
          <p:nvPr/>
        </p:nvSpPr>
        <p:spPr>
          <a:xfrm>
            <a:off x="4577536" y="5095060"/>
            <a:ext cx="718207" cy="272918"/>
          </a:xfrm>
          <a:prstGeom prst="rect">
            <a:avLst/>
          </a:prstGeom>
          <a:noFill/>
        </p:spPr>
        <p:txBody>
          <a:bodyPr wrap="square">
            <a:spAutoFit/>
          </a:bodyPr>
          <a:lstStyle/>
          <a:p>
            <a:pPr algn="ctr"/>
            <a:r>
              <a:rPr sz="1000" b="0" i="0">
                <a:solidFill>
                  <a:srgbClr val="FFFFFF"/>
                </a:solidFill>
                <a:latin typeface="DM Sans"/>
              </a:rPr>
              <a:t>Disagree</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Scepticism about government performance</a:t>
            </a:r>
          </a:p>
          <a:p>
            <a:r>
              <a:rPr sz="1400" b="0">
                <a:solidFill>
                  <a:srgbClr val="44546A"/>
                </a:solidFill>
                <a:latin typeface="DM Sans"/>
              </a:rPr>
              <a:t>is consistent across all demographics.</a:t>
            </a:r>
          </a:p>
          <a:p>
            <a:r>
              <a:rPr sz="1400" b="0">
                <a:solidFill>
                  <a:srgbClr val="44546A"/>
                </a:solidFill>
                <a:latin typeface="DM Sans"/>
              </a:rPr>
              <a:t/>
            </a:r>
          </a:p>
          <a:p>
            <a:r>
              <a:rPr sz="1400" b="0">
                <a:solidFill>
                  <a:srgbClr val="44546A"/>
                </a:solidFill>
                <a:latin typeface="DM Sans"/>
              </a:rPr>
              <a:t>Disagreement is highest among:</a:t>
            </a:r>
          </a:p>
          <a:p>
            <a:r>
              <a:rPr sz="1400" b="0">
                <a:solidFill>
                  <a:srgbClr val="44546A"/>
                </a:solidFill>
                <a:latin typeface="DM Sans"/>
              </a:rPr>
              <a:t>– 35–54 year olds (XX%)</a:t>
            </a:r>
          </a:p>
          <a:p>
            <a:r>
              <a:rPr sz="14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587752"/>
            <a:ext cx="8229600" cy="2880360"/>
          </a:xfrm>
          <a:prstGeom prst="rect">
            <a:avLst/>
          </a:prstGeom>
        </p:spPr>
      </p:pic>
      <p:sp>
        <p:nvSpPr>
          <p:cNvPr id="6" name="TextBox 5"/>
          <p:cNvSpPr txBox="1"/>
          <p:nvPr/>
        </p:nvSpPr>
        <p:spPr>
          <a:xfrm>
            <a:off x="8686800" y="2587752"/>
            <a:ext cx="3136391" cy="2880360"/>
          </a:xfrm>
          <a:prstGeom prst="rect">
            <a:avLst/>
          </a:prstGeom>
          <a:noFill/>
        </p:spPr>
        <p:txBody>
          <a:bodyPr wrap="square">
            <a:spAutoFit/>
          </a:bodyPr>
          <a:lstStyle/>
          <a:p>
            <a:r>
              <a:rPr sz="1400" b="0">
                <a:solidFill>
                  <a:srgbClr val="44546A"/>
                </a:solidFill>
                <a:latin typeface="DM Sans"/>
              </a:rPr>
              <a:t>Total agree by statement:</a:t>
            </a:r>
          </a:p>
          <a:p>
            <a:r>
              <a:rPr sz="1400" b="0">
                <a:solidFill>
                  <a:srgbClr val="44546A"/>
                </a:solidFill>
                <a:latin typeface="DM Sans"/>
              </a:rPr>
              <a:t>– Community impact:   XX%</a:t>
            </a:r>
          </a:p>
          <a:p>
            <a:r>
              <a:rPr sz="1400" b="0">
                <a:solidFill>
                  <a:srgbClr val="44546A"/>
                </a:solidFill>
                <a:latin typeface="DM Sans"/>
              </a:rPr>
              <a:t>– Govt leadership:    XX%</a:t>
            </a:r>
          </a:p>
          <a:p>
            <a:r>
              <a:rPr sz="1400" b="0">
                <a:solidFill>
                  <a:srgbClr val="44546A"/>
                </a:solidFill>
                <a:latin typeface="DM Sans"/>
              </a:rPr>
              <a:t>– Local action:       XX%</a:t>
            </a:r>
          </a:p>
          <a:p>
            <a:r>
              <a:rPr sz="1400" b="0">
                <a:solidFill>
                  <a:srgbClr val="44546A"/>
                </a:solidFill>
                <a:latin typeface="DM Sans"/>
              </a:rPr>
              <a:t/>
            </a:r>
          </a:p>
          <a:p>
            <a:r>
              <a:rPr sz="1400" b="0">
                <a:solidFill>
                  <a:srgbClr val="44546A"/>
                </a:solidFill>
                <a:latin typeface="DM Sans"/>
              </a:rPr>
              <a:t>Agreement is broadly consistent</a:t>
            </a:r>
          </a:p>
          <a:p>
            <a:r>
              <a:rPr sz="1400" b="0">
                <a:solidFill>
                  <a:srgbClr val="44546A"/>
                </a:solidFill>
                <a:latin typeface="DM Sans"/>
              </a:rPr>
              <a:t>across age groups and regions.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Support for action</a:t>
            </a:r>
          </a:p>
        </p:txBody>
      </p:sp>
      <p:sp>
        <p:nvSpPr>
          <p:cNvPr id="4" name="Text Placeholder 3"/>
          <p:cNvSpPr>
            <a:spLocks noGrp="1"/>
          </p:cNvSpPr>
          <p:nvPr>
            <p:ph type="body" idx="21" sz="quarter"/>
          </p:nvPr>
        </p:nvSpPr>
        <p:spPr/>
        <p:txBody>
          <a:bodyPr/>
          <a:lstStyle/>
          <a:p>
            <a:r>
              <a:t>Do you support taking action on this issue?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400" b="0">
                <a:solidFill>
                  <a:srgbClr val="44546A"/>
                </a:solidFill>
                <a:latin typeface="DM Sans"/>
              </a:rPr>
              <a:t>Strong majority support for action.</a:t>
            </a:r>
          </a:p>
          <a:p>
            <a:r>
              <a:rPr sz="1400" b="0">
                <a:solidFill>
                  <a:srgbClr val="44546A"/>
                </a:solidFill>
                <a:latin typeface="DM Sans"/>
              </a:rPr>
              <a:t/>
            </a:r>
          </a:p>
          <a:p>
            <a:r>
              <a:rPr sz="1400" b="0">
                <a:solidFill>
                  <a:srgbClr val="44546A"/>
                </a:solidFill>
                <a:latin typeface="DM Sans"/>
              </a:rPr>
              <a:t>Support is highest among:</a:t>
            </a:r>
          </a:p>
          <a:p>
            <a:r>
              <a:rPr sz="1400" b="0">
                <a:solidFill>
                  <a:srgbClr val="44546A"/>
                </a:solidFill>
                <a:latin typeface="DM Sans"/>
              </a:rPr>
              <a:t>– 35–54 year olds (XX%)</a:t>
            </a:r>
          </a:p>
          <a:p>
            <a:r>
              <a:rPr sz="1400" b="0">
                <a:solidFill>
                  <a:srgbClr val="44546A"/>
                </a:solidFill>
                <a:latin typeface="DM Sans"/>
              </a:rPr>
              <a:t>– Metro residents (XX%)</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Attitudes — broader community views</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130552"/>
            <a:ext cx="8229600" cy="3794760"/>
          </a:xfrm>
          <a:prstGeom prst="rect">
            <a:avLst/>
          </a:prstGeom>
        </p:spPr>
      </p:pic>
      <p:sp>
        <p:nvSpPr>
          <p:cNvPr id="6" name="TextBox 5"/>
          <p:cNvSpPr txBox="1"/>
          <p:nvPr/>
        </p:nvSpPr>
        <p:spPr>
          <a:xfrm>
            <a:off x="8686800" y="2130552"/>
            <a:ext cx="3136391" cy="3794760"/>
          </a:xfrm>
          <a:prstGeom prst="rect">
            <a:avLst/>
          </a:prstGeom>
          <a:noFill/>
        </p:spPr>
        <p:txBody>
          <a:bodyPr wrap="square">
            <a:spAutoFit/>
          </a:bodyPr>
          <a:lstStyle/>
          <a:p>
            <a:r>
              <a:rPr sz="1400" b="0">
                <a:solidFill>
                  <a:srgbClr val="44546A"/>
                </a:solidFill>
                <a:latin typeface="DM Sans"/>
              </a:rPr>
              <a:t>Urgency and scientific clarity are</a:t>
            </a:r>
          </a:p>
          <a:p>
            <a:r>
              <a:rPr sz="1400" b="0">
                <a:solidFill>
                  <a:srgbClr val="44546A"/>
                </a:solidFill>
                <a:latin typeface="DM Sans"/>
              </a:rPr>
              <a:t>most agreed-with statements.</a:t>
            </a:r>
          </a:p>
          <a:p>
            <a:r>
              <a:rPr sz="1400" b="0">
                <a:solidFill>
                  <a:srgbClr val="44546A"/>
                </a:solidFill>
                <a:latin typeface="DM Sans"/>
              </a:rPr>
              <a:t/>
            </a:r>
          </a:p>
          <a:p>
            <a:r>
              <a:rPr sz="1400" b="0">
                <a:solidFill>
                  <a:srgbClr val="44546A"/>
                </a:solidFill>
                <a:latin typeface="DM Sans"/>
              </a:rPr>
              <a:t>Trust and media coverage attract</a:t>
            </a:r>
          </a:p>
          <a:p>
            <a:r>
              <a:rPr sz="1400" b="0">
                <a:solidFill>
                  <a:srgbClr val="44546A"/>
                </a:solidFill>
                <a:latin typeface="DM Sans"/>
              </a:rPr>
              <a:t>more scepticism.</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7379208" y="1709928"/>
            <a:ext cx="4453128" cy="3566160"/>
          </a:xfrm>
          <a:prstGeom prst="rect">
            <a:avLst/>
          </a:prstGeom>
          <a:noFill/>
        </p:spPr>
        <p:txBody>
          <a:bodyPr wrap="square">
            <a:spAutoFit/>
          </a:bodyPr>
          <a:lstStyle/>
          <a:p>
            <a:r>
              <a:rPr sz="1400" b="0">
                <a:solidFill>
                  <a:srgbClr val="44546A"/>
                </a:solidFill>
                <a:latin typeface="DM Sans"/>
              </a:rPr>
              <a:t>Sample is spread across metro, regional,</a:t>
            </a:r>
          </a:p>
          <a:p>
            <a:r>
              <a:rPr sz="14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Sample skews slightly toward working-age</a:t>
            </a:r>
          </a:p>
          <a:p>
            <a:r>
              <a:rPr sz="14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8</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