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Community Attitudes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DD8D8"/>
                </a:solidFill>
              </a:rPr>
              <a:t>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DD8D8"/>
                </a:solidFill>
              </a:rPr>
              <a:t>n=200 adult residents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Concern &amp; Salience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Key findings — concern &amp; community attitudes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Strong concern about the issue is evident across the community, with scepticism about how government is currently handling it.
</a:t>
            </a:r>
          </a:p>
          <a:p>
            <a:r>
              <a:rPr sz="1000" b="0">
                <a:solidFill>
                  <a:srgbClr val="58595B"/>
                </a:solidFill>
              </a:rPr>
              <a:t>• Over 60% are very or extremely concerned — concern is highest among 35–54 year olds.</a:t>
            </a:r>
          </a:p>
          <a:p>
            <a:r>
              <a:rPr sz="1000" b="0">
                <a:solidFill>
                  <a:srgbClr val="58595B"/>
                </a:solidFill>
              </a:rPr>
              <a:t>• Agreement that this issue impacts everyday people is broad, cutting across regions.</a:t>
            </a:r>
          </a:p>
          <a:p>
            <a:r>
              <a:rPr sz="1000" b="0">
                <a:solidFill>
                  <a:srgbClr val="58595B"/>
                </a:solidFill>
              </a:rPr>
              <a:t>• Government handling is rated poorly — fewer than 1 in 5 agree government is handling it well.</a:t>
            </a:r>
          </a:p>
          <a:p>
            <a:r>
              <a:rPr sz="1000" b="0">
                <a:solidFill>
                  <a:srgbClr val="58595B"/>
                </a:solidFill>
              </a:rPr>
              <a:t>• There is strong appetite for local action alongside calls for stronger government leadership.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Concern about the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How concerned are you about this issue in your community?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42519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471416" y="1749887"/>
            <a:ext cx="1188720" cy="1188720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1416" y="1868759"/>
            <a:ext cx="1188720" cy="61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1416" y="2439344"/>
            <a:ext cx="1188720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Concerned</a:t>
            </a:r>
          </a:p>
        </p:txBody>
      </p:sp>
      <p:sp>
        <p:nvSpPr>
          <p:cNvPr id="9" name="Oval 8"/>
          <p:cNvSpPr/>
          <p:nvPr/>
        </p:nvSpPr>
        <p:spPr>
          <a:xfrm>
            <a:off x="4560570" y="4237146"/>
            <a:ext cx="1010412" cy="1010412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0570" y="4338187"/>
            <a:ext cx="1010412" cy="52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0570" y="4823185"/>
            <a:ext cx="1010412" cy="363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Not concerned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417320"/>
            <a:ext cx="3291839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Concern by age group:</a:t>
            </a:r>
          </a:p>
          <a:p>
            <a:r>
              <a:rPr sz="1000" b="0">
                <a:solidFill>
                  <a:srgbClr val="58595B"/>
                </a:solidFill>
              </a:rPr>
              <a:t>– 18–24:   XX% very/extremely concerned</a:t>
            </a:r>
          </a:p>
          <a:p>
            <a:r>
              <a:rPr sz="1000" b="0">
                <a:solidFill>
                  <a:srgbClr val="58595B"/>
                </a:solidFill>
              </a:rPr>
              <a:t>– 25–34:   XX%</a:t>
            </a:r>
          </a:p>
          <a:p>
            <a:r>
              <a:rPr sz="1000" b="0">
                <a:solidFill>
                  <a:srgbClr val="58595B"/>
                </a:solidFill>
              </a:rPr>
              <a:t>– 35–44:   XX%</a:t>
            </a:r>
          </a:p>
          <a:p>
            <a:r>
              <a:rPr sz="1000" b="0">
                <a:solidFill>
                  <a:srgbClr val="58595B"/>
                </a:solidFill>
              </a:rPr>
              <a:t>– 45–54:   XX%</a:t>
            </a:r>
          </a:p>
          <a:p>
            <a:r>
              <a:rPr sz="1000" b="0">
                <a:solidFill>
                  <a:srgbClr val="58595B"/>
                </a:solidFill>
              </a:rPr>
              <a:t>– 55+:    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Concern by region:</a:t>
            </a:r>
          </a:p>
          <a:p>
            <a:r>
              <a:rPr sz="1000" b="0">
                <a:solidFill>
                  <a:srgbClr val="58595B"/>
                </a:solidFill>
              </a:rPr>
              <a:t>– Metro:      XX%</a:t>
            </a:r>
          </a:p>
          <a:p>
            <a:r>
              <a:rPr sz="1000" b="0">
                <a:solidFill>
                  <a:srgbClr val="58595B"/>
                </a:solidFill>
              </a:rPr>
              <a:t>– Regional:   XX%</a:t>
            </a:r>
          </a:p>
          <a:p>
            <a:r>
              <a:rPr sz="1000" b="0">
                <a:solidFill>
                  <a:srgbClr val="58595B"/>
                </a:solidFill>
              </a:rPr>
              <a:t>– Rural:      XX%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government handling of this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The government is handling this issue effectively.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42519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471416" y="1749887"/>
            <a:ext cx="1188720" cy="1188720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1416" y="1868759"/>
            <a:ext cx="1188720" cy="61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1416" y="2439344"/>
            <a:ext cx="1188720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Agree</a:t>
            </a:r>
          </a:p>
        </p:txBody>
      </p:sp>
      <p:sp>
        <p:nvSpPr>
          <p:cNvPr id="9" name="Oval 8"/>
          <p:cNvSpPr/>
          <p:nvPr/>
        </p:nvSpPr>
        <p:spPr>
          <a:xfrm>
            <a:off x="4560570" y="4237146"/>
            <a:ext cx="1010412" cy="1010412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0570" y="4338187"/>
            <a:ext cx="1010412" cy="52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0570" y="4823185"/>
            <a:ext cx="1010412" cy="363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Disagree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417320"/>
            <a:ext cx="3291839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Scepticism about government performance</a:t>
            </a:r>
          </a:p>
          <a:p>
            <a:r>
              <a:rPr sz="1000" b="0">
                <a:solidFill>
                  <a:srgbClr val="58595B"/>
                </a:solidFill>
              </a:rPr>
              <a:t>is consistent across all demographics.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Disagreement is highest among:</a:t>
            </a:r>
          </a:p>
          <a:p>
            <a:r>
              <a:rPr sz="1000" b="0">
                <a:solidFill>
                  <a:srgbClr val="58595B"/>
                </a:solidFill>
              </a:rPr>
              <a:t>– 35–54 year olds (XX%)</a:t>
            </a:r>
          </a:p>
          <a:p>
            <a:r>
              <a:rPr sz="1000" b="0">
                <a:solidFill>
                  <a:srgbClr val="58595B"/>
                </a:solidFill>
              </a:rPr>
              <a:t>– Regional residents (XX%)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Attitudes &amp; Beliefs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Agreement — statements about the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How strongly do you agree or disagree with each of the following statements?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4572000" cy="28803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257446" y="1534363"/>
            <a:ext cx="841248" cy="841248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7446" y="1618488"/>
            <a:ext cx="841248" cy="43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7446" y="2022287"/>
            <a:ext cx="841248" cy="30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agree</a:t>
            </a:r>
          </a:p>
        </p:txBody>
      </p:sp>
      <p:sp>
        <p:nvSpPr>
          <p:cNvPr id="9" name="Oval 8"/>
          <p:cNvSpPr/>
          <p:nvPr/>
        </p:nvSpPr>
        <p:spPr>
          <a:xfrm>
            <a:off x="4257446" y="2436876"/>
            <a:ext cx="841248" cy="841248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7446" y="2521000"/>
            <a:ext cx="841248" cy="43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7446" y="2924799"/>
            <a:ext cx="841248" cy="30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agree</a:t>
            </a:r>
          </a:p>
        </p:txBody>
      </p:sp>
      <p:sp>
        <p:nvSpPr>
          <p:cNvPr id="12" name="Oval 11"/>
          <p:cNvSpPr/>
          <p:nvPr/>
        </p:nvSpPr>
        <p:spPr>
          <a:xfrm>
            <a:off x="4257446" y="3339388"/>
            <a:ext cx="841248" cy="841248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7446" y="3423513"/>
            <a:ext cx="841248" cy="43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7446" y="3827312"/>
            <a:ext cx="841248" cy="30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agree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370832"/>
            <a:ext cx="457200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1417320"/>
            <a:ext cx="3200399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Total agree by statement:</a:t>
            </a:r>
          </a:p>
          <a:p>
            <a:r>
              <a:rPr sz="1000" b="0">
                <a:solidFill>
                  <a:srgbClr val="58595B"/>
                </a:solidFill>
              </a:rPr>
              <a:t>– Community impact:   XX%</a:t>
            </a:r>
          </a:p>
          <a:p>
            <a:r>
              <a:rPr sz="1000" b="0">
                <a:solidFill>
                  <a:srgbClr val="58595B"/>
                </a:solidFill>
              </a:rPr>
              <a:t>– Govt leadership:    XX%</a:t>
            </a:r>
          </a:p>
          <a:p>
            <a:r>
              <a:rPr sz="1000" b="0">
                <a:solidFill>
                  <a:srgbClr val="58595B"/>
                </a:solidFill>
              </a:rPr>
              <a:t>– Local action:      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Agreement is broadly consistent</a:t>
            </a:r>
          </a:p>
          <a:p>
            <a:r>
              <a:rPr sz="1000" b="0">
                <a:solidFill>
                  <a:srgbClr val="58595B"/>
                </a:solidFill>
              </a:rPr>
              <a:t>across age groups and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Demographics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Which region are you based in?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1417320"/>
            <a:ext cx="329183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Sample is spread across metro, regional,</a:t>
            </a:r>
          </a:p>
          <a:p>
            <a:r>
              <a:rPr sz="1000" b="0">
                <a:solidFill>
                  <a:srgbClr val="58595B"/>
                </a:solidFill>
              </a:rPr>
              <a:t>rural and remote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age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What is your age group?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29200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1417320"/>
            <a:ext cx="3291839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Sample skews slightly toward working-age</a:t>
            </a:r>
          </a:p>
          <a:p>
            <a:r>
              <a:rPr sz="1000" b="0">
                <a:solidFill>
                  <a:srgbClr val="58595B"/>
                </a:solidFill>
              </a:rPr>
              <a:t>adults (35–54).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