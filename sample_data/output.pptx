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Community Attitudes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DD8D8"/>
                </a:solidFill>
              </a:rPr>
              <a:t>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DD8D8"/>
                </a:solidFill>
              </a:rPr>
              <a:t>n=200 adult residents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Concern &amp; Salience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Key findings — concern &amp; community attitudes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Strong concern about the issue is evident across the community, with scepticism about how government is currently handling it.
</a:t>
            </a:r>
          </a:p>
          <a:p>
            <a:r>
              <a:rPr sz="1000" b="0">
                <a:solidFill>
                  <a:srgbClr val="58595B"/>
                </a:solidFill>
              </a:rPr>
              <a:t>• Over 60% are very or extremely concerned — concern is highest among 35–54 year olds.</a:t>
            </a:r>
          </a:p>
          <a:p>
            <a:r>
              <a:rPr sz="1000" b="0">
                <a:solidFill>
                  <a:srgbClr val="58595B"/>
                </a:solidFill>
              </a:rPr>
              <a:t>• Agreement that this issue impacts everyday people is broad, cutting across regions.</a:t>
            </a:r>
          </a:p>
          <a:p>
            <a:r>
              <a:rPr sz="1000" b="0">
                <a:solidFill>
                  <a:srgbClr val="58595B"/>
                </a:solidFill>
              </a:rPr>
              <a:t>• Government handling is rated poorly — fewer than 1 in 5 agree government is handling it well.</a:t>
            </a:r>
          </a:p>
          <a:p>
            <a:r>
              <a:rPr sz="1000" b="0">
                <a:solidFill>
                  <a:srgbClr val="58595B"/>
                </a:solidFill>
              </a:rPr>
              <a:t>• There is strong appetite for local action alongside calls for stronger government leadership.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Concern about the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How concerned are you about this issue in your community?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42519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509820" y="1845350"/>
            <a:ext cx="1133856" cy="113385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9820" y="1958736"/>
            <a:ext cx="1133856" cy="58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9820" y="2502987"/>
            <a:ext cx="1133856" cy="40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Concerned</a:t>
            </a:r>
          </a:p>
        </p:txBody>
      </p:sp>
      <p:sp>
        <p:nvSpPr>
          <p:cNvPr id="9" name="Oval 8"/>
          <p:cNvSpPr/>
          <p:nvPr/>
        </p:nvSpPr>
        <p:spPr>
          <a:xfrm>
            <a:off x="4594859" y="4277471"/>
            <a:ext cx="963777" cy="963777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4859" y="4373849"/>
            <a:ext cx="963777" cy="501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4859" y="4836462"/>
            <a:ext cx="963777" cy="34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Not concerned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417320"/>
            <a:ext cx="32918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Concern by age group:</a:t>
            </a:r>
          </a:p>
          <a:p>
            <a:r>
              <a:rPr sz="1000" b="0">
                <a:solidFill>
                  <a:srgbClr val="58595B"/>
                </a:solidFill>
              </a:rPr>
              <a:t>– 18–24:   XX% very/extremely concerned</a:t>
            </a:r>
          </a:p>
          <a:p>
            <a:r>
              <a:rPr sz="1000" b="0">
                <a:solidFill>
                  <a:srgbClr val="58595B"/>
                </a:solidFill>
              </a:rPr>
              <a:t>– 25–34:   XX%</a:t>
            </a:r>
          </a:p>
          <a:p>
            <a:r>
              <a:rPr sz="1000" b="0">
                <a:solidFill>
                  <a:srgbClr val="58595B"/>
                </a:solidFill>
              </a:rPr>
              <a:t>– 35–44:   XX%</a:t>
            </a:r>
          </a:p>
          <a:p>
            <a:r>
              <a:rPr sz="1000" b="0">
                <a:solidFill>
                  <a:srgbClr val="58595B"/>
                </a:solidFill>
              </a:rPr>
              <a:t>– 45–54:   XX%</a:t>
            </a:r>
          </a:p>
          <a:p>
            <a:r>
              <a:rPr sz="1000" b="0">
                <a:solidFill>
                  <a:srgbClr val="58595B"/>
                </a:solidFill>
              </a:rPr>
              <a:t>– 55+:    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Concern by region:</a:t>
            </a:r>
          </a:p>
          <a:p>
            <a:r>
              <a:rPr sz="1000" b="0">
                <a:solidFill>
                  <a:srgbClr val="58595B"/>
                </a:solidFill>
              </a:rPr>
              <a:t>– Metro:      XX%</a:t>
            </a:r>
          </a:p>
          <a:p>
            <a:r>
              <a:rPr sz="1000" b="0">
                <a:solidFill>
                  <a:srgbClr val="58595B"/>
                </a:solidFill>
              </a:rPr>
              <a:t>– Regional:   XX%</a:t>
            </a:r>
          </a:p>
          <a:p>
            <a:r>
              <a:rPr sz="1000" b="0">
                <a:solidFill>
                  <a:srgbClr val="58595B"/>
                </a:solidFill>
              </a:rPr>
              <a:t>– Rural:      XX%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government handling of this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The government is handling this issue effectively.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42519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509820" y="1845350"/>
            <a:ext cx="1133856" cy="113385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9820" y="1958736"/>
            <a:ext cx="1133856" cy="58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23%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9820" y="2502987"/>
            <a:ext cx="1133856" cy="40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Agree</a:t>
            </a:r>
          </a:p>
        </p:txBody>
      </p:sp>
      <p:sp>
        <p:nvSpPr>
          <p:cNvPr id="9" name="Oval 8"/>
          <p:cNvSpPr/>
          <p:nvPr/>
        </p:nvSpPr>
        <p:spPr>
          <a:xfrm>
            <a:off x="4594859" y="4277471"/>
            <a:ext cx="963777" cy="963777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4859" y="4373849"/>
            <a:ext cx="963777" cy="501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4859" y="4836462"/>
            <a:ext cx="963777" cy="34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Disagree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417320"/>
            <a:ext cx="32918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Scepticism about government performance</a:t>
            </a:r>
          </a:p>
          <a:p>
            <a:r>
              <a:rPr sz="1000" b="0">
                <a:solidFill>
                  <a:srgbClr val="58595B"/>
                </a:solidFill>
              </a:rPr>
              <a:t>is consistent across all demographics.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Disagreement is highest among:</a:t>
            </a:r>
          </a:p>
          <a:p>
            <a:r>
              <a:rPr sz="1000" b="0">
                <a:solidFill>
                  <a:srgbClr val="58595B"/>
                </a:solidFill>
              </a:rPr>
              <a:t>– 35–54 year olds (XX%)</a:t>
            </a:r>
          </a:p>
          <a:p>
            <a:r>
              <a:rPr sz="1000" b="0">
                <a:solidFill>
                  <a:srgbClr val="58595B"/>
                </a:solidFill>
              </a:rPr>
              <a:t>– Regional residents (XX%)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Attitudes &amp; Beliefs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Agreement — statements about the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How strongly do you agree or disagree with each of the following statements?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4572000" cy="28803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3338840" y="1641027"/>
            <a:ext cx="637519" cy="637519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38840" y="1781282"/>
            <a:ext cx="637519" cy="357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68%</a:t>
            </a:r>
          </a:p>
        </p:txBody>
      </p:sp>
      <p:sp>
        <p:nvSpPr>
          <p:cNvPr id="8" name="Oval 7"/>
          <p:cNvSpPr/>
          <p:nvPr/>
        </p:nvSpPr>
        <p:spPr>
          <a:xfrm>
            <a:off x="3155960" y="2437927"/>
            <a:ext cx="637519" cy="637519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5960" y="2578181"/>
            <a:ext cx="637519" cy="357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60%</a:t>
            </a:r>
          </a:p>
        </p:txBody>
      </p:sp>
      <p:sp>
        <p:nvSpPr>
          <p:cNvPr id="10" name="Oval 9"/>
          <p:cNvSpPr/>
          <p:nvPr/>
        </p:nvSpPr>
        <p:spPr>
          <a:xfrm>
            <a:off x="3384560" y="3234827"/>
            <a:ext cx="637519" cy="637519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4560" y="3375081"/>
            <a:ext cx="637519" cy="357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70%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370832"/>
            <a:ext cx="457200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03520" y="1417320"/>
            <a:ext cx="3566159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Total agree by statement:</a:t>
            </a:r>
          </a:p>
          <a:p>
            <a:r>
              <a:rPr sz="1000" b="0">
                <a:solidFill>
                  <a:srgbClr val="58595B"/>
                </a:solidFill>
              </a:rPr>
              <a:t>– Community impact:   XX%</a:t>
            </a:r>
          </a:p>
          <a:p>
            <a:r>
              <a:rPr sz="1000" b="0">
                <a:solidFill>
                  <a:srgbClr val="58595B"/>
                </a:solidFill>
              </a:rPr>
              <a:t>– Govt leadership:    XX%</a:t>
            </a:r>
          </a:p>
          <a:p>
            <a:r>
              <a:rPr sz="1000" b="0">
                <a:solidFill>
                  <a:srgbClr val="58595B"/>
                </a:solidFill>
              </a:rPr>
              <a:t>– Local action:      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Agreement is broadly consistent</a:t>
            </a:r>
          </a:p>
          <a:p>
            <a:r>
              <a:rPr sz="1000" b="0">
                <a:solidFill>
                  <a:srgbClr val="58595B"/>
                </a:solidFill>
              </a:rPr>
              <a:t>across age groups and regions.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Demographics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Which region are you based in?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417320"/>
            <a:ext cx="329183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is spread across metro, regional,</a:t>
            </a:r>
          </a:p>
          <a:p>
            <a:r>
              <a:rPr sz="1000" b="0">
                <a:solidFill>
                  <a:srgbClr val="58595B"/>
                </a:solidFill>
              </a:rPr>
              <a:t>rural and remote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age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What is your age group?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417320"/>
            <a:ext cx="32918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skews slightly toward working-age</a:t>
            </a:r>
          </a:p>
          <a:p>
            <a:r>
              <a:rPr sz="1000" b="0">
                <a:solidFill>
                  <a:srgbClr val="58595B"/>
                </a:solidFill>
              </a:rPr>
              <a:t>adults (35–54).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