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Customer Satisfaction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7DD8D8"/>
                </a:solidFill>
              </a:rPr>
              <a:t>March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DD8D8"/>
                </a:solidFill>
              </a:rPr>
              <a:t>n=200 respondents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Satisfaction &amp; Loyalty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Key findings — satisfaction &amp; loyalty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188720"/>
            <a:ext cx="8595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Satisfaction levels are evenly distributed, with roughly one-fifth of respondents at each point on the scale.
</a:t>
            </a:r>
          </a:p>
          <a:p>
            <a:r>
              <a:rPr sz="1000" b="0">
                <a:solidFill>
                  <a:srgbClr val="58595B"/>
                </a:solidFill>
              </a:rPr>
              <a:t>• Overall satisfaction was mixed: ~20% very satisfied, ~20% very dissatisfied.</a:t>
            </a:r>
          </a:p>
          <a:p>
            <a:r>
              <a:rPr sz="1000" b="0">
                <a:solidFill>
                  <a:srgbClr val="58595B"/>
                </a:solidFill>
              </a:rPr>
              <a:t>• Recommend scores ranged from 0–10 with an approximately uniform spread.</a:t>
            </a:r>
          </a:p>
          <a:p>
            <a:r>
              <a:rPr sz="1000" b="0">
                <a:solidFill>
                  <a:srgbClr val="58595B"/>
                </a:solidFill>
              </a:rPr>
              <a:t>• Younger respondents (18–24) skewed slightly more positive on satisfaction.</a:t>
            </a:r>
          </a:p>
          <a:p>
            <a:r>
              <a:rPr sz="1000" b="0">
                <a:solidFill>
                  <a:srgbClr val="58595B"/>
                </a:solidFill>
              </a:rPr>
              <a:t>• Regional differences were minimal across all satisfaction measures.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Overall satisfaction with our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Overall, how satisfied are you with our service?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4752"/>
            <a:ext cx="5029200" cy="484632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4381804" y="1842881"/>
            <a:ext cx="1316736" cy="1316736"/>
          </a:xfrm>
          <a:prstGeom prst="ellipse">
            <a:avLst/>
          </a:prstGeom>
          <a:solidFill>
            <a:srgbClr val="00B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1804" y="1974555"/>
            <a:ext cx="1316736" cy="684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1804" y="2606588"/>
            <a:ext cx="1316736" cy="47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Satisfied</a:t>
            </a:r>
          </a:p>
        </p:txBody>
      </p:sp>
      <p:sp>
        <p:nvSpPr>
          <p:cNvPr id="9" name="Oval 8"/>
          <p:cNvSpPr/>
          <p:nvPr/>
        </p:nvSpPr>
        <p:spPr>
          <a:xfrm>
            <a:off x="4447641" y="4642043"/>
            <a:ext cx="1185062" cy="1185062"/>
          </a:xfrm>
          <a:prstGeom prst="ellipse">
            <a:avLst/>
          </a:prstGeom>
          <a:solidFill>
            <a:srgbClr val="D94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7641" y="4760549"/>
            <a:ext cx="1185062" cy="61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7641" y="5329379"/>
            <a:ext cx="1185062" cy="4266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Dissatisfied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1444752"/>
            <a:ext cx="3337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Satisfaction by age group:</a:t>
            </a:r>
          </a:p>
          <a:p>
            <a:r>
              <a:rPr sz="1000" b="0">
                <a:solidFill>
                  <a:srgbClr val="58595B"/>
                </a:solidFill>
              </a:rPr>
              <a:t>– 18–24:   XX% satisfied / XX% dissatisfied</a:t>
            </a:r>
          </a:p>
          <a:p>
            <a:r>
              <a:rPr sz="1000" b="0">
                <a:solidFill>
                  <a:srgbClr val="58595B"/>
                </a:solidFill>
              </a:rPr>
              <a:t>– 25–34:   XX% / XX%</a:t>
            </a:r>
          </a:p>
          <a:p>
            <a:r>
              <a:rPr sz="1000" b="0">
                <a:solidFill>
                  <a:srgbClr val="58595B"/>
                </a:solidFill>
              </a:rPr>
              <a:t>– 35–44:   XX% / XX%</a:t>
            </a:r>
          </a:p>
          <a:p>
            <a:r>
              <a:rPr sz="1000" b="0">
                <a:solidFill>
                  <a:srgbClr val="58595B"/>
                </a:solidFill>
              </a:rPr>
              <a:t>– 45–54:   XX% / XX%</a:t>
            </a:r>
          </a:p>
          <a:p>
            <a:r>
              <a:rPr sz="1000" b="0">
                <a:solidFill>
                  <a:srgbClr val="58595B"/>
                </a:solidFill>
              </a:rPr>
              <a:t>– 55+:     XX% / XX%</a:t>
            </a:r>
          </a:p>
          <a:p>
            <a:r>
              <a:rPr sz="1000" b="0">
                <a:solidFill>
                  <a:srgbClr val="58595B"/>
                </a:solidFill>
              </a:rPr>
              <a:t/>
            </a:r>
          </a:p>
          <a:p>
            <a:r>
              <a:rPr sz="1000" b="0">
                <a:solidFill>
                  <a:srgbClr val="58595B"/>
                </a:solidFill>
              </a:rPr>
              <a:t>Satisfaction by region:</a:t>
            </a:r>
          </a:p>
          <a:p>
            <a:r>
              <a:rPr sz="1000" b="0">
                <a:solidFill>
                  <a:srgbClr val="58595B"/>
                </a:solidFill>
              </a:rPr>
              <a:t>– North:   XX% satisfied</a:t>
            </a:r>
          </a:p>
          <a:p>
            <a:r>
              <a:rPr sz="1000" b="0">
                <a:solidFill>
                  <a:srgbClr val="58595B"/>
                </a:solidFill>
              </a:rPr>
              <a:t>– South:   XX% satisfied</a:t>
            </a:r>
          </a:p>
          <a:p>
            <a:r>
              <a:rPr sz="1000" b="0">
                <a:solidFill>
                  <a:srgbClr val="58595B"/>
                </a:solidFill>
              </a:rPr>
              <a:t>– East:    XX% satisfied</a:t>
            </a:r>
          </a:p>
          <a:p>
            <a:r>
              <a:rPr sz="1000" b="0">
                <a:solidFill>
                  <a:srgbClr val="58595B"/>
                </a:solidFill>
              </a:rPr>
              <a:t>– West:    XX% satisfied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Product &amp; Service Ratings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Rating — product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Please rate the quality of our product.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4752"/>
            <a:ext cx="5029200" cy="484632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4381804" y="1842881"/>
            <a:ext cx="1316736" cy="1316736"/>
          </a:xfrm>
          <a:prstGeom prst="ellipse">
            <a:avLst/>
          </a:prstGeom>
          <a:solidFill>
            <a:srgbClr val="00B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1804" y="1974555"/>
            <a:ext cx="1316736" cy="684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1804" y="2606588"/>
            <a:ext cx="1316736" cy="47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Good / Excellent</a:t>
            </a:r>
          </a:p>
        </p:txBody>
      </p:sp>
      <p:sp>
        <p:nvSpPr>
          <p:cNvPr id="9" name="Oval 8"/>
          <p:cNvSpPr/>
          <p:nvPr/>
        </p:nvSpPr>
        <p:spPr>
          <a:xfrm>
            <a:off x="4447641" y="4642043"/>
            <a:ext cx="1185062" cy="1185062"/>
          </a:xfrm>
          <a:prstGeom prst="ellipse">
            <a:avLst/>
          </a:prstGeom>
          <a:solidFill>
            <a:srgbClr val="D94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7641" y="4760549"/>
            <a:ext cx="1185062" cy="61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7641" y="5329379"/>
            <a:ext cx="1185062" cy="4266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Poor / Very poor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1444752"/>
            <a:ext cx="3337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Those aged 18–24 were more likely to rate quality as Excellent.</a:t>
            </a:r>
          </a:p>
          <a:p>
            <a:r>
              <a:rPr sz="1000" b="0">
                <a:solidFill>
                  <a:srgbClr val="58595B"/>
                </a:solidFill>
              </a:rPr>
              <a:t/>
            </a:r>
          </a:p>
          <a:p>
            <a:r>
              <a:rPr sz="1000" b="0">
                <a:solidFill>
                  <a:srgbClr val="58595B"/>
                </a:solidFill>
              </a:rPr>
              <a:t>Quality rating by region:</a:t>
            </a:r>
          </a:p>
          <a:p>
            <a:r>
              <a:rPr sz="1000" b="0">
                <a:solidFill>
                  <a:srgbClr val="58595B"/>
                </a:solidFill>
              </a:rPr>
              <a:t>– North:   XX% Good/Excellent</a:t>
            </a:r>
          </a:p>
          <a:p>
            <a:r>
              <a:rPr sz="1000" b="0">
                <a:solidFill>
                  <a:srgbClr val="58595B"/>
                </a:solidFill>
              </a:rPr>
              <a:t>– South:   XX% Good/Excellent</a:t>
            </a:r>
          </a:p>
          <a:p>
            <a:r>
              <a:rPr sz="1000" b="0">
                <a:solidFill>
                  <a:srgbClr val="58595B"/>
                </a:solidFill>
              </a:rPr>
              <a:t>– East:    XX% Good/Excellent</a:t>
            </a:r>
          </a:p>
          <a:p>
            <a:r>
              <a:rPr sz="1000" b="0">
                <a:solidFill>
                  <a:srgbClr val="58595B"/>
                </a:solidFill>
              </a:rPr>
              <a:t>– West:    XX% Good/Excellent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Rating — customer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Please rate your experience with customer service.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4752"/>
            <a:ext cx="5029200" cy="484632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4381804" y="1842881"/>
            <a:ext cx="1316736" cy="1316736"/>
          </a:xfrm>
          <a:prstGeom prst="ellipse">
            <a:avLst/>
          </a:prstGeom>
          <a:solidFill>
            <a:srgbClr val="00B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1804" y="1974555"/>
            <a:ext cx="1316736" cy="684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1804" y="2606588"/>
            <a:ext cx="1316736" cy="47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Good / Excellent</a:t>
            </a:r>
          </a:p>
        </p:txBody>
      </p:sp>
      <p:sp>
        <p:nvSpPr>
          <p:cNvPr id="9" name="Oval 8"/>
          <p:cNvSpPr/>
          <p:nvPr/>
        </p:nvSpPr>
        <p:spPr>
          <a:xfrm>
            <a:off x="4447641" y="4642043"/>
            <a:ext cx="1185062" cy="1185062"/>
          </a:xfrm>
          <a:prstGeom prst="ellipse">
            <a:avLst/>
          </a:prstGeom>
          <a:solidFill>
            <a:srgbClr val="D94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7641" y="4760549"/>
            <a:ext cx="1185062" cy="61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7641" y="5329379"/>
            <a:ext cx="1185062" cy="4266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Poor / Very poor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1444752"/>
            <a:ext cx="3337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Add subgroup commentary here.</a:t>
            </a:r>
          </a:p>
          <a:p>
            <a:r>
              <a:rPr sz="1000" b="0">
                <a:solidFill>
                  <a:srgbClr val="58595B"/>
                </a:solidFill>
              </a:rPr>
              <a:t>– Under 35:   XX% Good/Excellent</a:t>
            </a:r>
          </a:p>
          <a:p>
            <a:r>
              <a:rPr sz="1000" b="0">
                <a:solidFill>
                  <a:srgbClr val="58595B"/>
                </a:solidFill>
              </a:rPr>
              <a:t>– 35 and over: XX% Good/Excellent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Rating — value for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Please rate value for money.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4752"/>
            <a:ext cx="5029200" cy="484632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4381804" y="1842881"/>
            <a:ext cx="1316736" cy="1316736"/>
          </a:xfrm>
          <a:prstGeom prst="ellipse">
            <a:avLst/>
          </a:prstGeom>
          <a:solidFill>
            <a:srgbClr val="00B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1804" y="1974555"/>
            <a:ext cx="1316736" cy="684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1804" y="2606588"/>
            <a:ext cx="1316736" cy="47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Good / Excellent</a:t>
            </a:r>
          </a:p>
        </p:txBody>
      </p:sp>
      <p:sp>
        <p:nvSpPr>
          <p:cNvPr id="9" name="Oval 8"/>
          <p:cNvSpPr/>
          <p:nvPr/>
        </p:nvSpPr>
        <p:spPr>
          <a:xfrm>
            <a:off x="4447641" y="4642043"/>
            <a:ext cx="1185062" cy="1185062"/>
          </a:xfrm>
          <a:prstGeom prst="ellipse">
            <a:avLst/>
          </a:prstGeom>
          <a:solidFill>
            <a:srgbClr val="D94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7641" y="4760549"/>
            <a:ext cx="1185062" cy="61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7641" y="5329379"/>
            <a:ext cx="1185062" cy="4266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Poor / Very poor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1444752"/>
            <a:ext cx="3337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Value-for-money ratings were consistent across regions.</a:t>
            </a:r>
          </a:p>
          <a:p>
            <a:r>
              <a:rPr sz="1000" b="0">
                <a:solidFill>
                  <a:srgbClr val="58595B"/>
                </a:solidFill>
              </a:rPr>
              <a:t/>
            </a:r>
          </a:p>
          <a:p>
            <a:r>
              <a:rPr sz="1000" b="0">
                <a:solidFill>
                  <a:srgbClr val="58595B"/>
                </a:solidFill>
              </a:rPr>
              <a:t>XX% of respondents rated value as Good or Excellent.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Demographics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Respondent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Which region are you based in?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4752"/>
            <a:ext cx="50292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32120" y="1444752"/>
            <a:ext cx="3337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Sample is evenly spread across four regions.</a:t>
            </a:r>
          </a:p>
          <a:p>
            <a:r>
              <a:rPr sz="1000" b="0">
                <a:solidFill>
                  <a:srgbClr val="58595B"/>
                </a:solidFill>
              </a:rPr>
              <a:t>North, South, East and West each represent approximately 25%.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B5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94438"/>
                </a:solidFill>
              </a:rPr>
              <a:t>Respondent age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</a:rPr>
              <a:t>What is your age group? (%)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4752"/>
            <a:ext cx="50292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32120" y="1444752"/>
            <a:ext cx="3337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8595B"/>
                </a:solidFill>
              </a:rPr>
              <a:t>Each age band represents roughly 20% of the sample.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8595B"/>
                </a:solidFill>
              </a:rPr>
              <a:t>Base: all respondents (n=200)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91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